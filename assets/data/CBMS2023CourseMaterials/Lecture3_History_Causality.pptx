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notesSlides/notesSlide2.xml" ContentType="application/vnd.openxmlformats-officedocument.presentationml.notesSlide+xml"/>
  <Override PartName="/ppt/theme/themeOverride6.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theme/themeOverride7.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8.xml" ContentType="application/vnd.openxmlformats-officedocument.themeOverride+xml"/>
  <Override PartName="/ppt/theme/themeOverride9.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comment2.xml" ContentType="application/vnd.openxmlformats-officedocument.presentationml.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comment3.xml" ContentType="application/vnd.openxmlformats-officedocument.presentationml.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heme/themeOverride10.xml" ContentType="application/vnd.openxmlformats-officedocument.themeOverr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heme/themeOverride11.xml" ContentType="application/vnd.openxmlformats-officedocument.themeOverride+xml"/>
  <Override PartName="/ppt/notesSlides/notesSlide38.xml" ContentType="application/vnd.openxmlformats-officedocument.presentationml.notesSlide+xml"/>
  <Override PartName="/ppt/theme/themeOverride12.xml" ContentType="application/vnd.openxmlformats-officedocument.themeOverride+xml"/>
  <Override PartName="/ppt/notesSlides/notesSlide39.xml" ContentType="application/vnd.openxmlformats-officedocument.presentationml.notesSlide+xml"/>
  <Override PartName="/ppt/theme/themeOverride13.xml" ContentType="application/vnd.openxmlformats-officedocument.themeOverride+xml"/>
  <Override PartName="/ppt/notesSlides/notesSlide40.xml" ContentType="application/vnd.openxmlformats-officedocument.presentationml.notesSl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0"/>
  </p:notesMasterIdLst>
  <p:sldIdLst>
    <p:sldId id="256" r:id="rId2"/>
    <p:sldId id="319" r:id="rId3"/>
    <p:sldId id="320" r:id="rId4"/>
    <p:sldId id="321" r:id="rId5"/>
    <p:sldId id="292" r:id="rId6"/>
    <p:sldId id="272" r:id="rId7"/>
    <p:sldId id="385" r:id="rId8"/>
    <p:sldId id="492" r:id="rId9"/>
    <p:sldId id="394" r:id="rId10"/>
    <p:sldId id="396" r:id="rId11"/>
    <p:sldId id="494" r:id="rId12"/>
    <p:sldId id="509" r:id="rId13"/>
    <p:sldId id="520" r:id="rId14"/>
    <p:sldId id="265" r:id="rId15"/>
    <p:sldId id="257" r:id="rId16"/>
    <p:sldId id="523" r:id="rId17"/>
    <p:sldId id="540" r:id="rId18"/>
    <p:sldId id="535" r:id="rId19"/>
    <p:sldId id="493" r:id="rId20"/>
    <p:sldId id="536" r:id="rId21"/>
    <p:sldId id="521" r:id="rId22"/>
    <p:sldId id="495" r:id="rId23"/>
    <p:sldId id="503" r:id="rId24"/>
    <p:sldId id="582" r:id="rId25"/>
    <p:sldId id="538" r:id="rId26"/>
    <p:sldId id="266" r:id="rId27"/>
    <p:sldId id="288" r:id="rId28"/>
    <p:sldId id="289" r:id="rId29"/>
    <p:sldId id="539" r:id="rId30"/>
    <p:sldId id="581" r:id="rId31"/>
    <p:sldId id="491" r:id="rId32"/>
    <p:sldId id="562" r:id="rId33"/>
    <p:sldId id="563" r:id="rId34"/>
    <p:sldId id="564" r:id="rId35"/>
    <p:sldId id="401" r:id="rId36"/>
    <p:sldId id="375" r:id="rId37"/>
    <p:sldId id="565" r:id="rId38"/>
    <p:sldId id="507" r:id="rId39"/>
    <p:sldId id="487" r:id="rId40"/>
    <p:sldId id="510" r:id="rId41"/>
    <p:sldId id="534" r:id="rId42"/>
    <p:sldId id="513" r:id="rId43"/>
    <p:sldId id="476" r:id="rId44"/>
    <p:sldId id="485" r:id="rId45"/>
    <p:sldId id="514" r:id="rId46"/>
    <p:sldId id="519" r:id="rId47"/>
    <p:sldId id="502" r:id="rId48"/>
    <p:sldId id="516" r:id="rId49"/>
    <p:sldId id="412" r:id="rId50"/>
    <p:sldId id="496" r:id="rId51"/>
    <p:sldId id="576" r:id="rId52"/>
    <p:sldId id="569" r:id="rId53"/>
    <p:sldId id="273" r:id="rId54"/>
    <p:sldId id="282" r:id="rId55"/>
    <p:sldId id="278" r:id="rId56"/>
    <p:sldId id="402" r:id="rId57"/>
    <p:sldId id="570" r:id="rId58"/>
    <p:sldId id="577" r:id="rId59"/>
    <p:sldId id="499" r:id="rId60"/>
    <p:sldId id="500" r:id="rId61"/>
    <p:sldId id="501" r:id="rId62"/>
    <p:sldId id="524" r:id="rId63"/>
    <p:sldId id="571" r:id="rId64"/>
    <p:sldId id="466" r:id="rId65"/>
    <p:sldId id="490" r:id="rId66"/>
    <p:sldId id="475" r:id="rId67"/>
    <p:sldId id="474" r:id="rId68"/>
    <p:sldId id="531" r:id="rId69"/>
    <p:sldId id="572" r:id="rId70"/>
    <p:sldId id="573" r:id="rId71"/>
    <p:sldId id="517" r:id="rId72"/>
    <p:sldId id="574" r:id="rId73"/>
    <p:sldId id="575" r:id="rId74"/>
    <p:sldId id="512" r:id="rId75"/>
    <p:sldId id="578" r:id="rId76"/>
    <p:sldId id="579" r:id="rId77"/>
    <p:sldId id="515" r:id="rId78"/>
    <p:sldId id="580" r:id="rId79"/>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1pPr>
    <a:lvl2pPr marL="0" marR="0" indent="3429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2pPr>
    <a:lvl3pPr marL="0" marR="0" indent="6858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3pPr>
    <a:lvl4pPr marL="0" marR="0" indent="10287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4pPr>
    <a:lvl5pPr marL="0" marR="0" indent="13716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5pPr>
    <a:lvl6pPr marL="0" marR="0" indent="17145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6pPr>
    <a:lvl7pPr marL="0" marR="0" indent="20574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7pPr>
    <a:lvl8pPr marL="0" marR="0" indent="24003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8pPr>
    <a:lvl9pPr marL="0" marR="0" indent="274320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Ref idx="minor">
          <a:srgbClr val="000000"/>
        </a:fontRef>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492"/>
    <p:restoredTop sz="88562"/>
  </p:normalViewPr>
  <p:slideViewPr>
    <p:cSldViewPr snapToGrid="0" snapToObjects="1">
      <p:cViewPr>
        <p:scale>
          <a:sx n="60" d="100"/>
          <a:sy n="60" d="100"/>
        </p:scale>
        <p:origin x="240" y="240"/>
      </p:cViewPr>
      <p:guideLst/>
    </p:cSldViewPr>
  </p:slideViewPr>
  <p:notesTextViewPr>
    <p:cViewPr>
      <p:scale>
        <a:sx n="95" d="100"/>
        <a:sy n="9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8-02T04:06:43.318" idx="1">
    <p:pos x="10" y="10"/>
    <p:text/>
    <p:extLst>
      <p:ext uri="{C676402C-5697-4E1C-873F-D02D1690AC5C}">
        <p15:threadingInfo xmlns:p15="http://schemas.microsoft.com/office/powerpoint/2012/main" timeZoneBias="2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2-08-02T04:13:18.475" idx="4">
    <p:pos x="3038" y="2744"/>
    <p:text/>
    <p:extLst>
      <p:ext uri="{C676402C-5697-4E1C-873F-D02D1690AC5C}">
        <p15:threadingInfo xmlns:p15="http://schemas.microsoft.com/office/powerpoint/2012/main" timeZoneBias="2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2-08-02T04:16:36.156" idx="3">
    <p:pos x="10" y="10"/>
    <p:text>Equivocates over "formal". We have causal calculi and probabilistic calculi and logical calculi. But we have no agrreement about what cause, or probable, or entails mean.</p:text>
    <p:extLst>
      <p:ext uri="{C676402C-5697-4E1C-873F-D02D1690AC5C}">
        <p15:threadingInfo xmlns:p15="http://schemas.microsoft.com/office/powerpoint/2012/main" timeZoneBias="2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584200" latinLnBrk="0">
      <a:defRPr sz="2200">
        <a:latin typeface="Lucida Grande"/>
        <a:ea typeface="Lucida Grande"/>
        <a:cs typeface="Lucida Grande"/>
        <a:sym typeface="Lucida Grande"/>
      </a:defRPr>
    </a:lvl1pPr>
    <a:lvl2pPr indent="228600" defTabSz="584200" latinLnBrk="0">
      <a:defRPr sz="2200">
        <a:latin typeface="Lucida Grande"/>
        <a:ea typeface="Lucida Grande"/>
        <a:cs typeface="Lucida Grande"/>
        <a:sym typeface="Lucida Grande"/>
      </a:defRPr>
    </a:lvl2pPr>
    <a:lvl3pPr indent="457200" defTabSz="584200" latinLnBrk="0">
      <a:defRPr sz="2200">
        <a:latin typeface="Lucida Grande"/>
        <a:ea typeface="Lucida Grande"/>
        <a:cs typeface="Lucida Grande"/>
        <a:sym typeface="Lucida Grande"/>
      </a:defRPr>
    </a:lvl3pPr>
    <a:lvl4pPr indent="685800" defTabSz="584200" latinLnBrk="0">
      <a:defRPr sz="2200">
        <a:latin typeface="Lucida Grande"/>
        <a:ea typeface="Lucida Grande"/>
        <a:cs typeface="Lucida Grande"/>
        <a:sym typeface="Lucida Grande"/>
      </a:defRPr>
    </a:lvl4pPr>
    <a:lvl5pPr indent="914400" defTabSz="584200" latinLnBrk="0">
      <a:defRPr sz="2200">
        <a:latin typeface="Lucida Grande"/>
        <a:ea typeface="Lucida Grande"/>
        <a:cs typeface="Lucida Grande"/>
        <a:sym typeface="Lucida Grande"/>
      </a:defRPr>
    </a:lvl5pPr>
    <a:lvl6pPr indent="1143000" defTabSz="584200" latinLnBrk="0">
      <a:defRPr sz="2200">
        <a:latin typeface="Lucida Grande"/>
        <a:ea typeface="Lucida Grande"/>
        <a:cs typeface="Lucida Grande"/>
        <a:sym typeface="Lucida Grande"/>
      </a:defRPr>
    </a:lvl6pPr>
    <a:lvl7pPr indent="1371600" defTabSz="584200" latinLnBrk="0">
      <a:defRPr sz="2200">
        <a:latin typeface="Lucida Grande"/>
        <a:ea typeface="Lucida Grande"/>
        <a:cs typeface="Lucida Grande"/>
        <a:sym typeface="Lucida Grande"/>
      </a:defRPr>
    </a:lvl7pPr>
    <a:lvl8pPr indent="1600200" defTabSz="584200" latinLnBrk="0">
      <a:defRPr sz="2200">
        <a:latin typeface="Lucida Grande"/>
        <a:ea typeface="Lucida Grande"/>
        <a:cs typeface="Lucida Grande"/>
        <a:sym typeface="Lucida Grande"/>
      </a:defRPr>
    </a:lvl8pPr>
    <a:lvl9pPr indent="1828800" defTabSz="584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8" Type="http://schemas.openxmlformats.org/officeDocument/2006/relationships/hyperlink" Target="https://en.wikipedia.org/wiki/T-test" TargetMode="External"/><Relationship Id="rId3" Type="http://schemas.openxmlformats.org/officeDocument/2006/relationships/hyperlink" Target="https://en.wikipedia.org/wiki/Clive_Granger" TargetMode="External"/><Relationship Id="rId7" Type="http://schemas.openxmlformats.org/officeDocument/2006/relationships/hyperlink" Target="https://en.wikipedia.org/wiki/Econometrician" TargetMode="External"/><Relationship Id="rId2" Type="http://schemas.openxmlformats.org/officeDocument/2006/relationships/slide" Target="../slides/slide41.xml"/><Relationship Id="rId1" Type="http://schemas.openxmlformats.org/officeDocument/2006/relationships/notesMaster" Target="../notesMasters/notesMaster1.xml"/><Relationship Id="rId6" Type="http://schemas.openxmlformats.org/officeDocument/2006/relationships/hyperlink" Target="https://en.wikipedia.org/wiki/Post_hoc_ergo_propter_hoc" TargetMode="External"/><Relationship Id="rId11" Type="http://schemas.openxmlformats.org/officeDocument/2006/relationships/hyperlink" Target="https://en.wikipedia.org/wiki/Statistical_significance" TargetMode="External"/><Relationship Id="rId5" Type="http://schemas.openxmlformats.org/officeDocument/2006/relationships/hyperlink" Target="https://en.wikipedia.org/wiki/Economics" TargetMode="External"/><Relationship Id="rId10" Type="http://schemas.openxmlformats.org/officeDocument/2006/relationships/hyperlink" Target="https://en.wikipedia.org/wiki/Lag_operator" TargetMode="External"/><Relationship Id="rId4" Type="http://schemas.openxmlformats.org/officeDocument/2006/relationships/hyperlink" Target="https://en.wikipedia.org/wiki/Causality" TargetMode="External"/><Relationship Id="rId9" Type="http://schemas.openxmlformats.org/officeDocument/2006/relationships/hyperlink" Target="https://en.wikipedia.org/wiki/F-test"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hape 122"/>
          <p:cNvSpPr>
            <a:spLocks noGrp="1" noRot="1" noChangeAspect="1"/>
          </p:cNvSpPr>
          <p:nvPr>
            <p:ph type="sldImg"/>
          </p:nvPr>
        </p:nvSpPr>
        <p:spPr>
          <a:prstGeom prst="rect">
            <a:avLst/>
          </a:prstGeom>
        </p:spPr>
        <p:txBody>
          <a:bodyPr/>
          <a:lstStyle/>
          <a:p>
            <a:endParaRPr/>
          </a:p>
        </p:txBody>
      </p:sp>
      <p:sp>
        <p:nvSpPr>
          <p:cNvPr id="123" name="Shape 123"/>
          <p:cNvSpPr>
            <a:spLocks noGrp="1"/>
          </p:cNvSpPr>
          <p:nvPr>
            <p:ph type="body" sz="quarter" idx="1"/>
          </p:nvPr>
        </p:nvSpPr>
        <p:spPr>
          <a:prstGeom prst="rect">
            <a:avLst/>
          </a:prstGeom>
        </p:spPr>
        <p:txBody>
          <a:bodyPr/>
          <a:lstStyle/>
          <a:p>
            <a:pPr defTabSz="457200">
              <a:defRPr sz="1800">
                <a:latin typeface="Helvetica"/>
                <a:ea typeface="Helvetica"/>
                <a:cs typeface="Helvetica"/>
                <a:sym typeface="Helvetica"/>
              </a:defRPr>
            </a:pPr>
            <a:r>
              <a:t>add: GFT &amp; new results. Strong claims…</a:t>
            </a:r>
          </a:p>
          <a:p>
            <a:pPr defTabSz="457200">
              <a:defRPr sz="1800">
                <a:latin typeface="Helvetica"/>
                <a:ea typeface="Helvetica"/>
                <a:cs typeface="Helvetica"/>
                <a:sym typeface="Helvetica"/>
              </a:defRPr>
            </a:pPr>
            <a:endParaRPr/>
          </a:p>
          <a:p>
            <a:pPr defTabSz="457200">
              <a:defRPr sz="1800">
                <a:latin typeface="Helvetica"/>
                <a:ea typeface="Helvetica"/>
                <a:cs typeface="Helvetica"/>
                <a:sym typeface="Helvetica"/>
              </a:defRPr>
            </a:pPr>
            <a:r>
              <a:t>In this talk I will try to answer the following questions. </a:t>
            </a:r>
          </a:p>
          <a:p>
            <a:pPr defTabSz="457200">
              <a:defRPr sz="1800">
                <a:latin typeface="Helvetica"/>
                <a:ea typeface="Helvetica"/>
                <a:cs typeface="Helvetica"/>
                <a:sym typeface="Helvetica"/>
              </a:defRPr>
            </a:pPr>
            <a:r>
              <a:t>- What is causality? </a:t>
            </a:r>
          </a:p>
          <a:p>
            <a:pPr defTabSz="457200">
              <a:defRPr sz="1800">
                <a:latin typeface="Helvetica"/>
                <a:ea typeface="Helvetica"/>
                <a:cs typeface="Helvetica"/>
                <a:sym typeface="Helvetica"/>
              </a:defRPr>
            </a:pPr>
            <a:r>
              <a:t>- Why do we care about causality?</a:t>
            </a:r>
          </a:p>
          <a:p>
            <a:pPr defTabSz="457200">
              <a:defRPr sz="1800">
                <a:latin typeface="Helvetica"/>
                <a:ea typeface="Helvetica"/>
                <a:cs typeface="Helvetica"/>
                <a:sym typeface="Helvetica"/>
              </a:defRPr>
            </a:pPr>
            <a:r>
              <a:t>- How can we find causal relations?</a:t>
            </a:r>
          </a:p>
          <a:p>
            <a:pPr defTabSz="457200">
              <a:defRPr sz="1800">
                <a:latin typeface="Helvetica"/>
                <a:ea typeface="Helvetica"/>
                <a:cs typeface="Helvetica"/>
                <a:sym typeface="Helvetica"/>
              </a:defRPr>
            </a:pPr>
            <a:r>
              <a:t>- What problems do you have to use causality to solve?</a:t>
            </a:r>
          </a:p>
          <a:p>
            <a:pPr defTabSz="457200">
              <a:defRPr sz="1800">
                <a:latin typeface="Helvetica"/>
                <a:ea typeface="Helvetica"/>
                <a:cs typeface="Helvetica"/>
                <a:sym typeface="Helvetica"/>
              </a:defRPr>
            </a:pPr>
            <a:r>
              <a:t>In this talk, I will show that actually causal modeling and machine learning could benefit each other.</a:t>
            </a:r>
          </a:p>
          <a:p>
            <a:pPr defTabSz="457200">
              <a:defRPr sz="1800">
                <a:latin typeface="Helvetica"/>
                <a:ea typeface="Helvetica"/>
                <a:cs typeface="Helvetica"/>
                <a:sym typeface="Helvetica"/>
              </a:defRPr>
            </a:pPr>
            <a:endParaRPr/>
          </a:p>
          <a:p>
            <a:pPr defTabSz="457200">
              <a:defRPr sz="1200">
                <a:latin typeface="Helvetica"/>
                <a:ea typeface="Helvetica"/>
                <a:cs typeface="Helvetica"/>
                <a:sym typeface="Helvetica"/>
              </a:defRPr>
            </a:pPr>
            <a:endParaRPr/>
          </a:p>
          <a:p>
            <a:pPr defTabSz="457200">
              <a:defRPr sz="1200">
                <a:latin typeface="Helvetica"/>
                <a:ea typeface="Helvetica"/>
                <a:cs typeface="Helvetica"/>
                <a:sym typeface="Helvetica"/>
              </a:defRPr>
            </a:pPr>
            <a:r>
              <a:t>Relation between causal models and probalisitic models...</a:t>
            </a:r>
          </a:p>
          <a:p>
            <a:pPr defTabSz="457200">
              <a:defRPr sz="1200">
                <a:latin typeface="Helvetica"/>
                <a:ea typeface="Helvetica"/>
                <a:cs typeface="Helvetica"/>
                <a:sym typeface="Helvetica"/>
              </a:defRPr>
            </a:pPr>
            <a:r>
              <a:t>go beyond distributions...</a:t>
            </a:r>
          </a:p>
          <a:p>
            <a:pPr defTabSz="457200">
              <a:defRPr sz="1200">
                <a:latin typeface="Helvetica"/>
                <a:ea typeface="Helvetica"/>
                <a:cs typeface="Helvetica"/>
                <a:sym typeface="Helvetica"/>
              </a:defRPr>
            </a:pPr>
            <a:r>
              <a:t>bridge between different distributions...</a:t>
            </a:r>
          </a:p>
          <a:p>
            <a:pPr defTabSz="457200">
              <a:defRPr sz="1200">
                <a:latin typeface="Helvetica"/>
                <a:ea typeface="Helvetica"/>
                <a:cs typeface="Helvetica"/>
                <a:sym typeface="Helvetica"/>
              </a:defRPr>
            </a:pPr>
            <a:r>
              <a:t>nonstationarity...</a:t>
            </a:r>
          </a:p>
          <a:p>
            <a:pPr defTabSz="457200">
              <a:defRPr sz="1200">
                <a:latin typeface="Helvetica"/>
                <a:ea typeface="Helvetica"/>
                <a:cs typeface="Helvetica"/>
                <a:sym typeface="Helvetica"/>
              </a:defRPr>
            </a:pPr>
            <a:r>
              <a:t>WHy human care about causality...</a:t>
            </a:r>
          </a:p>
          <a:p>
            <a:pPr defTabSz="457200">
              <a:defRPr sz="1200">
                <a:latin typeface="Helvetica"/>
                <a:ea typeface="Helvetica"/>
                <a:cs typeface="Helvetica"/>
                <a:sym typeface="Helvetica"/>
              </a:defRPr>
            </a:pPr>
            <a:endParaRPr/>
          </a:p>
          <a:p>
            <a:pPr defTabSz="457200">
              <a:defRPr sz="1200">
                <a:latin typeface="Helvetica"/>
                <a:ea typeface="Helvetica"/>
                <a:cs typeface="Helvetica"/>
                <a:sym typeface="Helvetica"/>
              </a:defRPr>
            </a:pPr>
            <a:endParaRPr/>
          </a:p>
          <a:p>
            <a:pPr defTabSz="457200">
              <a:defRPr sz="1200">
                <a:latin typeface="Helvetica"/>
                <a:ea typeface="Helvetica"/>
                <a:cs typeface="Helvetica"/>
                <a:sym typeface="Helvetica"/>
              </a:defRPr>
            </a:pPr>
            <a:endParaRPr/>
          </a:p>
          <a:p>
            <a:pPr defTabSz="457200">
              <a:defRPr sz="1200">
                <a:latin typeface="Helvetica"/>
                <a:ea typeface="Helvetica"/>
                <a:cs typeface="Helvetica"/>
                <a:sym typeface="Helvetica"/>
              </a:defRPr>
            </a:pPr>
            <a:endParaRPr/>
          </a:p>
          <a:p>
            <a:pPr defTabSz="457200">
              <a:defRPr sz="1200">
                <a:latin typeface="Helvetica"/>
                <a:ea typeface="Helvetica"/>
                <a:cs typeface="Helvetica"/>
                <a:sym typeface="Helvetica"/>
              </a:defRPr>
            </a:pPr>
            <a:endParaRPr/>
          </a:p>
          <a:p>
            <a:pPr defTabSz="457200">
              <a:defRPr sz="1200">
                <a:latin typeface="Helvetica"/>
                <a:ea typeface="Helvetica"/>
                <a:cs typeface="Helvetica"/>
                <a:sym typeface="Helvetica"/>
              </a:defRPr>
            </a:pPr>
            <a:endParaRPr/>
          </a:p>
          <a:p>
            <a:pPr defTabSz="457200">
              <a:defRPr sz="1200">
                <a:latin typeface="Helvetica"/>
                <a:ea typeface="Helvetica"/>
                <a:cs typeface="Helvetica"/>
                <a:sym typeface="Helvetica"/>
              </a:defRPr>
            </a:pPr>
            <a:endParaRPr/>
          </a:p>
          <a:p>
            <a:pPr defTabSz="457200">
              <a:defRPr sz="1200">
                <a:latin typeface="Helvetica"/>
                <a:ea typeface="Helvetica"/>
                <a:cs typeface="Helvetica"/>
                <a:sym typeface="Helvetica"/>
              </a:defRPr>
            </a:pPr>
            <a:endParaRPr/>
          </a:p>
          <a:p>
            <a:pPr defTabSz="457200">
              <a:defRPr sz="1200">
                <a:latin typeface="Helvetica"/>
                <a:ea typeface="Helvetica"/>
                <a:cs typeface="Helvetica"/>
                <a:sym typeface="Helvetica"/>
              </a:defRPr>
            </a:pPr>
            <a:endParaRPr/>
          </a:p>
          <a:p>
            <a:pPr defTabSz="457200">
              <a:defRPr sz="1200">
                <a:latin typeface="Helvetica"/>
                <a:ea typeface="Helvetica"/>
                <a:cs typeface="Helvetica"/>
                <a:sym typeface="Helvetica"/>
              </a:defRPr>
            </a:pPr>
            <a:endParaRPr/>
          </a:p>
          <a:p>
            <a:pPr defTabSz="457200">
              <a:defRPr sz="1200">
                <a:latin typeface="Helvetica"/>
                <a:ea typeface="Helvetica"/>
                <a:cs typeface="Helvetica"/>
                <a:sym typeface="Helvetica"/>
              </a:defRPr>
            </a:pPr>
            <a:r>
              <a:t>As you can see from the title, the talk is concerned with two tasks. One is causal discovery, that is, how to discovery causal information from purely observational data by machine learning or data analysis.  We can also think the other way round, and we will see how causal knowledge can help us understand and solve some machine learning problems.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C4EB0D2-26F9-4AF9-95FD-F3869D56C4EA}" type="slidenum">
              <a:rPr lang="en-US" smtClean="0"/>
              <a:pPr/>
              <a:t>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Lack of definition would mean introducing causality would introduce vagueness.</a:t>
            </a:r>
          </a:p>
          <a:p>
            <a:r>
              <a:rPr lang="en-US"/>
              <a:t>But of course people differered about the meaning of probability. Nevertheless, could introduce axioms about probabliity and reason rigorously.</a:t>
            </a:r>
          </a:p>
          <a:p>
            <a:endParaRPr lang="en-US"/>
          </a:p>
        </p:txBody>
      </p:sp>
    </p:spTree>
    <p:extLst>
      <p:ext uri="{BB962C8B-B14F-4D97-AF65-F5344CB8AC3E}">
        <p14:creationId xmlns:p14="http://schemas.microsoft.com/office/powerpoint/2010/main" val="988182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663998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Pearl and colleagues: d-separation, updating algorithms, not causal in full-blooded sense</a:t>
            </a:r>
          </a:p>
        </p:txBody>
      </p:sp>
    </p:spTree>
    <p:extLst>
      <p:ext uri="{BB962C8B-B14F-4D97-AF65-F5344CB8AC3E}">
        <p14:creationId xmlns:p14="http://schemas.microsoft.com/office/powerpoint/2010/main" val="320907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a:spLocks noGrp="1" noRot="1" noChangeAspect="1"/>
          </p:cNvSpPr>
          <p:nvPr>
            <p:ph type="sldImg"/>
          </p:nvPr>
        </p:nvSpPr>
        <p:spPr>
          <a:prstGeom prst="rect">
            <a:avLst/>
          </a:prstGeom>
        </p:spPr>
        <p:txBody>
          <a:bodyPr/>
          <a:lstStyle/>
          <a:p>
            <a:endParaRPr/>
          </a:p>
        </p:txBody>
      </p:sp>
      <p:sp>
        <p:nvSpPr>
          <p:cNvPr id="130" name="Shape 130"/>
          <p:cNvSpPr>
            <a:spLocks noGrp="1"/>
          </p:cNvSpPr>
          <p:nvPr>
            <p:ph type="body" sz="quarter" idx="1"/>
          </p:nvPr>
        </p:nvSpPr>
        <p:spPr>
          <a:prstGeom prst="rect">
            <a:avLst/>
          </a:prstGeom>
        </p:spPr>
        <p:txBody>
          <a:bodyPr/>
          <a:lstStyle/>
          <a:p>
            <a:r>
              <a:rPr lang="en-US"/>
              <a:t>SGS</a:t>
            </a:r>
            <a:endParaRPr sz="4200">
              <a:latin typeface="Baskerville"/>
              <a:ea typeface="Baskerville"/>
              <a:cs typeface="Baskerville"/>
              <a:sym typeface="Baskerville"/>
            </a:endParaRPr>
          </a:p>
        </p:txBody>
      </p:sp>
    </p:spTree>
    <p:extLst>
      <p:ext uri="{BB962C8B-B14F-4D97-AF65-F5344CB8AC3E}">
        <p14:creationId xmlns:p14="http://schemas.microsoft.com/office/powerpoint/2010/main" val="2766184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a:spLocks noGrp="1" noRot="1" noChangeAspect="1"/>
          </p:cNvSpPr>
          <p:nvPr>
            <p:ph type="sldImg"/>
          </p:nvPr>
        </p:nvSpPr>
        <p:spPr>
          <a:prstGeom prst="rect">
            <a:avLst/>
          </a:prstGeom>
        </p:spPr>
        <p:txBody>
          <a:bodyPr/>
          <a:lstStyle/>
          <a:p>
            <a:endParaRPr/>
          </a:p>
        </p:txBody>
      </p:sp>
      <p:sp>
        <p:nvSpPr>
          <p:cNvPr id="130" name="Shape 130"/>
          <p:cNvSpPr>
            <a:spLocks noGrp="1"/>
          </p:cNvSpPr>
          <p:nvPr>
            <p:ph type="body" sz="quarter" idx="1"/>
          </p:nvPr>
        </p:nvSpPr>
        <p:spPr>
          <a:prstGeom prst="rect">
            <a:avLst/>
          </a:prstGeom>
        </p:spPr>
        <p:txBody>
          <a:bodyPr/>
          <a:lstStyle/>
          <a:p>
            <a:r>
              <a:t>First, give an example... </a:t>
            </a:r>
            <a:r>
              <a:rPr sz="4200">
                <a:latin typeface="Baskerville"/>
                <a:ea typeface="Baskerville"/>
                <a:cs typeface="Baskerville"/>
                <a:sym typeface="Baskerville"/>
              </a:rPr>
              <a:t>DAG... representations...</a:t>
            </a:r>
          </a:p>
          <a:p>
            <a:endParaRPr sz="4200">
              <a:latin typeface="Baskerville"/>
              <a:ea typeface="Baskerville"/>
              <a:cs typeface="Baskerville"/>
              <a:sym typeface="Baskerville"/>
            </a:endParaRPr>
          </a:p>
          <a:p>
            <a:r>
              <a:rPr sz="4200">
                <a:latin typeface="Baskerville"/>
                <a:ea typeface="Baskerville"/>
                <a:cs typeface="Baskerville"/>
                <a:sym typeface="Baskerville"/>
              </a:rPr>
              <a:t>Specifically, 30% of your grade is from assignements or homework. </a:t>
            </a:r>
          </a:p>
        </p:txBody>
      </p:sp>
    </p:spTree>
    <p:extLst>
      <p:ext uri="{BB962C8B-B14F-4D97-AF65-F5344CB8AC3E}">
        <p14:creationId xmlns:p14="http://schemas.microsoft.com/office/powerpoint/2010/main" val="1252250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However, this seems to have been little known in the 1980’s. </a:t>
            </a:r>
          </a:p>
        </p:txBody>
      </p:sp>
    </p:spTree>
    <p:extLst>
      <p:ext uri="{BB962C8B-B14F-4D97-AF65-F5344CB8AC3E}">
        <p14:creationId xmlns:p14="http://schemas.microsoft.com/office/powerpoint/2010/main" val="702405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not widely know or used outside of certain fields such as epidemiology. </a:t>
            </a:r>
          </a:p>
        </p:txBody>
      </p:sp>
    </p:spTree>
    <p:extLst>
      <p:ext uri="{BB962C8B-B14F-4D97-AF65-F5344CB8AC3E}">
        <p14:creationId xmlns:p14="http://schemas.microsoft.com/office/powerpoint/2010/main" val="1169464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not widely know or used outside of certain fields such as epidemiology. </a:t>
            </a:r>
          </a:p>
        </p:txBody>
      </p:sp>
    </p:spTree>
    <p:extLst>
      <p:ext uri="{BB962C8B-B14F-4D97-AF65-F5344CB8AC3E}">
        <p14:creationId xmlns:p14="http://schemas.microsoft.com/office/powerpoint/2010/main" val="2126514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not widely know or used outside of certain fields such as epidemiology. </a:t>
            </a:r>
          </a:p>
        </p:txBody>
      </p:sp>
    </p:spTree>
    <p:extLst>
      <p:ext uri="{BB962C8B-B14F-4D97-AF65-F5344CB8AC3E}">
        <p14:creationId xmlns:p14="http://schemas.microsoft.com/office/powerpoint/2010/main" val="4284012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Shape 258"/>
          <p:cNvSpPr>
            <a:spLocks noGrp="1" noRot="1" noChangeAspect="1"/>
          </p:cNvSpPr>
          <p:nvPr>
            <p:ph type="sldImg"/>
          </p:nvPr>
        </p:nvSpPr>
        <p:spPr>
          <a:prstGeom prst="rect">
            <a:avLst/>
          </a:prstGeom>
        </p:spPr>
        <p:txBody>
          <a:bodyPr/>
          <a:lstStyle/>
          <a:p>
            <a:endParaRPr/>
          </a:p>
        </p:txBody>
      </p:sp>
      <p:sp>
        <p:nvSpPr>
          <p:cNvPr id="259" name="Shape 259"/>
          <p:cNvSpPr>
            <a:spLocks noGrp="1"/>
          </p:cNvSpPr>
          <p:nvPr>
            <p:ph type="body" sz="quarter" idx="1"/>
          </p:nvPr>
        </p:nvSpPr>
        <p:spPr>
          <a:prstGeom prst="rect">
            <a:avLst/>
          </a:prstGeom>
        </p:spPr>
        <p:txBody>
          <a:bodyPr/>
          <a:lstStyle/>
          <a:p>
            <a:r>
              <a:rPr lang="en-US" dirty="0"/>
              <a:t>At the time, the distinction between satisfying the Markov condition for </a:t>
            </a:r>
            <a:r>
              <a:rPr lang="en-US" i="1" dirty="0"/>
              <a:t>a</a:t>
            </a:r>
            <a:r>
              <a:rPr lang="en-US" dirty="0"/>
              <a:t> graph as opposed to the </a:t>
            </a:r>
            <a:r>
              <a:rPr lang="en-US" i="1" dirty="0"/>
              <a:t>causal graph </a:t>
            </a:r>
            <a:r>
              <a:rPr lang="en-US" i="0" dirty="0"/>
              <a:t>were not carefully distinguished. Some version of the faithfulness condition was used (e.g. in variable selection), but not explicitly stated.</a:t>
            </a:r>
          </a:p>
          <a:p>
            <a:endParaRPr lang="en-US" i="0" dirty="0"/>
          </a:p>
          <a:p>
            <a:r>
              <a:rPr lang="en-US" i="1" dirty="0"/>
              <a:t> </a:t>
            </a:r>
            <a:r>
              <a:rPr dirty="0"/>
              <a:t>In causal discovery from non-experimental data, a crucial step is how to relate the causal structure to the statistical properties of the variables.</a:t>
            </a:r>
          </a:p>
          <a:p>
            <a:endParaRPr dirty="0"/>
          </a:p>
          <a:p>
            <a:r>
              <a:rPr dirty="0"/>
              <a:t>Causal Markov condition and the faithfulness assumption provide such a bridge.</a:t>
            </a:r>
          </a:p>
          <a:p>
            <a:endParaRPr dirty="0"/>
          </a:p>
          <a:p>
            <a:r>
              <a:rPr dirty="0"/>
              <a:t>faithfulness: all the conditional independence relationships holding in the population can be seen from the causal structure.</a:t>
            </a:r>
          </a:p>
          <a:p>
            <a:endParaRPr dirty="0"/>
          </a:p>
          <a:p>
            <a:r>
              <a:rPr dirty="0"/>
              <a:t>Roughly speaking, causal Markov condition means the causal structure implies conditional independences.  While faithfulness assumption states that the conditional independences imply the causal structure.</a:t>
            </a:r>
          </a:p>
          <a:p>
            <a:endParaRPr dirty="0"/>
          </a:p>
          <a:p>
            <a:r>
              <a:rPr dirty="0"/>
              <a:t>More specifically, causal Markov condition states that in the causal graph,....  Faithfulness means that all ...  That is, we do not have more independence relationships, other than those one can see from the causal graph by the Markov condition.</a:t>
            </a:r>
          </a:p>
          <a:p>
            <a:endParaRPr dirty="0"/>
          </a:p>
          <a:p>
            <a:r>
              <a:rPr dirty="0"/>
              <a:t>so what causal structure can we derive from this conditional independence relationship?  Can we recover the original structure?  We will come back to this question very soon.</a:t>
            </a:r>
          </a:p>
        </p:txBody>
      </p:sp>
    </p:spTree>
    <p:extLst>
      <p:ext uri="{BB962C8B-B14F-4D97-AF65-F5344CB8AC3E}">
        <p14:creationId xmlns:p14="http://schemas.microsoft.com/office/powerpoint/2010/main" val="3668545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30052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098344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582885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causal model of intensive care. Data is simulated.</a:t>
            </a:r>
          </a:p>
        </p:txBody>
      </p:sp>
    </p:spTree>
    <p:extLst>
      <p:ext uri="{BB962C8B-B14F-4D97-AF65-F5344CB8AC3E}">
        <p14:creationId xmlns:p14="http://schemas.microsoft.com/office/powerpoint/2010/main" val="656243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Fienberg, author of one of the main textbooks on discrete models, thought that there it was impossible to find a model that generated that data. </a:t>
            </a:r>
          </a:p>
          <a:p>
            <a:r>
              <a:rPr lang="en-US" dirty="0"/>
              <a:t>The original IBM PC in 1981 had a max of 256 kb ram, 2 5.25’’ floppy drive storing 320 kb</a:t>
            </a:r>
          </a:p>
          <a:p>
            <a:r>
              <a:rPr lang="en-US" dirty="0"/>
              <a:t> </a:t>
            </a:r>
          </a:p>
        </p:txBody>
      </p:sp>
    </p:spTree>
    <p:extLst>
      <p:ext uri="{BB962C8B-B14F-4D97-AF65-F5344CB8AC3E}">
        <p14:creationId xmlns:p14="http://schemas.microsoft.com/office/powerpoint/2010/main" val="2403260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Fienberg, author of one of the main textbooks on discrete models, thought that there it was impossible to find a model that generated that data. </a:t>
            </a:r>
          </a:p>
          <a:p>
            <a:r>
              <a:rPr lang="en-US" dirty="0"/>
              <a:t>The original IBM PC in 1981 had a max of 256 kb ram, 2 5.25’’ floppy drive storing 320 kb</a:t>
            </a:r>
          </a:p>
          <a:p>
            <a:r>
              <a:rPr lang="en-US" dirty="0"/>
              <a:t> </a:t>
            </a:r>
          </a:p>
        </p:txBody>
      </p:sp>
    </p:spTree>
    <p:extLst>
      <p:ext uri="{BB962C8B-B14F-4D97-AF65-F5344CB8AC3E}">
        <p14:creationId xmlns:p14="http://schemas.microsoft.com/office/powerpoint/2010/main" val="3574725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768414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436213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983294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b="0" i="0" dirty="0" err="1">
                <a:effectLst/>
                <a:latin typeface="Lucida Grande"/>
                <a:ea typeface="Lucida Grande"/>
                <a:cs typeface="Lucida Grande"/>
                <a:sym typeface="Lucida Grande"/>
              </a:rPr>
              <a:t>t</a:t>
            </a:r>
            <a:r>
              <a:rPr lang="en-US" sz="2200" b="0" i="0" u="none" strike="noStrike" dirty="0" err="1">
                <a:effectLst/>
                <a:latin typeface="Lucida Grande"/>
                <a:ea typeface="Lucida Grande"/>
                <a:cs typeface="Lucida Grande"/>
                <a:sym typeface="Lucida Grande"/>
                <a:hlinkClick r:id="rId3" tooltip="Clive Granger"/>
              </a:rPr>
              <a:t>Clive</a:t>
            </a:r>
            <a:r>
              <a:rPr lang="en-US" sz="2200" b="0" i="0" u="none" strike="noStrike" dirty="0">
                <a:effectLst/>
                <a:latin typeface="Lucida Grande"/>
                <a:ea typeface="Lucida Grande"/>
                <a:cs typeface="Lucida Grande"/>
                <a:sym typeface="Lucida Grande"/>
                <a:hlinkClick r:id="rId3" tooltip="Clive Granger"/>
              </a:rPr>
              <a:t> Granger</a:t>
            </a:r>
            <a:r>
              <a:rPr lang="en-US" sz="2200" b="0" i="0" dirty="0">
                <a:effectLst/>
                <a:latin typeface="Lucida Grande"/>
                <a:ea typeface="Lucida Grande"/>
                <a:cs typeface="Lucida Grande"/>
                <a:sym typeface="Lucida Grande"/>
              </a:rPr>
              <a:t> argued that </a:t>
            </a:r>
            <a:r>
              <a:rPr lang="en-US" sz="2200" b="0" i="0" u="none" strike="noStrike" dirty="0">
                <a:effectLst/>
                <a:latin typeface="Lucida Grande"/>
                <a:ea typeface="Lucida Grande"/>
                <a:cs typeface="Lucida Grande"/>
                <a:sym typeface="Lucida Grande"/>
                <a:hlinkClick r:id="rId4" tooltip="Causality"/>
              </a:rPr>
              <a:t>causality</a:t>
            </a:r>
            <a:r>
              <a:rPr lang="en-US" sz="2200" b="0" i="0" dirty="0">
                <a:effectLst/>
                <a:latin typeface="Lucida Grande"/>
                <a:ea typeface="Lucida Grande"/>
                <a:cs typeface="Lucida Grande"/>
                <a:sym typeface="Lucida Grande"/>
              </a:rPr>
              <a:t> in </a:t>
            </a:r>
            <a:r>
              <a:rPr lang="en-US" sz="2200" b="0" i="0" u="none" strike="noStrike" dirty="0">
                <a:effectLst/>
                <a:latin typeface="Lucida Grande"/>
                <a:ea typeface="Lucida Grande"/>
                <a:cs typeface="Lucida Grande"/>
                <a:sym typeface="Lucida Grande"/>
                <a:hlinkClick r:id="rId5" tooltip="Economics"/>
              </a:rPr>
              <a:t>economics</a:t>
            </a:r>
            <a:r>
              <a:rPr lang="en-US" sz="2200" b="0" i="0" dirty="0">
                <a:effectLst/>
                <a:latin typeface="Lucida Grande"/>
                <a:ea typeface="Lucida Grande"/>
                <a:cs typeface="Lucida Grande"/>
                <a:sym typeface="Lucida Grande"/>
              </a:rPr>
              <a:t> could be tested for by measuring the ability to predict the future values of a time series using prior values of another time series. Since the question of "true causality" is deeply philosophical, and because of the </a:t>
            </a:r>
            <a:r>
              <a:rPr lang="en-US" sz="2200" b="0" i="0" u="none" strike="noStrike" dirty="0">
                <a:effectLst/>
                <a:latin typeface="Lucida Grande"/>
                <a:ea typeface="Lucida Grande"/>
                <a:cs typeface="Lucida Grande"/>
                <a:sym typeface="Lucida Grande"/>
                <a:hlinkClick r:id="rId6" tooltip="Post hoc ergo propter hoc"/>
              </a:rPr>
              <a:t>post hoc ergo propter hoc</a:t>
            </a:r>
            <a:r>
              <a:rPr lang="en-US" sz="2200" b="0" i="0" dirty="0">
                <a:effectLst/>
                <a:latin typeface="Lucida Grande"/>
                <a:ea typeface="Lucida Grande"/>
                <a:cs typeface="Lucida Grande"/>
                <a:sym typeface="Lucida Grande"/>
              </a:rPr>
              <a:t> fallacy of assuming that one thing preceding another can be used as a proof of causation, </a:t>
            </a:r>
            <a:r>
              <a:rPr lang="en-US" sz="2200" b="0" i="0" u="none" strike="noStrike" dirty="0">
                <a:effectLst/>
                <a:latin typeface="Lucida Grande"/>
                <a:ea typeface="Lucida Grande"/>
                <a:cs typeface="Lucida Grande"/>
                <a:sym typeface="Lucida Grande"/>
                <a:hlinkClick r:id="rId7" tooltip="Econometrician"/>
              </a:rPr>
              <a:t>econometricians</a:t>
            </a:r>
            <a:r>
              <a:rPr lang="en-US" sz="2200" b="0" i="0" dirty="0">
                <a:effectLst/>
                <a:latin typeface="Lucida Grande"/>
                <a:ea typeface="Lucida Grande"/>
                <a:cs typeface="Lucida Grande"/>
                <a:sym typeface="Lucida Grande"/>
              </a:rPr>
              <a:t> assert that the Granger test finds only "predictive causality”</a:t>
            </a:r>
          </a:p>
          <a:p>
            <a:r>
              <a:rPr lang="en-US" sz="2200" b="0" i="0" dirty="0">
                <a:effectLst/>
                <a:latin typeface="Lucida Grande"/>
                <a:ea typeface="Lucida Grande"/>
                <a:cs typeface="Lucida Grande"/>
                <a:sym typeface="Lucida Grande"/>
              </a:rPr>
              <a:t>A time series </a:t>
            </a:r>
            <a:r>
              <a:rPr lang="en-US" sz="2200" b="0" i="1" dirty="0">
                <a:effectLst/>
                <a:latin typeface="Lucida Grande"/>
                <a:ea typeface="Lucida Grande"/>
                <a:cs typeface="Lucida Grande"/>
                <a:sym typeface="Lucida Grande"/>
              </a:rPr>
              <a:t>X</a:t>
            </a:r>
            <a:r>
              <a:rPr lang="en-US" sz="2200" b="0" i="0" dirty="0">
                <a:effectLst/>
                <a:latin typeface="Lucida Grande"/>
                <a:ea typeface="Lucida Grande"/>
                <a:cs typeface="Lucida Grande"/>
                <a:sym typeface="Lucida Grande"/>
              </a:rPr>
              <a:t> is said to Granger-cause </a:t>
            </a:r>
            <a:r>
              <a:rPr lang="en-US" sz="2200" b="0" i="1" dirty="0">
                <a:effectLst/>
                <a:latin typeface="Lucida Grande"/>
                <a:ea typeface="Lucida Grande"/>
                <a:cs typeface="Lucida Grande"/>
                <a:sym typeface="Lucida Grande"/>
              </a:rPr>
              <a:t>Y</a:t>
            </a:r>
            <a:r>
              <a:rPr lang="en-US" sz="2200" b="0" i="0" dirty="0">
                <a:effectLst/>
                <a:latin typeface="Lucida Grande"/>
                <a:ea typeface="Lucida Grande"/>
                <a:cs typeface="Lucida Grande"/>
                <a:sym typeface="Lucida Grande"/>
              </a:rPr>
              <a:t> if it can be shown, usually through a series of </a:t>
            </a:r>
            <a:r>
              <a:rPr lang="en-US" sz="2200" b="0" i="0" u="none" strike="noStrike" dirty="0">
                <a:effectLst/>
                <a:latin typeface="Lucida Grande"/>
                <a:ea typeface="Lucida Grande"/>
                <a:cs typeface="Lucida Grande"/>
                <a:sym typeface="Lucida Grande"/>
                <a:hlinkClick r:id="rId8" tooltip="T-test"/>
              </a:rPr>
              <a:t>t-tests</a:t>
            </a:r>
            <a:r>
              <a:rPr lang="en-US" sz="2200" b="0" i="0" dirty="0">
                <a:effectLst/>
                <a:latin typeface="Lucida Grande"/>
                <a:ea typeface="Lucida Grande"/>
                <a:cs typeface="Lucida Grande"/>
                <a:sym typeface="Lucida Grande"/>
              </a:rPr>
              <a:t> and </a:t>
            </a:r>
            <a:r>
              <a:rPr lang="en-US" sz="2200" b="0" i="0" u="none" strike="noStrike" dirty="0">
                <a:effectLst/>
                <a:latin typeface="Lucida Grande"/>
                <a:ea typeface="Lucida Grande"/>
                <a:cs typeface="Lucida Grande"/>
                <a:sym typeface="Lucida Grande"/>
                <a:hlinkClick r:id="rId9" tooltip="F-test"/>
              </a:rPr>
              <a:t>F-tests</a:t>
            </a:r>
            <a:r>
              <a:rPr lang="en-US" sz="2200" b="0" i="0" dirty="0">
                <a:effectLst/>
                <a:latin typeface="Lucida Grande"/>
                <a:ea typeface="Lucida Grande"/>
                <a:cs typeface="Lucida Grande"/>
                <a:sym typeface="Lucida Grande"/>
              </a:rPr>
              <a:t> on </a:t>
            </a:r>
            <a:r>
              <a:rPr lang="en-US" sz="2200" b="0" i="0" u="none" strike="noStrike" dirty="0">
                <a:effectLst/>
                <a:latin typeface="Lucida Grande"/>
                <a:ea typeface="Lucida Grande"/>
                <a:cs typeface="Lucida Grande"/>
                <a:sym typeface="Lucida Grande"/>
                <a:hlinkClick r:id="rId10" tooltip="Lag operator"/>
              </a:rPr>
              <a:t>lagged values</a:t>
            </a:r>
            <a:r>
              <a:rPr lang="en-US" sz="2200" b="0" i="0" dirty="0">
                <a:effectLst/>
                <a:latin typeface="Lucida Grande"/>
                <a:ea typeface="Lucida Grande"/>
                <a:cs typeface="Lucida Grande"/>
                <a:sym typeface="Lucida Grande"/>
              </a:rPr>
              <a:t> of </a:t>
            </a:r>
            <a:r>
              <a:rPr lang="en-US" sz="2200" b="0" i="1" dirty="0">
                <a:effectLst/>
                <a:latin typeface="Lucida Grande"/>
                <a:ea typeface="Lucida Grande"/>
                <a:cs typeface="Lucida Grande"/>
                <a:sym typeface="Lucida Grande"/>
              </a:rPr>
              <a:t>X</a:t>
            </a:r>
            <a:r>
              <a:rPr lang="en-US" sz="2200" b="0" i="0" dirty="0">
                <a:effectLst/>
                <a:latin typeface="Lucida Grande"/>
                <a:ea typeface="Lucida Grande"/>
                <a:cs typeface="Lucida Grande"/>
                <a:sym typeface="Lucida Grande"/>
              </a:rPr>
              <a:t> (and with lagged values of </a:t>
            </a:r>
            <a:r>
              <a:rPr lang="en-US" sz="2200" b="0" i="1" dirty="0">
                <a:effectLst/>
                <a:latin typeface="Lucida Grande"/>
                <a:ea typeface="Lucida Grande"/>
                <a:cs typeface="Lucida Grande"/>
                <a:sym typeface="Lucida Grande"/>
              </a:rPr>
              <a:t>Y</a:t>
            </a:r>
            <a:r>
              <a:rPr lang="en-US" sz="2200" b="0" i="0" dirty="0">
                <a:effectLst/>
                <a:latin typeface="Lucida Grande"/>
                <a:ea typeface="Lucida Grande"/>
                <a:cs typeface="Lucida Grande"/>
                <a:sym typeface="Lucida Grande"/>
              </a:rPr>
              <a:t> also included), that those </a:t>
            </a:r>
            <a:r>
              <a:rPr lang="en-US" sz="2200" b="0" i="1" dirty="0">
                <a:effectLst/>
                <a:latin typeface="Lucida Grande"/>
                <a:ea typeface="Lucida Grande"/>
                <a:cs typeface="Lucida Grande"/>
                <a:sym typeface="Lucida Grande"/>
              </a:rPr>
              <a:t>X</a:t>
            </a:r>
            <a:r>
              <a:rPr lang="en-US" sz="2200" b="0" i="0" dirty="0">
                <a:effectLst/>
                <a:latin typeface="Lucida Grande"/>
                <a:ea typeface="Lucida Grande"/>
                <a:cs typeface="Lucida Grande"/>
                <a:sym typeface="Lucida Grande"/>
              </a:rPr>
              <a:t> values provide </a:t>
            </a:r>
            <a:r>
              <a:rPr lang="en-US" sz="2200" b="0" i="0" u="none" strike="noStrike" dirty="0">
                <a:effectLst/>
                <a:latin typeface="Lucida Grande"/>
                <a:ea typeface="Lucida Grande"/>
                <a:cs typeface="Lucida Grande"/>
                <a:sym typeface="Lucida Grande"/>
                <a:hlinkClick r:id="rId11" tooltip="Statistical significance"/>
              </a:rPr>
              <a:t>statistically significant</a:t>
            </a:r>
            <a:r>
              <a:rPr lang="en-US" sz="2200" b="0" i="0" dirty="0">
                <a:effectLst/>
                <a:latin typeface="Lucida Grande"/>
                <a:ea typeface="Lucida Grande"/>
                <a:cs typeface="Lucida Grande"/>
                <a:sym typeface="Lucida Grande"/>
              </a:rPr>
              <a:t> information about future values of </a:t>
            </a:r>
            <a:r>
              <a:rPr lang="en-US" sz="2200" b="0" i="1" dirty="0">
                <a:effectLst/>
                <a:latin typeface="Lucida Grande"/>
                <a:ea typeface="Lucida Grande"/>
                <a:cs typeface="Lucida Grande"/>
                <a:sym typeface="Lucida Grande"/>
              </a:rPr>
              <a:t>Y</a:t>
            </a:r>
            <a:r>
              <a:rPr lang="en-US" sz="2200" b="0" i="0" dirty="0">
                <a:effectLst/>
                <a:latin typeface="Lucida Grande"/>
                <a:ea typeface="Lucida Grande"/>
                <a:cs typeface="Lucida Grande"/>
                <a:sym typeface="Lucida Grande"/>
              </a:rPr>
              <a:t>.</a:t>
            </a:r>
            <a:endParaRPr lang="en-US" dirty="0"/>
          </a:p>
        </p:txBody>
      </p:sp>
    </p:spTree>
    <p:extLst>
      <p:ext uri="{BB962C8B-B14F-4D97-AF65-F5344CB8AC3E}">
        <p14:creationId xmlns:p14="http://schemas.microsoft.com/office/powerpoint/2010/main" val="1477660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Everybody who actually faced making policies knew that they needed to get the causal story right in order to do the right intervention.</a:t>
            </a:r>
          </a:p>
        </p:txBody>
      </p:sp>
    </p:spTree>
    <p:extLst>
      <p:ext uri="{BB962C8B-B14F-4D97-AF65-F5344CB8AC3E}">
        <p14:creationId xmlns:p14="http://schemas.microsoft.com/office/powerpoint/2010/main" val="26262835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have a definition.  But we did have axioms – Markov and Faithfulness. So we could be precise about when things would succeed in the limit. How can you have axioms without a definition? All formal theories have some primitive terms. There are serious disagreements about what probabilities are, but there are still shared axioms. And we had defined intervention. So we could calculate the effects of interventions – see SGS which gave rules for calculating the effects of interventions, and Pearl do-calculus).</a:t>
            </a:r>
          </a:p>
        </p:txBody>
      </p:sp>
    </p:spTree>
    <p:extLst>
      <p:ext uri="{BB962C8B-B14F-4D97-AF65-F5344CB8AC3E}">
        <p14:creationId xmlns:p14="http://schemas.microsoft.com/office/powerpoint/2010/main" val="29981575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968853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depends upon which assumptions are made, and which variables are measured, and which distributions are considered.</a:t>
            </a:r>
          </a:p>
        </p:txBody>
      </p:sp>
    </p:spTree>
    <p:extLst>
      <p:ext uri="{BB962C8B-B14F-4D97-AF65-F5344CB8AC3E}">
        <p14:creationId xmlns:p14="http://schemas.microsoft.com/office/powerpoint/2010/main" val="18977047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937013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96DC707-A144-DF41-8EE7-A8CA824E98E5}" type="slidenum">
              <a:rPr lang="en-US"/>
              <a:pPr/>
              <a:t>49</a:t>
            </a:fld>
            <a:endParaRPr lang="en-US"/>
          </a:p>
        </p:txBody>
      </p:sp>
    </p:spTree>
    <p:extLst>
      <p:ext uri="{BB962C8B-B14F-4D97-AF65-F5344CB8AC3E}">
        <p14:creationId xmlns:p14="http://schemas.microsoft.com/office/powerpoint/2010/main" val="20869643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584200" eaLnBrk="1" fontAlgn="auto" latinLnBrk="0" hangingPunct="1">
              <a:lnSpc>
                <a:spcPct val="100000"/>
              </a:lnSpc>
              <a:spcBef>
                <a:spcPts val="0"/>
              </a:spcBef>
              <a:spcAft>
                <a:spcPts val="0"/>
              </a:spcAft>
              <a:buClrTx/>
              <a:buSzTx/>
              <a:buFontTx/>
              <a:buNone/>
              <a:tabLst/>
              <a:defRPr/>
            </a:pPr>
            <a:r>
              <a:rPr lang="en-US" sz="2400" dirty="0">
                <a:solidFill>
                  <a:schemeClr val="tx1"/>
                </a:solidFill>
                <a:latin typeface="Times New Roman"/>
                <a:cs typeface="Times New Roman"/>
                <a:sym typeface="Times New Roman"/>
              </a:rPr>
              <a:t>Constraint-based algorithm. </a:t>
            </a:r>
          </a:p>
          <a:p>
            <a:endParaRPr lang="en-US" dirty="0"/>
          </a:p>
        </p:txBody>
      </p:sp>
    </p:spTree>
    <p:extLst>
      <p:ext uri="{BB962C8B-B14F-4D97-AF65-F5344CB8AC3E}">
        <p14:creationId xmlns:p14="http://schemas.microsoft.com/office/powerpoint/2010/main" val="39533165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Shape 319"/>
          <p:cNvSpPr>
            <a:spLocks noGrp="1" noRot="1" noChangeAspect="1"/>
          </p:cNvSpPr>
          <p:nvPr>
            <p:ph type="sldImg"/>
          </p:nvPr>
        </p:nvSpPr>
        <p:spPr>
          <a:prstGeom prst="rect">
            <a:avLst/>
          </a:prstGeom>
        </p:spPr>
        <p:txBody>
          <a:bodyPr/>
          <a:lstStyle/>
          <a:p>
            <a:endParaRPr/>
          </a:p>
        </p:txBody>
      </p:sp>
      <p:sp>
        <p:nvSpPr>
          <p:cNvPr id="320" name="Shape 320"/>
          <p:cNvSpPr>
            <a:spLocks noGrp="1"/>
          </p:cNvSpPr>
          <p:nvPr>
            <p:ph type="body" sz="quarter" idx="1"/>
          </p:nvPr>
        </p:nvSpPr>
        <p:spPr>
          <a:prstGeom prst="rect">
            <a:avLst/>
          </a:prstGeom>
        </p:spPr>
        <p:txBody>
          <a:bodyPr/>
          <a:lstStyle/>
          <a:p>
            <a:r>
              <a:t>In order to recover causal model or causal representation from data, we have to figure out two things. One is what properties of footprint the causal process leaves in the data that can be used to recover the information of the causal process. The other is whether such properties are strong enough to establish the identifiability of the causal relations or hidden causal variables . If they are identifiable, we successfully recover the information of the underlying causal process of interest.</a:t>
            </a:r>
          </a:p>
        </p:txBody>
      </p:sp>
    </p:spTree>
    <p:extLst>
      <p:ext uri="{BB962C8B-B14F-4D97-AF65-F5344CB8AC3E}">
        <p14:creationId xmlns:p14="http://schemas.microsoft.com/office/powerpoint/2010/main" val="36121510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Shape 349"/>
          <p:cNvSpPr>
            <a:spLocks noGrp="1" noRot="1" noChangeAspect="1"/>
          </p:cNvSpPr>
          <p:nvPr>
            <p:ph type="sldImg"/>
          </p:nvPr>
        </p:nvSpPr>
        <p:spPr>
          <a:prstGeom prst="rect">
            <a:avLst/>
          </a:prstGeom>
        </p:spPr>
        <p:txBody>
          <a:bodyPr/>
          <a:lstStyle/>
          <a:p>
            <a:endParaRPr/>
          </a:p>
        </p:txBody>
      </p:sp>
      <p:sp>
        <p:nvSpPr>
          <p:cNvPr id="350" name="Shape 350"/>
          <p:cNvSpPr>
            <a:spLocks noGrp="1"/>
          </p:cNvSpPr>
          <p:nvPr>
            <p:ph type="body" sz="quarter" idx="1"/>
          </p:nvPr>
        </p:nvSpPr>
        <p:spPr>
          <a:prstGeom prst="rect">
            <a:avLst/>
          </a:prstGeom>
        </p:spPr>
        <p:txBody>
          <a:bodyPr/>
          <a:lstStyle>
            <a:lvl1pPr defTabSz="457200">
              <a:defRPr sz="1800">
                <a:latin typeface="Helvetica Neue"/>
                <a:ea typeface="Helvetica Neue"/>
                <a:cs typeface="Helvetica Neue"/>
                <a:sym typeface="Helvetica Neue"/>
              </a:defRPr>
            </a:lvl1pPr>
          </a:lstStyle>
          <a:p>
            <a:r>
              <a:t>Even as adults, we question the “why” of many things not in our control. For children, “why” questions help them make sense of the world around them that they are just beginning to learn about. These “why” questions also help spur and accelerate learning. Our adult responses are crucial and pivotal. So, the bigger question is: What is your response to the “why” questions?</a:t>
            </a:r>
          </a:p>
        </p:txBody>
      </p:sp>
    </p:spTree>
    <p:extLst>
      <p:ext uri="{BB962C8B-B14F-4D97-AF65-F5344CB8AC3E}">
        <p14:creationId xmlns:p14="http://schemas.microsoft.com/office/powerpoint/2010/main" val="19105641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prstGeom prst="rect">
            <a:avLst/>
          </a:prstGeom>
        </p:spPr>
        <p:txBody>
          <a:bodyPr/>
          <a:lstStyle/>
          <a:p>
            <a:endParaRPr/>
          </a:p>
        </p:txBody>
      </p:sp>
      <p:sp>
        <p:nvSpPr>
          <p:cNvPr id="171" name="Shape 171"/>
          <p:cNvSpPr>
            <a:spLocks noGrp="1"/>
          </p:cNvSpPr>
          <p:nvPr>
            <p:ph type="body" sz="quarter" idx="1"/>
          </p:nvPr>
        </p:nvSpPr>
        <p:spPr>
          <a:prstGeom prst="rect">
            <a:avLst/>
          </a:prstGeom>
        </p:spPr>
        <p:txBody>
          <a:bodyPr/>
          <a:lstStyle/>
          <a:p>
            <a:r>
              <a:rPr dirty="0"/>
              <a:t>In the 1970s, the Edison Electric Company in North Carolina was concerned about the effects on plant growth of acid rain produced by emissions from its electric generators. The company arranged with a biologist and a statistician to investigate whether acidity of waters was affecting plant growth in the region. The investigators chose samples from the Cape Fear estuary, where the Cape Fear River flows into the Atlantic Ocean.</a:t>
            </a:r>
          </a:p>
          <a:p>
            <a:endParaRPr dirty="0"/>
          </a:p>
          <a:p>
            <a:r>
              <a:rPr dirty="0"/>
              <a:t>If salinity was controlled for statistically, pH still influenced biomass, but if pH was controlled statistically, variations in salinity did not produce variations in biomass.  </a:t>
            </a:r>
          </a:p>
          <a:p>
            <a:endParaRPr dirty="0"/>
          </a:p>
          <a:p>
            <a:r>
              <a:rPr dirty="0"/>
              <a:t>But should the results of the search algorithm be trusted to have found the right answers even about Spartina growth in Cape Fear estuary, given such a small sample? Fortunately, we know the answer. A graduate student in biology did the experiment and reported the result in his doctoral thesis. He obtained new samples of Spartina grass and grew them in a green house, varying acidity and the concentration of salt by a standard randomized design, keeping other factors constant.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prstGeom prst="rect">
            <a:avLst/>
          </a:prstGeom>
        </p:spPr>
        <p:txBody>
          <a:bodyPr/>
          <a:lstStyle/>
          <a:p>
            <a:endParaRPr/>
          </a:p>
        </p:txBody>
      </p:sp>
      <p:sp>
        <p:nvSpPr>
          <p:cNvPr id="171" name="Shape 171"/>
          <p:cNvSpPr>
            <a:spLocks noGrp="1"/>
          </p:cNvSpPr>
          <p:nvPr>
            <p:ph type="body" sz="quarter" idx="1"/>
          </p:nvPr>
        </p:nvSpPr>
        <p:spPr>
          <a:prstGeom prst="rect">
            <a:avLst/>
          </a:prstGeom>
        </p:spPr>
        <p:txBody>
          <a:bodyPr/>
          <a:lstStyle/>
          <a:p>
            <a:r>
              <a:rPr dirty="0"/>
              <a:t>In the 1970s, the Edison Electric Company in North Carolina was concerned about the effects on plant growth of acid rain produced by emissions from its electric generators. The company arranged with a biologist and a statistician to investigate whether acidity of waters was affecting plant growth in the region. The investigators chose samples from the Cape Fear estuary, where the Cape Fear River flows into the Atlantic Ocean.</a:t>
            </a:r>
          </a:p>
          <a:p>
            <a:endParaRPr dirty="0"/>
          </a:p>
          <a:p>
            <a:r>
              <a:rPr dirty="0"/>
              <a:t>If salinity was controlled for statistically, pH still influenced biomass, but if pH was controlled statistically, variations in salinity did not produce variations in biomass.  </a:t>
            </a:r>
          </a:p>
          <a:p>
            <a:endParaRPr dirty="0"/>
          </a:p>
          <a:p>
            <a:r>
              <a:rPr dirty="0"/>
              <a:t>But should the results of the search algorithm be trusted to have found the right answers even about Spartina growth in Cape Fear estuary, given such a small sample? Fortunately, we know the answer. A graduate student in biology did the experiment and reported the result in his doctoral thesis. He obtained new samples of Spartina grass and grew them in a green house, varying acidity and the concentration of salt by a standard randomized design, keeping other factors constant.</a:t>
            </a:r>
          </a:p>
        </p:txBody>
      </p:sp>
    </p:spTree>
    <p:extLst>
      <p:ext uri="{BB962C8B-B14F-4D97-AF65-F5344CB8AC3E}">
        <p14:creationId xmlns:p14="http://schemas.microsoft.com/office/powerpoint/2010/main" val="19692984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Edges in red are either wrong, or have discarded information</a:t>
            </a:r>
          </a:p>
        </p:txBody>
      </p:sp>
    </p:spTree>
    <p:extLst>
      <p:ext uri="{BB962C8B-B14F-4D97-AF65-F5344CB8AC3E}">
        <p14:creationId xmlns:p14="http://schemas.microsoft.com/office/powerpoint/2010/main" val="34034704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 name="Shape 800"/>
          <p:cNvSpPr>
            <a:spLocks noGrp="1" noRot="1" noChangeAspect="1"/>
          </p:cNvSpPr>
          <p:nvPr>
            <p:ph type="sldImg"/>
          </p:nvPr>
        </p:nvSpPr>
        <p:spPr>
          <a:prstGeom prst="rect">
            <a:avLst/>
          </a:prstGeom>
        </p:spPr>
        <p:txBody>
          <a:bodyPr/>
          <a:lstStyle/>
          <a:p>
            <a:endParaRPr/>
          </a:p>
        </p:txBody>
      </p:sp>
      <p:sp>
        <p:nvSpPr>
          <p:cNvPr id="801" name="Shape 801"/>
          <p:cNvSpPr>
            <a:spLocks noGrp="1"/>
          </p:cNvSpPr>
          <p:nvPr>
            <p:ph type="body" sz="quarter" idx="1"/>
          </p:nvPr>
        </p:nvSpPr>
        <p:spPr>
          <a:prstGeom prst="rect">
            <a:avLst/>
          </a:prstGeom>
        </p:spPr>
        <p:txBody>
          <a:bodyPr/>
          <a:lstStyle/>
          <a:p>
            <a:pPr defTabSz="457200">
              <a:lnSpc>
                <a:spcPct val="117999"/>
              </a:lnSpc>
              <a:defRPr>
                <a:latin typeface="Helvetica Neue"/>
                <a:ea typeface="Helvetica Neue"/>
                <a:cs typeface="Helvetica Neue"/>
                <a:sym typeface="Helvetica Neue"/>
              </a:defRPr>
            </a:pPr>
            <a:r>
              <a:t>Let me start with the independent noise condition for estimating linear, non-Gaussian causal networks without latent confounders. We say variable set Z and variable Y satisfy the independent noise condition if and only if the residual of regressing Y on Z is statistically independent from Z. </a:t>
            </a:r>
          </a:p>
          <a:p>
            <a:pPr defTabSz="457200">
              <a:lnSpc>
                <a:spcPct val="117999"/>
              </a:lnSpc>
              <a:defRPr>
                <a:latin typeface="Helvetica Neue"/>
                <a:ea typeface="Helvetica Neue"/>
                <a:cs typeface="Helvetica Neue"/>
                <a:sym typeface="Helvetica Neue"/>
              </a:defRPr>
            </a:pPr>
            <a:endParaRPr/>
          </a:p>
          <a:p>
            <a:pPr defTabSz="457200">
              <a:lnSpc>
                <a:spcPct val="117999"/>
              </a:lnSpc>
              <a:defRPr>
                <a:latin typeface="Helvetica Neue"/>
                <a:ea typeface="Helvetica Neue"/>
                <a:cs typeface="Helvetica Neue"/>
                <a:sym typeface="Helvetica Neue"/>
              </a:defRPr>
            </a:pPr>
            <a:r>
              <a:t>Let Z and Y be variables in a linear, non-Gaussian acyclic causal model (LiNGAM), in which there is no latent confounder. With the IN condition, we can determine the causal orders of the variables and then find the causal model without latent confounders.</a:t>
            </a:r>
          </a:p>
        </p:txBody>
      </p:sp>
    </p:spTree>
    <p:extLst>
      <p:ext uri="{BB962C8B-B14F-4D97-AF65-F5344CB8AC3E}">
        <p14:creationId xmlns:p14="http://schemas.microsoft.com/office/powerpoint/2010/main" val="12975070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 name="Shape 800"/>
          <p:cNvSpPr>
            <a:spLocks noGrp="1" noRot="1" noChangeAspect="1"/>
          </p:cNvSpPr>
          <p:nvPr>
            <p:ph type="sldImg"/>
          </p:nvPr>
        </p:nvSpPr>
        <p:spPr>
          <a:prstGeom prst="rect">
            <a:avLst/>
          </a:prstGeom>
        </p:spPr>
        <p:txBody>
          <a:bodyPr/>
          <a:lstStyle/>
          <a:p>
            <a:endParaRPr/>
          </a:p>
        </p:txBody>
      </p:sp>
      <p:sp>
        <p:nvSpPr>
          <p:cNvPr id="801" name="Shape 801"/>
          <p:cNvSpPr>
            <a:spLocks noGrp="1"/>
          </p:cNvSpPr>
          <p:nvPr>
            <p:ph type="body" sz="quarter" idx="1"/>
          </p:nvPr>
        </p:nvSpPr>
        <p:spPr>
          <a:prstGeom prst="rect">
            <a:avLst/>
          </a:prstGeom>
        </p:spPr>
        <p:txBody>
          <a:bodyPr/>
          <a:lstStyle/>
          <a:p>
            <a:pPr defTabSz="457200">
              <a:lnSpc>
                <a:spcPct val="117999"/>
              </a:lnSpc>
              <a:defRPr>
                <a:latin typeface="Helvetica Neue"/>
                <a:ea typeface="Helvetica Neue"/>
                <a:cs typeface="Helvetica Neue"/>
                <a:sym typeface="Helvetica Neue"/>
              </a:defRPr>
            </a:pPr>
            <a:r>
              <a:t>Let me start with the independent noise condition for estimating linear, non-Gaussian causal networks without latent confounders. We say variable set Z and variable Y satisfy the independent noise condition if and only if the residual of regressing Y on Z is statistically independent from Z. </a:t>
            </a:r>
          </a:p>
          <a:p>
            <a:pPr defTabSz="457200">
              <a:lnSpc>
                <a:spcPct val="117999"/>
              </a:lnSpc>
              <a:defRPr>
                <a:latin typeface="Helvetica Neue"/>
                <a:ea typeface="Helvetica Neue"/>
                <a:cs typeface="Helvetica Neue"/>
                <a:sym typeface="Helvetica Neue"/>
              </a:defRPr>
            </a:pPr>
            <a:endParaRPr/>
          </a:p>
          <a:p>
            <a:pPr defTabSz="457200">
              <a:lnSpc>
                <a:spcPct val="117999"/>
              </a:lnSpc>
              <a:defRPr>
                <a:latin typeface="Helvetica Neue"/>
                <a:ea typeface="Helvetica Neue"/>
                <a:cs typeface="Helvetica Neue"/>
                <a:sym typeface="Helvetica Neue"/>
              </a:defRPr>
            </a:pPr>
            <a:r>
              <a:t>Let Z and Y be variables in a linear, non-Gaussian acyclic causal model (LiNGAM), in which there is no latent confounder. With the IN condition, we can determine the causal orders of the variables and then find the causal model without latent confounders.</a:t>
            </a:r>
          </a:p>
        </p:txBody>
      </p:sp>
    </p:spTree>
    <p:extLst>
      <p:ext uri="{BB962C8B-B14F-4D97-AF65-F5344CB8AC3E}">
        <p14:creationId xmlns:p14="http://schemas.microsoft.com/office/powerpoint/2010/main" val="19423456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R12 is the correlation</a:t>
            </a:r>
            <a:r>
              <a:rPr lang="en-US" baseline="0" dirty="0"/>
              <a:t> between x1 and x2</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96DC707-A144-DF41-8EE7-A8CA824E98E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042225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dirty="0">
                <a:solidFill>
                  <a:srgbClr val="000000"/>
                </a:solidFill>
                <a:effectLst>
                  <a:innerShdw blurRad="63500" dist="50800" dir="13500000">
                    <a:prstClr val="black">
                      <a:alpha val="50000"/>
                    </a:prstClr>
                  </a:innerShdw>
                </a:effectLst>
              </a:rPr>
              <a:t>The primary goal is to attain "scientific parsimony or economy of description” (Harman, 1960, p. 4).</a:t>
            </a:r>
          </a:p>
          <a:p>
            <a:pPr>
              <a:defRPr/>
            </a:pPr>
            <a:r>
              <a:rPr lang="en-US" sz="1200" dirty="0">
                <a:solidFill>
                  <a:srgbClr val="000000"/>
                </a:solidFill>
                <a:effectLst>
                  <a:innerShdw blurRad="63500" dist="50800" dir="13500000">
                    <a:prstClr val="black">
                      <a:alpha val="50000"/>
                    </a:prstClr>
                  </a:innerShdw>
                </a:effectLst>
              </a:rPr>
              <a:t>Definition of simple structure based on five principles (e.g. minimize negative loadings and maximize zero loadings) to facilitate interpretation and ensure that loadings were invariant to the inclusion of other items.</a:t>
            </a:r>
          </a:p>
          <a:p>
            <a:pPr>
              <a:defRPr/>
            </a:pPr>
            <a:r>
              <a:rPr lang="en-US" sz="1200" dirty="0">
                <a:solidFill>
                  <a:srgbClr val="000000"/>
                </a:solidFill>
                <a:effectLst>
                  <a:innerShdw blurRad="63500" dist="50800" dir="13500000">
                    <a:prstClr val="black">
                      <a:alpha val="50000"/>
                    </a:prstClr>
                  </a:innerShdw>
                </a:effectLst>
              </a:rPr>
              <a:t>Problem of rotation</a:t>
            </a:r>
          </a:p>
          <a:p>
            <a:pPr>
              <a:defRPr/>
            </a:pPr>
            <a:r>
              <a:rPr lang="en-US" sz="1200" dirty="0">
                <a:solidFill>
                  <a:srgbClr val="000000"/>
                </a:solidFill>
                <a:effectLst>
                  <a:innerShdw blurRad="63500" dist="50800" dir="13500000">
                    <a:prstClr val="black">
                      <a:alpha val="50000"/>
                    </a:prstClr>
                  </a:innerShdw>
                </a:effectLst>
              </a:rPr>
              <a:t>Problem of causation between measured variables </a:t>
            </a:r>
          </a:p>
          <a:p>
            <a:endParaRPr lang="en-US" dirty="0"/>
          </a:p>
        </p:txBody>
      </p:sp>
      <p:sp>
        <p:nvSpPr>
          <p:cNvPr id="4" name="Slide Number Placeholder 3"/>
          <p:cNvSpPr>
            <a:spLocks noGrp="1"/>
          </p:cNvSpPr>
          <p:nvPr>
            <p:ph type="sldNum" sz="quarter" idx="10"/>
          </p:nvPr>
        </p:nvSpPr>
        <p:spPr/>
        <p:txBody>
          <a:bodyPr/>
          <a:lstStyle/>
          <a:p>
            <a:fld id="{496DC707-A144-DF41-8EE7-A8CA824E98E5}" type="slidenum">
              <a:rPr/>
              <a:pPr/>
              <a:t>65</a:t>
            </a:fld>
            <a:endParaRPr lang="en-US"/>
          </a:p>
        </p:txBody>
      </p:sp>
    </p:spTree>
    <p:extLst>
      <p:ext uri="{BB962C8B-B14F-4D97-AF65-F5344CB8AC3E}">
        <p14:creationId xmlns:p14="http://schemas.microsoft.com/office/powerpoint/2010/main" val="34010316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96DC707-A144-DF41-8EE7-A8CA824E98E5}" type="slidenum">
              <a:rPr lang="en-US"/>
              <a:pPr/>
              <a:t>66</a:t>
            </a:fld>
            <a:endParaRPr lang="en-US"/>
          </a:p>
        </p:txBody>
      </p:sp>
    </p:spTree>
    <p:extLst>
      <p:ext uri="{BB962C8B-B14F-4D97-AF65-F5344CB8AC3E}">
        <p14:creationId xmlns:p14="http://schemas.microsoft.com/office/powerpoint/2010/main" val="21426066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96DC707-A144-DF41-8EE7-A8CA824E98E5}" type="slidenum">
              <a:rPr lang="en-US"/>
              <a:pPr/>
              <a:t>67</a:t>
            </a:fld>
            <a:endParaRPr lang="en-US"/>
          </a:p>
        </p:txBody>
      </p:sp>
    </p:spTree>
    <p:extLst>
      <p:ext uri="{BB962C8B-B14F-4D97-AF65-F5344CB8AC3E}">
        <p14:creationId xmlns:p14="http://schemas.microsoft.com/office/powerpoint/2010/main" val="2173901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mp; Bullets">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270000" y="254000"/>
            <a:ext cx="10464800" cy="2438400"/>
          </a:xfrm>
          <a:prstGeom prst="rect">
            <a:avLst/>
          </a:prstGeom>
          <a:effectLst/>
        </p:spPr>
        <p:txBody>
          <a:bodyPr/>
          <a:lstStyle>
            <a:lvl1pPr defTabSz="584200">
              <a:defRPr sz="8400">
                <a:solidFill>
                  <a:srgbClr val="000000"/>
                </a:solidFill>
                <a:latin typeface="+mn-lt"/>
                <a:ea typeface="+mn-ea"/>
                <a:cs typeface="+mn-cs"/>
                <a:sym typeface="Gill Sans"/>
              </a:defRPr>
            </a:lvl1pPr>
          </a:lstStyle>
          <a:p>
            <a:r>
              <a:t>Title Text</a:t>
            </a:r>
          </a:p>
        </p:txBody>
      </p:sp>
      <p:sp>
        <p:nvSpPr>
          <p:cNvPr id="12" name="Body Level One…"/>
          <p:cNvSpPr txBox="1">
            <a:spLocks noGrp="1"/>
          </p:cNvSpPr>
          <p:nvPr>
            <p:ph type="body" idx="1"/>
          </p:nvPr>
        </p:nvSpPr>
        <p:spPr>
          <a:xfrm>
            <a:off x="1270000" y="2768600"/>
            <a:ext cx="10464800" cy="5715000"/>
          </a:xfrm>
          <a:prstGeom prst="rect">
            <a:avLst/>
          </a:prstGeom>
          <a:effectLst/>
        </p:spPr>
        <p:txBody>
          <a:bodyPr/>
          <a:lstStyle>
            <a:lvl1pPr marL="889000" indent="-571500" defTabSz="584200">
              <a:spcBef>
                <a:spcPts val="2400"/>
              </a:spcBef>
              <a:buSzPct val="171000"/>
              <a:defRPr sz="4200">
                <a:solidFill>
                  <a:srgbClr val="000000"/>
                </a:solidFill>
                <a:latin typeface="+mn-lt"/>
                <a:ea typeface="+mn-ea"/>
                <a:cs typeface="+mn-cs"/>
                <a:sym typeface="Gill Sans"/>
              </a:defRPr>
            </a:lvl1pPr>
            <a:lvl2pPr marL="1333500" indent="-571500" defTabSz="584200">
              <a:spcBef>
                <a:spcPts val="2400"/>
              </a:spcBef>
              <a:buSzPct val="171000"/>
              <a:defRPr sz="4200">
                <a:solidFill>
                  <a:srgbClr val="000000"/>
                </a:solidFill>
                <a:latin typeface="+mn-lt"/>
                <a:ea typeface="+mn-ea"/>
                <a:cs typeface="+mn-cs"/>
                <a:sym typeface="Gill Sans"/>
              </a:defRPr>
            </a:lvl2pPr>
            <a:lvl3pPr marL="1778000" indent="-571500" defTabSz="584200">
              <a:spcBef>
                <a:spcPts val="2400"/>
              </a:spcBef>
              <a:buSzPct val="171000"/>
              <a:defRPr sz="4200">
                <a:solidFill>
                  <a:srgbClr val="000000"/>
                </a:solidFill>
                <a:latin typeface="+mn-lt"/>
                <a:ea typeface="+mn-ea"/>
                <a:cs typeface="+mn-cs"/>
                <a:sym typeface="Gill Sans"/>
              </a:defRPr>
            </a:lvl3pPr>
            <a:lvl4pPr marL="2222500" indent="-571500" defTabSz="584200">
              <a:spcBef>
                <a:spcPts val="2400"/>
              </a:spcBef>
              <a:buSzPct val="171000"/>
              <a:defRPr sz="4200">
                <a:solidFill>
                  <a:srgbClr val="000000"/>
                </a:solidFill>
                <a:latin typeface="+mn-lt"/>
                <a:ea typeface="+mn-ea"/>
                <a:cs typeface="+mn-cs"/>
                <a:sym typeface="Gill Sans"/>
              </a:defRPr>
            </a:lvl4pPr>
            <a:lvl5pPr marL="2667000" indent="-571500" defTabSz="584200">
              <a:spcBef>
                <a:spcPts val="2400"/>
              </a:spcBef>
              <a:buSzPct val="171000"/>
              <a:defRPr sz="4200">
                <a:solidFill>
                  <a:srgbClr val="000000"/>
                </a:solidFill>
                <a:latin typeface="+mn-lt"/>
                <a:ea typeface="+mn-ea"/>
                <a:cs typeface="+mn-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xfrm>
            <a:off x="6324600" y="9258300"/>
            <a:ext cx="342900" cy="368300"/>
          </a:xfrm>
          <a:prstGeom prst="rect">
            <a:avLst/>
          </a:prstGeom>
          <a:effectLst/>
        </p:spPr>
        <p:txBody>
          <a:bodyPr/>
          <a:lstStyle>
            <a:lvl1pPr defTabSz="584200">
              <a:defRPr sz="1800">
                <a:solidFill>
                  <a:srgbClr val="000000"/>
                </a:solidFill>
                <a:latin typeface="+mn-lt"/>
                <a:ea typeface="+mn-ea"/>
                <a:cs typeface="+mn-cs"/>
                <a:sym typeface="Gill Sans"/>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94079" y="1608666"/>
            <a:ext cx="11216642" cy="1413935"/>
          </a:xfrm>
          <a:prstGeom prst="rect">
            <a:avLst/>
          </a:prstGeom>
          <a:effectLst/>
        </p:spPr>
        <p:txBody>
          <a:bodyPr lIns="48767" tIns="48767" rIns="48767" bIns="48767">
            <a:normAutofit/>
          </a:bodyPr>
          <a:lstStyle>
            <a:lvl1pPr algn="l" defTabSz="1300480">
              <a:lnSpc>
                <a:spcPct val="90000"/>
              </a:lnSpc>
              <a:defRPr sz="6200">
                <a:solidFill>
                  <a:srgbClr val="000000"/>
                </a:solidFill>
                <a:latin typeface="Calibri Light"/>
                <a:ea typeface="Calibri Light"/>
                <a:cs typeface="Calibri Light"/>
                <a:sym typeface="Calibri Light"/>
              </a:defRPr>
            </a:lvl1pPr>
          </a:lstStyle>
          <a:p>
            <a:r>
              <a:t>Title Text</a:t>
            </a:r>
          </a:p>
        </p:txBody>
      </p:sp>
      <p:sp>
        <p:nvSpPr>
          <p:cNvPr id="84" name="Body Level One…"/>
          <p:cNvSpPr txBox="1">
            <a:spLocks noGrp="1"/>
          </p:cNvSpPr>
          <p:nvPr>
            <p:ph type="body" idx="1"/>
          </p:nvPr>
        </p:nvSpPr>
        <p:spPr>
          <a:xfrm>
            <a:off x="894079" y="3166533"/>
            <a:ext cx="11216642" cy="4641428"/>
          </a:xfrm>
          <a:prstGeom prst="rect">
            <a:avLst/>
          </a:prstGeom>
          <a:effectLst/>
        </p:spPr>
        <p:txBody>
          <a:bodyPr lIns="48767" tIns="48767" rIns="48767" bIns="48767" anchor="t">
            <a:normAutofit/>
          </a:bodyPr>
          <a:lstStyle>
            <a:lvl1pPr marL="310242" indent="-310242" defTabSz="1300480">
              <a:lnSpc>
                <a:spcPct val="90000"/>
              </a:lnSpc>
              <a:spcBef>
                <a:spcPts val="1400"/>
              </a:spcBef>
              <a:buSzPct val="100000"/>
              <a:buFont typeface="Arial"/>
              <a:defRPr>
                <a:solidFill>
                  <a:srgbClr val="000000"/>
                </a:solidFill>
                <a:latin typeface="Calibri"/>
                <a:ea typeface="Calibri"/>
                <a:cs typeface="Calibri"/>
                <a:sym typeface="Calibri"/>
              </a:defRPr>
            </a:lvl1pPr>
            <a:lvl2pPr marL="819150" indent="-361950" defTabSz="1300480">
              <a:lnSpc>
                <a:spcPct val="90000"/>
              </a:lnSpc>
              <a:spcBef>
                <a:spcPts val="1400"/>
              </a:spcBef>
              <a:buSzPct val="100000"/>
              <a:buFont typeface="Arial"/>
              <a:defRPr>
                <a:solidFill>
                  <a:srgbClr val="000000"/>
                </a:solidFill>
                <a:latin typeface="Calibri"/>
                <a:ea typeface="Calibri"/>
                <a:cs typeface="Calibri"/>
                <a:sym typeface="Calibri"/>
              </a:defRPr>
            </a:lvl2pPr>
            <a:lvl3pPr marL="1348739" indent="-434339" defTabSz="1300480">
              <a:lnSpc>
                <a:spcPct val="90000"/>
              </a:lnSpc>
              <a:spcBef>
                <a:spcPts val="1400"/>
              </a:spcBef>
              <a:buSzPct val="100000"/>
              <a:buFont typeface="Arial"/>
              <a:defRPr>
                <a:solidFill>
                  <a:srgbClr val="000000"/>
                </a:solidFill>
                <a:latin typeface="Calibri"/>
                <a:ea typeface="Calibri"/>
                <a:cs typeface="Calibri"/>
                <a:sym typeface="Calibri"/>
              </a:defRPr>
            </a:lvl3pPr>
            <a:lvl4pPr marL="1854200" indent="-482600" defTabSz="1300480">
              <a:lnSpc>
                <a:spcPct val="90000"/>
              </a:lnSpc>
              <a:spcBef>
                <a:spcPts val="1400"/>
              </a:spcBef>
              <a:buSzPct val="100000"/>
              <a:buFont typeface="Arial"/>
              <a:defRPr>
                <a:solidFill>
                  <a:srgbClr val="000000"/>
                </a:solidFill>
                <a:latin typeface="Calibri"/>
                <a:ea typeface="Calibri"/>
                <a:cs typeface="Calibri"/>
                <a:sym typeface="Calibri"/>
              </a:defRPr>
            </a:lvl4pPr>
            <a:lvl5pPr marL="2311400" indent="-482600" defTabSz="1300480">
              <a:lnSpc>
                <a:spcPct val="90000"/>
              </a:lnSpc>
              <a:spcBef>
                <a:spcPts val="1400"/>
              </a:spcBef>
              <a:buSzPct val="100000"/>
              <a:buFont typeface="Arial"/>
              <a:defRPr>
                <a:solidFill>
                  <a:srgbClr val="000000"/>
                </a:solidFill>
                <a:latin typeface="Calibri"/>
                <a:ea typeface="Calibri"/>
                <a:cs typeface="Calibri"/>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xfrm>
            <a:off x="11794506" y="8024622"/>
            <a:ext cx="316215" cy="338837"/>
          </a:xfrm>
          <a:prstGeom prst="rect">
            <a:avLst/>
          </a:prstGeom>
          <a:effectLst/>
        </p:spPr>
        <p:txBody>
          <a:bodyPr lIns="48767" tIns="48767" rIns="48767" bIns="48767" anchor="ctr"/>
          <a:lstStyle>
            <a:lvl1pPr algn="r" defTabSz="1300480">
              <a:defRPr sz="1600">
                <a:solidFill>
                  <a:srgbClr val="888888"/>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sp>
        <p:nvSpPr>
          <p:cNvPr id="92" name="Round Diagonal Corner Rectangle 7"/>
          <p:cNvSpPr/>
          <p:nvPr/>
        </p:nvSpPr>
        <p:spPr>
          <a:xfrm>
            <a:off x="269804" y="269805"/>
            <a:ext cx="12465193" cy="9213992"/>
          </a:xfrm>
          <a:custGeom>
            <a:avLst/>
            <a:gdLst/>
            <a:ahLst/>
            <a:cxnLst>
              <a:cxn ang="0">
                <a:pos x="wd2" y="hd2"/>
              </a:cxn>
              <a:cxn ang="5400000">
                <a:pos x="wd2" y="hd2"/>
              </a:cxn>
              <a:cxn ang="10800000">
                <a:pos x="wd2" y="hd2"/>
              </a:cxn>
              <a:cxn ang="16200000">
                <a:pos x="wd2" y="hd2"/>
              </a:cxn>
            </a:cxnLst>
            <a:rect l="0" t="0" r="r" b="b"/>
            <a:pathLst>
              <a:path w="21600" h="21600" extrusionOk="0">
                <a:moveTo>
                  <a:pt x="1503" y="0"/>
                </a:moveTo>
                <a:lnTo>
                  <a:pt x="21600" y="0"/>
                </a:lnTo>
                <a:lnTo>
                  <a:pt x="21600" y="19566"/>
                </a:lnTo>
                <a:cubicBezTo>
                  <a:pt x="21600" y="20689"/>
                  <a:pt x="20927" y="21600"/>
                  <a:pt x="20097" y="21600"/>
                </a:cubicBezTo>
                <a:lnTo>
                  <a:pt x="0" y="21600"/>
                </a:lnTo>
                <a:lnTo>
                  <a:pt x="0" y="2034"/>
                </a:lnTo>
                <a:cubicBezTo>
                  <a:pt x="0" y="911"/>
                  <a:pt x="673" y="0"/>
                  <a:pt x="1503" y="0"/>
                </a:cubicBezTo>
                <a:close/>
              </a:path>
            </a:pathLst>
          </a:custGeom>
          <a:gradFill>
            <a:gsLst>
              <a:gs pos="17000">
                <a:srgbClr val="38ABED"/>
              </a:gs>
              <a:gs pos="100000">
                <a:srgbClr val="1B3861"/>
              </a:gs>
            </a:gsLst>
            <a:lin ang="5400000"/>
          </a:gradFill>
          <a:ln w="12700">
            <a:miter lim="400000"/>
          </a:ln>
        </p:spPr>
        <p:txBody>
          <a:bodyPr lIns="65023" tIns="65023" rIns="65023" bIns="65023" anchor="ctr"/>
          <a:lstStyle/>
          <a:p>
            <a:pPr defTabSz="650240">
              <a:defRPr sz="2400">
                <a:solidFill>
                  <a:srgbClr val="FFFFFF"/>
                </a:solidFill>
                <a:latin typeface="Trebuchet MS"/>
                <a:ea typeface="Trebuchet MS"/>
                <a:cs typeface="Trebuchet MS"/>
                <a:sym typeface="Trebuchet MS"/>
              </a:defRPr>
            </a:pPr>
            <a:endParaRPr/>
          </a:p>
        </p:txBody>
      </p:sp>
      <p:pic>
        <p:nvPicPr>
          <p:cNvPr id="93" name="Picture 7" descr="Picture 7"/>
          <p:cNvPicPr>
            <a:picLocks noChangeAspect="1"/>
          </p:cNvPicPr>
          <p:nvPr/>
        </p:nvPicPr>
        <p:blipFill>
          <a:blip r:embed="rId2"/>
          <a:stretch>
            <a:fillRect/>
          </a:stretch>
        </p:blipFill>
        <p:spPr>
          <a:xfrm>
            <a:off x="214594" y="265450"/>
            <a:ext cx="12554335" cy="9220405"/>
          </a:xfrm>
          <a:prstGeom prst="rect">
            <a:avLst/>
          </a:prstGeom>
          <a:ln w="12700">
            <a:miter lim="400000"/>
          </a:ln>
        </p:spPr>
      </p:pic>
      <p:sp>
        <p:nvSpPr>
          <p:cNvPr id="94" name="Title Text"/>
          <p:cNvSpPr txBox="1">
            <a:spLocks noGrp="1"/>
          </p:cNvSpPr>
          <p:nvPr>
            <p:ph type="title"/>
          </p:nvPr>
        </p:nvSpPr>
        <p:spPr>
          <a:xfrm>
            <a:off x="1108569" y="541866"/>
            <a:ext cx="10785405" cy="1485353"/>
          </a:xfrm>
          <a:prstGeom prst="rect">
            <a:avLst/>
          </a:prstGeom>
          <a:effectLst>
            <a:outerShdw blurRad="63500" dist="50800" dir="2700000" rotWithShape="0">
              <a:srgbClr val="000000">
                <a:alpha val="40000"/>
              </a:srgbClr>
            </a:outerShdw>
          </a:effectLst>
        </p:spPr>
        <p:txBody>
          <a:bodyPr lIns="65023" tIns="65023" rIns="65023" bIns="65023" anchor="b">
            <a:normAutofit/>
          </a:bodyPr>
          <a:lstStyle>
            <a:lvl1pPr algn="l" defTabSz="1300480">
              <a:defRPr sz="5400">
                <a:solidFill>
                  <a:srgbClr val="FFFFFF"/>
                </a:solidFill>
                <a:latin typeface="Trebuchet MS"/>
                <a:ea typeface="Trebuchet MS"/>
                <a:cs typeface="Trebuchet MS"/>
                <a:sym typeface="Trebuchet MS"/>
              </a:defRPr>
            </a:lvl1pPr>
          </a:lstStyle>
          <a:p>
            <a:r>
              <a:t>Title Text</a:t>
            </a:r>
          </a:p>
        </p:txBody>
      </p:sp>
      <p:sp>
        <p:nvSpPr>
          <p:cNvPr id="95" name="Body Level One…"/>
          <p:cNvSpPr txBox="1">
            <a:spLocks noGrp="1"/>
          </p:cNvSpPr>
          <p:nvPr>
            <p:ph type="body" idx="1"/>
          </p:nvPr>
        </p:nvSpPr>
        <p:spPr>
          <a:xfrm>
            <a:off x="1108569" y="2600960"/>
            <a:ext cx="10785405" cy="5986034"/>
          </a:xfrm>
          <a:prstGeom prst="rect">
            <a:avLst/>
          </a:prstGeom>
          <a:effectLst>
            <a:outerShdw blurRad="63500" dist="50800" dir="2700000" rotWithShape="0">
              <a:srgbClr val="000000">
                <a:alpha val="40000"/>
              </a:srgbClr>
            </a:outerShdw>
          </a:effectLst>
        </p:spPr>
        <p:txBody>
          <a:bodyPr lIns="65023" tIns="65023" rIns="65023" bIns="65023" anchor="t">
            <a:normAutofit/>
          </a:bodyPr>
          <a:lstStyle>
            <a:lvl1pPr marL="385329" indent="-385329" defTabSz="1300480">
              <a:spcBef>
                <a:spcPts val="2800"/>
              </a:spcBef>
              <a:buSzPct val="100000"/>
              <a:buChar char="●"/>
              <a:defRPr sz="3000">
                <a:solidFill>
                  <a:srgbClr val="FFFFFF"/>
                </a:solidFill>
                <a:latin typeface="Trebuchet MS"/>
                <a:ea typeface="Trebuchet MS"/>
                <a:cs typeface="Trebuchet MS"/>
                <a:sym typeface="Trebuchet MS"/>
              </a:defRPr>
            </a:lvl1pPr>
            <a:lvl2pPr marL="725487" indent="-442912" defTabSz="1300480">
              <a:spcBef>
                <a:spcPts val="2800"/>
              </a:spcBef>
              <a:buSzPct val="100000"/>
              <a:buChar char="●"/>
              <a:defRPr sz="3000">
                <a:solidFill>
                  <a:srgbClr val="FFFFFF"/>
                </a:solidFill>
                <a:latin typeface="Trebuchet MS"/>
                <a:ea typeface="Trebuchet MS"/>
                <a:cs typeface="Trebuchet MS"/>
                <a:sym typeface="Trebuchet MS"/>
              </a:defRPr>
            </a:lvl2pPr>
            <a:lvl3pPr marL="1048808" indent="-470958" defTabSz="1300480">
              <a:spcBef>
                <a:spcPts val="2800"/>
              </a:spcBef>
              <a:buSzPct val="100000"/>
              <a:buChar char="●"/>
              <a:defRPr sz="3000">
                <a:solidFill>
                  <a:srgbClr val="FFFFFF"/>
                </a:solidFill>
                <a:latin typeface="Trebuchet MS"/>
                <a:ea typeface="Trebuchet MS"/>
                <a:cs typeface="Trebuchet MS"/>
                <a:sym typeface="Trebuchet MS"/>
              </a:defRPr>
            </a:lvl3pPr>
            <a:lvl4pPr marL="1331383" indent="-470958" defTabSz="1300480">
              <a:spcBef>
                <a:spcPts val="2800"/>
              </a:spcBef>
              <a:buSzPct val="100000"/>
              <a:buChar char="●"/>
              <a:defRPr sz="3000">
                <a:solidFill>
                  <a:srgbClr val="FFFFFF"/>
                </a:solidFill>
                <a:latin typeface="Trebuchet MS"/>
                <a:ea typeface="Trebuchet MS"/>
                <a:cs typeface="Trebuchet MS"/>
                <a:sym typeface="Trebuchet MS"/>
              </a:defRPr>
            </a:lvl4pPr>
            <a:lvl5pPr marL="1613958" indent="-470958" defTabSz="1300480">
              <a:spcBef>
                <a:spcPts val="2800"/>
              </a:spcBef>
              <a:buSzPct val="100000"/>
              <a:buChar char="●"/>
              <a:defRPr sz="3000">
                <a:solidFill>
                  <a:srgbClr val="FFFFFF"/>
                </a:solidFill>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96" name="Slide Number"/>
          <p:cNvSpPr txBox="1">
            <a:spLocks noGrp="1"/>
          </p:cNvSpPr>
          <p:nvPr>
            <p:ph type="sldNum" sz="quarter" idx="2"/>
          </p:nvPr>
        </p:nvSpPr>
        <p:spPr>
          <a:xfrm>
            <a:off x="12298309" y="386340"/>
            <a:ext cx="355871" cy="371349"/>
          </a:xfrm>
          <a:prstGeom prst="rect">
            <a:avLst/>
          </a:prstGeom>
          <a:effectLst/>
        </p:spPr>
        <p:txBody>
          <a:bodyPr lIns="65023" tIns="65023" rIns="65023" bIns="65023" anchor="ctr"/>
          <a:lstStyle>
            <a:lvl1pPr algn="r" defTabSz="650240">
              <a:defRPr sz="1600">
                <a:solidFill>
                  <a:srgbClr val="1B3861"/>
                </a:solidFill>
                <a:latin typeface="Trebuchet MS"/>
                <a:ea typeface="Trebuchet MS"/>
                <a:cs typeface="Trebuchet MS"/>
                <a:sym typeface="Trebuchet MS"/>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efaul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3" name="Slide Number"/>
          <p:cNvSpPr txBox="1">
            <a:spLocks noGrp="1"/>
          </p:cNvSpPr>
          <p:nvPr>
            <p:ph type="sldNum" sz="quarter" idx="2"/>
          </p:nvPr>
        </p:nvSpPr>
        <p:spPr>
          <a:xfrm>
            <a:off x="11632419" y="9179193"/>
            <a:ext cx="397022" cy="389270"/>
          </a:xfrm>
          <a:prstGeom prst="rect">
            <a:avLst/>
          </a:prstGeom>
          <a:effectLst/>
        </p:spPr>
        <p:txBody>
          <a:bodyPr lIns="65023" tIns="65023" rIns="65023" bIns="65023" anchor="b"/>
          <a:lstStyle>
            <a:lvl1pPr algn="r" defTabSz="1300480">
              <a:defRPr sz="1800">
                <a:solidFill>
                  <a:srgbClr val="FFFFFF"/>
                </a:solidFill>
                <a:latin typeface="Arial"/>
                <a:ea typeface="Arial"/>
                <a:cs typeface="Arial"/>
                <a:sym typeface="Arial"/>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Default 0">
    <p:bg>
      <p:bgPr>
        <a:solidFill>
          <a:srgbClr val="FFFFFF"/>
        </a:solidFill>
        <a:effectLst/>
      </p:bgPr>
    </p:bg>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xfrm>
            <a:off x="11320498" y="9297528"/>
            <a:ext cx="492994" cy="481175"/>
          </a:xfrm>
          <a:prstGeom prst="rect">
            <a:avLst/>
          </a:prstGeom>
          <a:effectLst/>
        </p:spPr>
        <p:txBody>
          <a:bodyPr lIns="0" tIns="0" rIns="0" bIns="0"/>
          <a:lstStyle>
            <a:lvl1pPr algn="l" defTabSz="1300480">
              <a:defRPr sz="3400">
                <a:solidFill>
                  <a:srgbClr val="000000"/>
                </a:solidFill>
                <a:latin typeface="Arial"/>
                <a:ea typeface="Arial"/>
                <a:cs typeface="Arial"/>
                <a:sym typeface="Aria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7"/>
          <a:srcRect/>
          <a:stretch>
            <a:fillRect/>
          </a:stretch>
        </a:blip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270000" y="393700"/>
            <a:ext cx="10464800" cy="1981200"/>
          </a:xfrm>
          <a:prstGeom prst="rect">
            <a:avLst/>
          </a:prstGeom>
          <a:ln w="12700">
            <a:miter lim="400000"/>
          </a:ln>
          <a:effectLst>
            <a:outerShdw blurRad="25400" dist="25400" dir="2700000" rotWithShape="0">
              <a:srgbClr val="FFFFFF">
                <a:alpha val="7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Title Text</a:t>
            </a:r>
          </a:p>
        </p:txBody>
      </p:sp>
      <p:sp>
        <p:nvSpPr>
          <p:cNvPr id="3" name="Body Level One…"/>
          <p:cNvSpPr txBox="1">
            <a:spLocks noGrp="1"/>
          </p:cNvSpPr>
          <p:nvPr>
            <p:ph type="body" idx="1"/>
          </p:nvPr>
        </p:nvSpPr>
        <p:spPr>
          <a:xfrm>
            <a:off x="1270000" y="2489200"/>
            <a:ext cx="10464800" cy="6350000"/>
          </a:xfrm>
          <a:prstGeom prst="rect">
            <a:avLst/>
          </a:prstGeom>
          <a:ln w="12700">
            <a:miter lim="400000"/>
          </a:ln>
          <a:effectLst>
            <a:outerShdw blurRad="25400" dist="25400" dir="2700000" rotWithShape="0">
              <a:srgbClr val="FFFFFF">
                <a:alpha val="7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286500" y="9258300"/>
            <a:ext cx="411480" cy="469900"/>
          </a:xfrm>
          <a:prstGeom prst="rect">
            <a:avLst/>
          </a:prstGeom>
          <a:ln w="12700">
            <a:miter lim="400000"/>
          </a:ln>
          <a:effectLst>
            <a:outerShdw blurRad="25400" dist="25400" dir="2700000" rotWithShape="0">
              <a:srgbClr val="FFFFFF">
                <a:alpha val="75000"/>
              </a:srgbClr>
            </a:outerShdw>
          </a:effectLst>
        </p:spPr>
        <p:txBody>
          <a:bodyPr wrap="none" lIns="50800" tIns="50800" rIns="50800" bIns="50800">
            <a:spAutoFit/>
          </a:bodyPr>
          <a:lstStyle>
            <a:lvl1pPr defTabSz="457200">
              <a:defRPr sz="2400">
                <a:solidFill>
                  <a:srgbClr val="56533A"/>
                </a:solidFill>
                <a:latin typeface="Hoefler Text"/>
                <a:ea typeface="Hoefler Text"/>
                <a:cs typeface="Hoefler Text"/>
                <a:sym typeface="Hoefler Tex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Lst>
  <p:transition spd="med"/>
  <p:txStyles>
    <p:titleStyle>
      <a:lvl1pPr marL="0" marR="0" indent="0" algn="ctr" defTabSz="457200" latinLnBrk="0">
        <a:lnSpc>
          <a:spcPct val="100000"/>
        </a:lnSpc>
        <a:spcBef>
          <a:spcPts val="0"/>
        </a:spcBef>
        <a:spcAft>
          <a:spcPts val="0"/>
        </a:spcAft>
        <a:buClrTx/>
        <a:buSzTx/>
        <a:buFontTx/>
        <a:buNone/>
        <a:tabLst/>
        <a:defRPr sz="6400" b="0" i="0" u="none" strike="noStrike" cap="none" spc="0" baseline="0">
          <a:solidFill>
            <a:srgbClr val="56533A"/>
          </a:solidFill>
          <a:uFillTx/>
          <a:latin typeface="Hoefler Text"/>
          <a:ea typeface="Hoefler Text"/>
          <a:cs typeface="Hoefler Text"/>
          <a:sym typeface="Hoefler Text"/>
        </a:defRPr>
      </a:lvl1pPr>
      <a:lvl2pPr marL="0" marR="0" indent="228600" algn="ctr" defTabSz="457200" latinLnBrk="0">
        <a:lnSpc>
          <a:spcPct val="100000"/>
        </a:lnSpc>
        <a:spcBef>
          <a:spcPts val="0"/>
        </a:spcBef>
        <a:spcAft>
          <a:spcPts val="0"/>
        </a:spcAft>
        <a:buClrTx/>
        <a:buSzTx/>
        <a:buFontTx/>
        <a:buNone/>
        <a:tabLst/>
        <a:defRPr sz="6400" b="0" i="0" u="none" strike="noStrike" cap="none" spc="0" baseline="0">
          <a:solidFill>
            <a:srgbClr val="56533A"/>
          </a:solidFill>
          <a:uFillTx/>
          <a:latin typeface="Hoefler Text"/>
          <a:ea typeface="Hoefler Text"/>
          <a:cs typeface="Hoefler Text"/>
          <a:sym typeface="Hoefler Text"/>
        </a:defRPr>
      </a:lvl2pPr>
      <a:lvl3pPr marL="0" marR="0" indent="457200" algn="ctr" defTabSz="457200" latinLnBrk="0">
        <a:lnSpc>
          <a:spcPct val="100000"/>
        </a:lnSpc>
        <a:spcBef>
          <a:spcPts val="0"/>
        </a:spcBef>
        <a:spcAft>
          <a:spcPts val="0"/>
        </a:spcAft>
        <a:buClrTx/>
        <a:buSzTx/>
        <a:buFontTx/>
        <a:buNone/>
        <a:tabLst/>
        <a:defRPr sz="6400" b="0" i="0" u="none" strike="noStrike" cap="none" spc="0" baseline="0">
          <a:solidFill>
            <a:srgbClr val="56533A"/>
          </a:solidFill>
          <a:uFillTx/>
          <a:latin typeface="Hoefler Text"/>
          <a:ea typeface="Hoefler Text"/>
          <a:cs typeface="Hoefler Text"/>
          <a:sym typeface="Hoefler Text"/>
        </a:defRPr>
      </a:lvl3pPr>
      <a:lvl4pPr marL="0" marR="0" indent="685800" algn="ctr" defTabSz="457200" latinLnBrk="0">
        <a:lnSpc>
          <a:spcPct val="100000"/>
        </a:lnSpc>
        <a:spcBef>
          <a:spcPts val="0"/>
        </a:spcBef>
        <a:spcAft>
          <a:spcPts val="0"/>
        </a:spcAft>
        <a:buClrTx/>
        <a:buSzTx/>
        <a:buFontTx/>
        <a:buNone/>
        <a:tabLst/>
        <a:defRPr sz="6400" b="0" i="0" u="none" strike="noStrike" cap="none" spc="0" baseline="0">
          <a:solidFill>
            <a:srgbClr val="56533A"/>
          </a:solidFill>
          <a:uFillTx/>
          <a:latin typeface="Hoefler Text"/>
          <a:ea typeface="Hoefler Text"/>
          <a:cs typeface="Hoefler Text"/>
          <a:sym typeface="Hoefler Text"/>
        </a:defRPr>
      </a:lvl4pPr>
      <a:lvl5pPr marL="0" marR="0" indent="914400" algn="ctr" defTabSz="457200" latinLnBrk="0">
        <a:lnSpc>
          <a:spcPct val="100000"/>
        </a:lnSpc>
        <a:spcBef>
          <a:spcPts val="0"/>
        </a:spcBef>
        <a:spcAft>
          <a:spcPts val="0"/>
        </a:spcAft>
        <a:buClrTx/>
        <a:buSzTx/>
        <a:buFontTx/>
        <a:buNone/>
        <a:tabLst/>
        <a:defRPr sz="6400" b="0" i="0" u="none" strike="noStrike" cap="none" spc="0" baseline="0">
          <a:solidFill>
            <a:srgbClr val="56533A"/>
          </a:solidFill>
          <a:uFillTx/>
          <a:latin typeface="Hoefler Text"/>
          <a:ea typeface="Hoefler Text"/>
          <a:cs typeface="Hoefler Text"/>
          <a:sym typeface="Hoefler Text"/>
        </a:defRPr>
      </a:lvl5pPr>
      <a:lvl6pPr marL="0" marR="0" indent="1143000" algn="ctr" defTabSz="457200" latinLnBrk="0">
        <a:lnSpc>
          <a:spcPct val="100000"/>
        </a:lnSpc>
        <a:spcBef>
          <a:spcPts val="0"/>
        </a:spcBef>
        <a:spcAft>
          <a:spcPts val="0"/>
        </a:spcAft>
        <a:buClrTx/>
        <a:buSzTx/>
        <a:buFontTx/>
        <a:buNone/>
        <a:tabLst/>
        <a:defRPr sz="6400" b="0" i="0" u="none" strike="noStrike" cap="none" spc="0" baseline="0">
          <a:solidFill>
            <a:srgbClr val="56533A"/>
          </a:solidFill>
          <a:uFillTx/>
          <a:latin typeface="Hoefler Text"/>
          <a:ea typeface="Hoefler Text"/>
          <a:cs typeface="Hoefler Text"/>
          <a:sym typeface="Hoefler Text"/>
        </a:defRPr>
      </a:lvl6pPr>
      <a:lvl7pPr marL="0" marR="0" indent="1371600" algn="ctr" defTabSz="457200" latinLnBrk="0">
        <a:lnSpc>
          <a:spcPct val="100000"/>
        </a:lnSpc>
        <a:spcBef>
          <a:spcPts val="0"/>
        </a:spcBef>
        <a:spcAft>
          <a:spcPts val="0"/>
        </a:spcAft>
        <a:buClrTx/>
        <a:buSzTx/>
        <a:buFontTx/>
        <a:buNone/>
        <a:tabLst/>
        <a:defRPr sz="6400" b="0" i="0" u="none" strike="noStrike" cap="none" spc="0" baseline="0">
          <a:solidFill>
            <a:srgbClr val="56533A"/>
          </a:solidFill>
          <a:uFillTx/>
          <a:latin typeface="Hoefler Text"/>
          <a:ea typeface="Hoefler Text"/>
          <a:cs typeface="Hoefler Text"/>
          <a:sym typeface="Hoefler Text"/>
        </a:defRPr>
      </a:lvl7pPr>
      <a:lvl8pPr marL="0" marR="0" indent="1600200" algn="ctr" defTabSz="457200" latinLnBrk="0">
        <a:lnSpc>
          <a:spcPct val="100000"/>
        </a:lnSpc>
        <a:spcBef>
          <a:spcPts val="0"/>
        </a:spcBef>
        <a:spcAft>
          <a:spcPts val="0"/>
        </a:spcAft>
        <a:buClrTx/>
        <a:buSzTx/>
        <a:buFontTx/>
        <a:buNone/>
        <a:tabLst/>
        <a:defRPr sz="6400" b="0" i="0" u="none" strike="noStrike" cap="none" spc="0" baseline="0">
          <a:solidFill>
            <a:srgbClr val="56533A"/>
          </a:solidFill>
          <a:uFillTx/>
          <a:latin typeface="Hoefler Text"/>
          <a:ea typeface="Hoefler Text"/>
          <a:cs typeface="Hoefler Text"/>
          <a:sym typeface="Hoefler Text"/>
        </a:defRPr>
      </a:lvl8pPr>
      <a:lvl9pPr marL="0" marR="0" indent="1828800" algn="ctr" defTabSz="457200" latinLnBrk="0">
        <a:lnSpc>
          <a:spcPct val="100000"/>
        </a:lnSpc>
        <a:spcBef>
          <a:spcPts val="0"/>
        </a:spcBef>
        <a:spcAft>
          <a:spcPts val="0"/>
        </a:spcAft>
        <a:buClrTx/>
        <a:buSzTx/>
        <a:buFontTx/>
        <a:buNone/>
        <a:tabLst/>
        <a:defRPr sz="6400" b="0" i="0" u="none" strike="noStrike" cap="none" spc="0" baseline="0">
          <a:solidFill>
            <a:srgbClr val="56533A"/>
          </a:solidFill>
          <a:uFillTx/>
          <a:latin typeface="Hoefler Text"/>
          <a:ea typeface="Hoefler Text"/>
          <a:cs typeface="Hoefler Text"/>
          <a:sym typeface="Hoefler Text"/>
        </a:defRPr>
      </a:lvl9pPr>
    </p:titleStyle>
    <p:bodyStyle>
      <a:lvl1pPr marL="664649"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1pPr>
      <a:lvl2pPr marL="11768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2pPr>
      <a:lvl3pPr marL="16975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3pPr>
      <a:lvl4pPr marL="22182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4pPr>
      <a:lvl5pPr marL="27389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5pPr>
      <a:lvl6pPr marL="30945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6pPr>
      <a:lvl7pPr marL="34501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7pPr>
      <a:lvl8pPr marL="38057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8pPr>
      <a:lvl9pPr marL="41613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9pPr>
    </p:bodyStyle>
    <p:otherStyle>
      <a:lvl1pPr marL="0" marR="0" indent="0" algn="ctr" defTabSz="4572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oefler Text"/>
        </a:defRPr>
      </a:lvl1pPr>
      <a:lvl2pPr marL="0" marR="0" indent="228600" algn="ctr" defTabSz="4572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oefler Text"/>
        </a:defRPr>
      </a:lvl2pPr>
      <a:lvl3pPr marL="0" marR="0" indent="457200" algn="ctr" defTabSz="4572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oefler Text"/>
        </a:defRPr>
      </a:lvl3pPr>
      <a:lvl4pPr marL="0" marR="0" indent="685800" algn="ctr" defTabSz="4572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oefler Text"/>
        </a:defRPr>
      </a:lvl4pPr>
      <a:lvl5pPr marL="0" marR="0" indent="914400" algn="ctr" defTabSz="4572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oefler Text"/>
        </a:defRPr>
      </a:lvl5pPr>
      <a:lvl6pPr marL="0" marR="0" indent="1143000" algn="ctr" defTabSz="4572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oefler Text"/>
        </a:defRPr>
      </a:lvl6pPr>
      <a:lvl7pPr marL="0" marR="0" indent="1371600" algn="ctr" defTabSz="4572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oefler Text"/>
        </a:defRPr>
      </a:lvl7pPr>
      <a:lvl8pPr marL="0" marR="0" indent="1600200" algn="ctr" defTabSz="4572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oefler Text"/>
        </a:defRPr>
      </a:lvl8pPr>
      <a:lvl9pPr marL="0" marR="0" indent="1828800" algn="ctr" defTabSz="45720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oefler Tex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images.google.com/imgres?imgurl=http://people.brunel.ac.uk/~hsstwmb/Simpson.jpg&amp;imgrefurl=http://people.brunel.ac.uk/~hsstwmb/index2.html&amp;usg=__n_PFN73-hlQ-ZT_T1KYvPsj_xb8=&amp;h=500&amp;w=500&amp;sz=28&amp;hl=en&amp;start=2&amp;um=1&amp;tbnid=hpb4e_H0pzgpIM:&amp;tbnh=130&amp;tbnw=130&amp;prev=/images?q=sewell+wright&amp;um=1&amp;hl=en&amp;rlz=1T4WZPA_enUS316US316" TargetMode="Externa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hemeOverride" Target="../theme/themeOverride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hyperlink" Target="http://images.google.com/imgres?imgurl=http://www.economics.soton.ac.uk/staff/aldrich/fisherguide/Doc1_files/image001.gif&amp;imgrefurl=http://www.economics.soton.ac.uk/staff/aldrich/fisherguide/Doc1.htm&amp;usg=__1330GWwPsp1rcUXAYOSuBAxSY1s=&amp;h=432&amp;w=421&amp;sz=178&amp;hl=en&amp;start=46&amp;um=1&amp;tbnid=rU2OHoYEnQs5XM:&amp;tbnh=126&amp;tbnw=123&amp;prev=/images?q=fisher+the+design+of+experiments&amp;start=36&amp;ndsp=18&amp;um=1&amp;hl=en&amp;rlz=1T4WZPA_enUS316US316&amp;sa=N"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8" Type="http://schemas.openxmlformats.org/officeDocument/2006/relationships/hyperlink" Target="http://images.google.com/imgres?imgurl=http://www.engineer.ucla.edu/magazine/images/JPearl.jpg&amp;imgrefurl=http://www.engineer.ucla.edu/magazine/pearl.html&amp;usg=__cxpR49yvwrixxir6Q6b-7hTkTQQ=&amp;h=299&amp;w=235&amp;sz=50&amp;hl=en&amp;start=2&amp;um=1&amp;tbnid=RI8_xLhaTQePFM:&amp;tbnh=116&amp;tbnw=91&amp;prev=/images?q=judea+pearl&amp;hl=en&amp;rlz=1T4WZPA_enUS316US316&amp;sa=N&amp;um=1" TargetMode="External"/><Relationship Id="rId3" Type="http://schemas.openxmlformats.org/officeDocument/2006/relationships/notesSlide" Target="../notesSlides/notesSlide28.xml"/><Relationship Id="rId7" Type="http://schemas.openxmlformats.org/officeDocument/2006/relationships/image" Target="../media/image22.jpeg"/><Relationship Id="rId2" Type="http://schemas.openxmlformats.org/officeDocument/2006/relationships/slideLayout" Target="../slideLayouts/slideLayout2.xml"/><Relationship Id="rId1" Type="http://schemas.openxmlformats.org/officeDocument/2006/relationships/themeOverride" Target="../theme/themeOverride10.xml"/><Relationship Id="rId6" Type="http://schemas.openxmlformats.org/officeDocument/2006/relationships/hyperlink" Target="http://images.google.com/imgres?imgurl=http://www.statlit.org/images/2007RubinDonaldISI.jpg&amp;imgrefurl=http://www.statlit.org/StatLit2007.htm&amp;usg=__l-qHINFNHslv-gS9oN1VXu0rjiI=&amp;h=145&amp;w=100&amp;sz=16&amp;hl=en&amp;start=2&amp;um=1&amp;tbnid=PXSZ3Mu3vbnTpM:&amp;tbnh=95&amp;tbnw=66&amp;prev=/images?q=donald+rubin&amp;hl=en&amp;rlz=1T4WZPA_enUS316US316&amp;sa=N&amp;um=1" TargetMode="External"/><Relationship Id="rId5" Type="http://schemas.openxmlformats.org/officeDocument/2006/relationships/image" Target="../media/image21.jpeg"/><Relationship Id="rId4" Type="http://schemas.openxmlformats.org/officeDocument/2006/relationships/hyperlink" Target="http://www.stat.tamu.edu/events/hartleylect/TerrySpeed2.jpg" TargetMode="External"/><Relationship Id="rId9" Type="http://schemas.openxmlformats.org/officeDocument/2006/relationships/image" Target="../media/image23.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5.ti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64.xml.rels><?xml version="1.0" encoding="UTF-8" standalone="yes"?>
<Relationships xmlns="http://schemas.openxmlformats.org/package/2006/relationships"><Relationship Id="rId3" Type="http://schemas.openxmlformats.org/officeDocument/2006/relationships/hyperlink" Target="http://images.google.com/imgres?imgurl=http://www.york.ac.uk/depts/maths/histstat/people/spearman.gif&amp;imgrefurl=http://www.york.ac.uk/depts/maths/histstat/spearman_biog.htm&amp;usg=__hQEYQmdelJo1HfpDpeKsI1qSrf4=&amp;h=606&amp;w=582&amp;sz=154&amp;hl=en&amp;start=5&amp;um=1&amp;tbnid=hlepFAuOvy6a4M:&amp;tbnh=136&amp;tbnw=131&amp;prev=/images?q=spearman+psychology&amp;um=1&amp;hl=en&amp;rlz=1T4WZPA_enUS316US316&amp;sa=N" TargetMode="External"/><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4.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hemeOverride" Target="../theme/themeOverride11.xml"/><Relationship Id="rId6" Type="http://schemas.openxmlformats.org/officeDocument/2006/relationships/image" Target="../media/image36.png"/><Relationship Id="rId5" Type="http://schemas.openxmlformats.org/officeDocument/2006/relationships/image" Target="../media/image35.emf"/><Relationship Id="rId4" Type="http://schemas.openxmlformats.org/officeDocument/2006/relationships/oleObject" Target="../embeddings/oleObject1.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hemeOverride" Target="../theme/themeOverride12.xml"/><Relationship Id="rId4" Type="http://schemas.openxmlformats.org/officeDocument/2006/relationships/image" Target="../media/image37.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hyperlink" Target="https://en.wikipedia.org/wiki/Ronald_Fisher" TargetMode="External"/><Relationship Id="rId2" Type="http://schemas.openxmlformats.org/officeDocument/2006/relationships/slideLayout" Target="../slideLayouts/slideLayout2.xml"/><Relationship Id="rId1" Type="http://schemas.openxmlformats.org/officeDocument/2006/relationships/themeOverride" Target="../theme/themeOverride14.xml"/><Relationship Id="rId5" Type="http://schemas.openxmlformats.org/officeDocument/2006/relationships/hyperlink" Target="https://en.wikipedia.org/wiki/Annals_of_Eugenics" TargetMode="External"/><Relationship Id="rId4" Type="http://schemas.openxmlformats.org/officeDocument/2006/relationships/hyperlink" Target="https://digital.library.adelaide.edu.au/dspace/bitstream/2440/15227/1/138.pdf" TargetMode="Externa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eter Spirtes"/>
          <p:cNvSpPr txBox="1"/>
          <p:nvPr/>
        </p:nvSpPr>
        <p:spPr>
          <a:xfrm>
            <a:off x="5128045" y="4940300"/>
            <a:ext cx="3121243" cy="787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lvl="2" indent="0">
              <a:lnSpc>
                <a:spcPct val="70000"/>
              </a:lnSpc>
              <a:spcBef>
                <a:spcPts val="3300"/>
              </a:spcBef>
              <a:defRPr sz="4700">
                <a:solidFill>
                  <a:srgbClr val="232323"/>
                </a:solidFill>
                <a:latin typeface="Baskerville"/>
                <a:ea typeface="Baskerville"/>
                <a:cs typeface="Baskerville"/>
                <a:sym typeface="Baskerville"/>
              </a:defRPr>
            </a:pPr>
            <a:r>
              <a:rPr dirty="0"/>
              <a:t>Peter </a:t>
            </a:r>
            <a:r>
              <a:rPr dirty="0" err="1"/>
              <a:t>Spirtes</a:t>
            </a:r>
            <a:endParaRPr dirty="0"/>
          </a:p>
        </p:txBody>
      </p:sp>
      <p:sp>
        <p:nvSpPr>
          <p:cNvPr id="120" name="Learning Causality from Sample Data"/>
          <p:cNvSpPr txBox="1"/>
          <p:nvPr/>
        </p:nvSpPr>
        <p:spPr>
          <a:xfrm>
            <a:off x="838512" y="791521"/>
            <a:ext cx="11221576" cy="3792193"/>
          </a:xfrm>
          <a:prstGeom prst="rect">
            <a:avLst/>
          </a:prstGeom>
          <a:ln w="12700">
            <a:miter lim="400000"/>
          </a:ln>
          <a:effectLst>
            <a:outerShdw blurRad="25400" dist="25400" dir="2700000" rotWithShape="0">
              <a:srgbClr val="FFFFFF">
                <a:alpha val="7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a:lnSpc>
                <a:spcPct val="110000"/>
              </a:lnSpc>
              <a:defRPr sz="6000">
                <a:latin typeface="Hoefler Text"/>
                <a:ea typeface="Hoefler Text"/>
                <a:cs typeface="Hoefler Text"/>
                <a:sym typeface="Hoefler Text"/>
              </a:defRPr>
            </a:lvl1pPr>
          </a:lstStyle>
          <a:p>
            <a:endParaRPr dirty="0"/>
          </a:p>
        </p:txBody>
      </p:sp>
      <p:sp>
        <p:nvSpPr>
          <p:cNvPr id="5" name="Text Placeholder 4">
            <a:extLst>
              <a:ext uri="{FF2B5EF4-FFF2-40B4-BE49-F238E27FC236}">
                <a16:creationId xmlns:a16="http://schemas.microsoft.com/office/drawing/2014/main" id="{47CC4A2D-97E0-9A41-A77D-B656F9F512D4}"/>
              </a:ext>
            </a:extLst>
          </p:cNvPr>
          <p:cNvSpPr>
            <a:spLocks noGrp="1"/>
          </p:cNvSpPr>
          <p:nvPr>
            <p:ph type="body" idx="1"/>
          </p:nvPr>
        </p:nvSpPr>
        <p:spPr>
          <a:xfrm>
            <a:off x="1216900" y="421640"/>
            <a:ext cx="10464800" cy="5715000"/>
          </a:xfrm>
        </p:spPr>
        <p:txBody>
          <a:bodyPr/>
          <a:lstStyle/>
          <a:p>
            <a:pPr marL="0" lvl="2" indent="0" algn="ctr" rtl="0" hangingPunct="0">
              <a:lnSpc>
                <a:spcPct val="70000"/>
              </a:lnSpc>
              <a:spcBef>
                <a:spcPts val="3300"/>
              </a:spcBef>
              <a:buSzTx/>
              <a:buNone/>
              <a:defRPr sz="4700">
                <a:solidFill>
                  <a:srgbClr val="232323"/>
                </a:solidFill>
                <a:latin typeface="Baskerville"/>
                <a:ea typeface="Baskerville"/>
                <a:cs typeface="Baskerville"/>
                <a:sym typeface="Baskerville"/>
              </a:defRPr>
            </a:pPr>
            <a:r>
              <a:rPr lang="en-US" sz="6000" dirty="0">
                <a:solidFill>
                  <a:srgbClr val="232323"/>
                </a:solidFill>
                <a:latin typeface="Baskerville"/>
                <a:ea typeface="Baskerville"/>
              </a:rPr>
              <a:t>Modern History of Causal Inference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EF4EB8E2-7A06-8795-89A2-1E63CB100093}"/>
              </a:ext>
            </a:extLst>
          </p:cNvPr>
          <p:cNvSpPr>
            <a:spLocks noGrp="1" noChangeArrowheads="1"/>
          </p:cNvSpPr>
          <p:nvPr>
            <p:ph type="title"/>
          </p:nvPr>
        </p:nvSpPr>
        <p:spPr/>
        <p:txBody>
          <a:bodyPr/>
          <a:lstStyle/>
          <a:p>
            <a:pPr eaLnBrk="1" hangingPunct="1">
              <a:defRPr/>
            </a:pPr>
            <a:r>
              <a:rPr lang="en-US" altLang="x-none">
                <a:latin typeface="Times New Roman" panose="02020603050405020304" pitchFamily="18" charset="0"/>
                <a:ea typeface="ＭＳ Ｐゴシック" charset="-128"/>
                <a:cs typeface="Times New Roman" panose="02020603050405020304" pitchFamily="18" charset="0"/>
              </a:rPr>
              <a:t>Aristotle on Causes</a:t>
            </a:r>
          </a:p>
        </p:txBody>
      </p:sp>
      <p:sp>
        <p:nvSpPr>
          <p:cNvPr id="15362" name="Rectangle 3">
            <a:extLst>
              <a:ext uri="{FF2B5EF4-FFF2-40B4-BE49-F238E27FC236}">
                <a16:creationId xmlns:a16="http://schemas.microsoft.com/office/drawing/2014/main" id="{BD39B90F-8191-38AA-B0BB-E08468FB2BBA}"/>
              </a:ext>
            </a:extLst>
          </p:cNvPr>
          <p:cNvSpPr>
            <a:spLocks noGrp="1" noChangeArrowheads="1"/>
          </p:cNvSpPr>
          <p:nvPr>
            <p:ph type="body" idx="1"/>
          </p:nvPr>
        </p:nvSpPr>
        <p:spPr>
          <a:xfrm>
            <a:off x="894079" y="3022601"/>
            <a:ext cx="11081173" cy="58521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lnSpc>
                <a:spcPct val="90000"/>
              </a:lnSpc>
            </a:pPr>
            <a:r>
              <a:rPr lang="en-US" altLang="en-US">
                <a:effectLst/>
                <a:latin typeface="Times New Roman" panose="02020603050405020304" pitchFamily="18" charset="0"/>
                <a:ea typeface="ＭＳ Ｐゴシック" panose="020B0600070205080204" pitchFamily="34" charset="-128"/>
                <a:cs typeface="Times New Roman" panose="02020603050405020304" pitchFamily="18" charset="0"/>
              </a:rPr>
              <a:t>“Aiton” has no exact translation into English</a:t>
            </a:r>
          </a:p>
          <a:p>
            <a:pPr eaLnBrk="1" hangingPunct="1">
              <a:lnSpc>
                <a:spcPct val="90000"/>
              </a:lnSpc>
            </a:pPr>
            <a:r>
              <a:rPr lang="en-US" altLang="en-US">
                <a:effectLst/>
                <a:latin typeface="Times New Roman" panose="02020603050405020304" pitchFamily="18" charset="0"/>
                <a:ea typeface="ＭＳ Ｐゴシック" panose="020B0600070205080204" pitchFamily="34" charset="-128"/>
                <a:cs typeface="Times New Roman" panose="02020603050405020304" pitchFamily="18" charset="0"/>
              </a:rPr>
              <a:t>“Aiton” is often translated as “cause”; could also be translated as “explanation” or “makes”</a:t>
            </a:r>
          </a:p>
          <a:p>
            <a:pPr eaLnBrk="1" hangingPunct="1">
              <a:lnSpc>
                <a:spcPct val="90000"/>
              </a:lnSpc>
            </a:pPr>
            <a:r>
              <a:rPr lang="en-US" altLang="en-US">
                <a:effectLst/>
                <a:latin typeface="Times New Roman" panose="02020603050405020304" pitchFamily="18" charset="0"/>
                <a:ea typeface="ＭＳ Ｐゴシック" panose="020B0600070205080204" pitchFamily="34" charset="-128"/>
                <a:cs typeface="Times New Roman" panose="02020603050405020304" pitchFamily="18" charset="0"/>
              </a:rPr>
              <a:t>Causes are answers to “why” questions</a:t>
            </a:r>
          </a:p>
          <a:p>
            <a:pPr eaLnBrk="1" hangingPunct="1">
              <a:lnSpc>
                <a:spcPct val="90000"/>
              </a:lnSpc>
            </a:pPr>
            <a:endParaRPr lang="en-US" altLang="en-US">
              <a:effectLst/>
              <a:ea typeface="ＭＳ Ｐゴシック" panose="020B0600070205080204" pitchFamily="34" charset="-128"/>
            </a:endParaRPr>
          </a:p>
          <a:p>
            <a:pPr eaLnBrk="1" hangingPunct="1">
              <a:lnSpc>
                <a:spcPct val="90000"/>
              </a:lnSpc>
            </a:pPr>
            <a:endParaRPr lang="en-US" altLang="en-US">
              <a:effectLst/>
              <a:ea typeface="ＭＳ Ｐゴシック" panose="020B0600070205080204" pitchFamily="34" charset="-128"/>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C6633578-76ED-1181-184E-4B5A7D227E90}"/>
              </a:ext>
            </a:extLst>
          </p:cNvPr>
          <p:cNvSpPr>
            <a:spLocks noGrp="1" noChangeArrowheads="1"/>
          </p:cNvSpPr>
          <p:nvPr>
            <p:ph type="title"/>
          </p:nvPr>
        </p:nvSpPr>
        <p:spPr/>
        <p:txBody>
          <a:bodyPr/>
          <a:lstStyle/>
          <a:p>
            <a:pPr eaLnBrk="1" hangingPunct="1">
              <a:defRPr/>
            </a:pPr>
            <a:r>
              <a:rPr lang="en-US" altLang="x-none">
                <a:latin typeface="Times New Roman" panose="02020603050405020304" pitchFamily="18" charset="0"/>
                <a:ea typeface="ＭＳ Ｐゴシック" charset="-128"/>
                <a:cs typeface="Times New Roman" panose="02020603050405020304" pitchFamily="18" charset="0"/>
              </a:rPr>
              <a:t>Aristotle on Causes</a:t>
            </a:r>
          </a:p>
        </p:txBody>
      </p:sp>
      <p:sp>
        <p:nvSpPr>
          <p:cNvPr id="16386" name="Rectangle 3">
            <a:extLst>
              <a:ext uri="{FF2B5EF4-FFF2-40B4-BE49-F238E27FC236}">
                <a16:creationId xmlns:a16="http://schemas.microsoft.com/office/drawing/2014/main" id="{CFC51379-B7E6-E623-E738-BBEB5678711D}"/>
              </a:ext>
            </a:extLst>
          </p:cNvPr>
          <p:cNvSpPr>
            <a:spLocks noGrp="1" noChangeArrowheads="1"/>
          </p:cNvSpPr>
          <p:nvPr>
            <p:ph type="body" idx="1"/>
          </p:nvPr>
        </p:nvSpPr>
        <p:spPr>
          <a:xfrm>
            <a:off x="975360" y="2817707"/>
            <a:ext cx="11081173" cy="58521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en-US" altLang="en-US" sz="3413">
                <a:ea typeface="ＭＳ Ｐゴシック" panose="020B0600070205080204" pitchFamily="34" charset="-128"/>
              </a:rPr>
              <a:t> </a:t>
            </a:r>
            <a:r>
              <a:rPr lang="en-US" altLang="en-US" sz="3413">
                <a:latin typeface="Times New Roman" panose="02020603050405020304" pitchFamily="18" charset="0"/>
                <a:ea typeface="ＭＳ Ｐゴシック" panose="020B0600070205080204" pitchFamily="34" charset="-128"/>
                <a:cs typeface="Times New Roman" panose="02020603050405020304" pitchFamily="18" charset="0"/>
              </a:rPr>
              <a:t>Material cause: “that from which, &lt;as a constituent&gt; present in it, a thing comes to be … e.g., the bronze and silver, and their genera, are causes of the statue and the bowl.”</a:t>
            </a:r>
          </a:p>
          <a:p>
            <a:pPr eaLnBrk="1" hangingPunct="1"/>
            <a:r>
              <a:rPr lang="en-US" altLang="en-US" sz="3413">
                <a:latin typeface="Times New Roman" panose="02020603050405020304" pitchFamily="18" charset="0"/>
                <a:ea typeface="ＭＳ Ｐゴシック" panose="020B0600070205080204" pitchFamily="34" charset="-128"/>
                <a:cs typeface="Times New Roman" panose="02020603050405020304" pitchFamily="18" charset="0"/>
              </a:rPr>
              <a:t> Formal cause: “the form, i.e., the pattern … the form is the account of the essence … and the parts of the account.”</a:t>
            </a:r>
          </a:p>
          <a:p>
            <a:pPr eaLnBrk="1" hangingPunct="1">
              <a:buFont typeface="Monotype Sorts" pitchFamily="2" charset="2"/>
              <a:buNone/>
            </a:pPr>
            <a:endParaRPr lang="en-US" altLang="en-US" sz="3413">
              <a:ea typeface="ＭＳ Ｐゴシック" panose="020B0600070205080204" pitchFamily="34" charset="-128"/>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21D7DF57-1B9F-C4D7-E390-5638FC770772}"/>
              </a:ext>
            </a:extLst>
          </p:cNvPr>
          <p:cNvSpPr>
            <a:spLocks noGrp="1" noChangeArrowheads="1"/>
          </p:cNvSpPr>
          <p:nvPr>
            <p:ph type="title"/>
          </p:nvPr>
        </p:nvSpPr>
        <p:spPr/>
        <p:txBody>
          <a:bodyPr/>
          <a:lstStyle/>
          <a:p>
            <a:pPr eaLnBrk="1" hangingPunct="1">
              <a:defRPr/>
            </a:pPr>
            <a:r>
              <a:rPr lang="en-US" altLang="x-none">
                <a:latin typeface="Times New Roman" panose="02020603050405020304" pitchFamily="18" charset="0"/>
                <a:ea typeface="ＭＳ Ｐゴシック" charset="-128"/>
                <a:cs typeface="Times New Roman" panose="02020603050405020304" pitchFamily="18" charset="0"/>
              </a:rPr>
              <a:t>Aristotle on Causes</a:t>
            </a:r>
          </a:p>
        </p:txBody>
      </p:sp>
      <p:sp>
        <p:nvSpPr>
          <p:cNvPr id="17410" name="Rectangle 3">
            <a:extLst>
              <a:ext uri="{FF2B5EF4-FFF2-40B4-BE49-F238E27FC236}">
                <a16:creationId xmlns:a16="http://schemas.microsoft.com/office/drawing/2014/main" id="{C7FC4BD4-7D86-739D-6DBE-62B07E32A9F2}"/>
              </a:ext>
            </a:extLst>
          </p:cNvPr>
          <p:cNvSpPr>
            <a:spLocks noGrp="1" noChangeArrowheads="1"/>
          </p:cNvSpPr>
          <p:nvPr>
            <p:ph type="body" idx="1"/>
          </p:nvPr>
        </p:nvSpPr>
        <p:spPr>
          <a:xfrm>
            <a:off x="975360" y="2817707"/>
            <a:ext cx="11081173" cy="58521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lnSpc>
                <a:spcPct val="90000"/>
              </a:lnSpc>
            </a:pPr>
            <a:r>
              <a:rPr lang="en-US" altLang="en-US" sz="3982">
                <a:latin typeface="Times New Roman" panose="02020603050405020304" pitchFamily="18" charset="0"/>
                <a:ea typeface="ＭＳ Ｐゴシック" panose="020B0600070205080204" pitchFamily="34" charset="-128"/>
                <a:cs typeface="Times New Roman" panose="02020603050405020304" pitchFamily="18" charset="0"/>
              </a:rPr>
              <a:t>Efficient cause: “the source of the primary principle of change or stability,” e.g., the man who gives advice, the father (of the child). “The producer is a cause of the product, and the initiator of the change is a cause of what is changed.”</a:t>
            </a:r>
          </a:p>
          <a:p>
            <a:pPr eaLnBrk="1" hangingPunct="1">
              <a:lnSpc>
                <a:spcPct val="90000"/>
              </a:lnSpc>
            </a:pPr>
            <a:r>
              <a:rPr lang="en-US" altLang="en-US" sz="3982">
                <a:latin typeface="Times New Roman" panose="02020603050405020304" pitchFamily="18" charset="0"/>
                <a:ea typeface="ＭＳ Ｐゴシック" panose="020B0600070205080204" pitchFamily="34" charset="-128"/>
                <a:cs typeface="Times New Roman" panose="02020603050405020304" pitchFamily="18" charset="0"/>
              </a:rPr>
              <a:t>Final cause: “something’s end (telos)—i.e., what it is for—is its cause, as health is &lt;the cause&gt; of walking.” </a:t>
            </a:r>
          </a:p>
          <a:p>
            <a:pPr algn="ctr" eaLnBrk="1" hangingPunct="1">
              <a:lnSpc>
                <a:spcPct val="90000"/>
              </a:lnSpc>
            </a:pPr>
            <a:endParaRPr lang="en-US" altLang="en-US" sz="3413">
              <a:ea typeface="ＭＳ Ｐゴシック" panose="020B0600070205080204" pitchFamily="34" charset="-128"/>
            </a:endParaRPr>
          </a:p>
          <a:p>
            <a:pPr eaLnBrk="1" hangingPunct="1">
              <a:lnSpc>
                <a:spcPct val="90000"/>
              </a:lnSpc>
              <a:buFont typeface="Monotype Sorts" pitchFamily="2" charset="2"/>
              <a:buNone/>
            </a:pPr>
            <a:endParaRPr lang="en-US" altLang="en-US" sz="3413">
              <a:ea typeface="ＭＳ Ｐゴシック" panose="020B0600070205080204" pitchFamily="34" charset="-128"/>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3564FC7-5720-E65F-9A6F-79E27C74B52D}"/>
              </a:ext>
            </a:extLst>
          </p:cNvPr>
          <p:cNvSpPr>
            <a:spLocks noGrp="1" noChangeArrowheads="1"/>
          </p:cNvSpPr>
          <p:nvPr>
            <p:ph type="title"/>
          </p:nvPr>
        </p:nvSpPr>
        <p:spPr>
          <a:xfrm>
            <a:off x="735971" y="439084"/>
            <a:ext cx="11216642" cy="1413935"/>
          </a:xfrm>
        </p:spPr>
        <p:txBody>
          <a:bodyPr>
            <a:normAutofit/>
          </a:bodyPr>
          <a:lstStyle/>
          <a:p>
            <a:pPr eaLnBrk="1" hangingPunct="1">
              <a:defRPr/>
            </a:pPr>
            <a:r>
              <a:rPr lang="en-US" altLang="en-US" sz="5689">
                <a:latin typeface="Times New Roman" panose="02020603050405020304" pitchFamily="18" charset="0"/>
                <a:ea typeface="ＭＳ Ｐゴシック" panose="020B0600070205080204" pitchFamily="34" charset="-128"/>
                <a:cs typeface="Times New Roman" panose="02020603050405020304" pitchFamily="18" charset="0"/>
              </a:rPr>
              <a:t>The Scientific Revolution</a:t>
            </a:r>
          </a:p>
        </p:txBody>
      </p:sp>
      <p:sp>
        <p:nvSpPr>
          <p:cNvPr id="41987" name="Rectangle 3">
            <a:extLst>
              <a:ext uri="{FF2B5EF4-FFF2-40B4-BE49-F238E27FC236}">
                <a16:creationId xmlns:a16="http://schemas.microsoft.com/office/drawing/2014/main" id="{CEBE0F9C-818D-6592-2375-51070572DD4E}"/>
              </a:ext>
            </a:extLst>
          </p:cNvPr>
          <p:cNvSpPr>
            <a:spLocks noGrp="1" noChangeArrowheads="1"/>
          </p:cNvSpPr>
          <p:nvPr>
            <p:ph type="body" idx="1"/>
          </p:nvPr>
        </p:nvSpPr>
        <p:spPr>
          <a:xfrm>
            <a:off x="212651" y="2101623"/>
            <a:ext cx="13004800" cy="7694507"/>
          </a:xfrm>
        </p:spPr>
        <p:txBody>
          <a:bodyPr>
            <a:normAutofit/>
          </a:bodyPr>
          <a:lstStyle/>
          <a:p>
            <a:pPr eaLnBrk="1" hangingPunct="1">
              <a:lnSpc>
                <a:spcPct val="80000"/>
              </a:lnSpc>
              <a:buFont typeface="Arial" panose="020B0604020202020204" pitchFamily="34" charset="0"/>
              <a:buChar char="•"/>
              <a:defRPr/>
            </a:pPr>
            <a:r>
              <a:rPr lang="en-US" altLang="en-US" sz="4400">
                <a:latin typeface="Times New Roman" panose="02020603050405020304" pitchFamily="18" charset="0"/>
                <a:ea typeface="ＭＳ Ｐゴシック" panose="020B0600070205080204" pitchFamily="34" charset="-128"/>
                <a:cs typeface="Times New Roman" panose="02020603050405020304" pitchFamily="18" charset="0"/>
              </a:rPr>
              <a:t>Advances in physics, celestial dynamics, optics, chemistry</a:t>
            </a:r>
          </a:p>
          <a:p>
            <a:pPr eaLnBrk="1" hangingPunct="1">
              <a:lnSpc>
                <a:spcPct val="80000"/>
              </a:lnSpc>
              <a:buFont typeface="Arial" panose="020B0604020202020204" pitchFamily="34" charset="0"/>
              <a:buChar char="•"/>
              <a:defRPr/>
            </a:pPr>
            <a:r>
              <a:rPr lang="en-US" altLang="en-US" sz="4400">
                <a:latin typeface="Times New Roman" panose="02020603050405020304" pitchFamily="18" charset="0"/>
                <a:ea typeface="ＭＳ Ｐゴシック" panose="020B0600070205080204" pitchFamily="34" charset="-128"/>
                <a:cs typeface="Times New Roman" panose="02020603050405020304" pitchFamily="18" charset="0"/>
              </a:rPr>
              <a:t>Applied mathematics: analytic geometry, calculus, combinatorics</a:t>
            </a:r>
          </a:p>
          <a:p>
            <a:pPr eaLnBrk="1" hangingPunct="1">
              <a:lnSpc>
                <a:spcPct val="80000"/>
              </a:lnSpc>
              <a:buFont typeface="Arial" panose="020B0604020202020204" pitchFamily="34" charset="0"/>
              <a:buChar char="•"/>
              <a:defRPr/>
            </a:pPr>
            <a:r>
              <a:rPr lang="en-US" altLang="en-US" sz="4400">
                <a:latin typeface="Times New Roman" panose="02020603050405020304" pitchFamily="18" charset="0"/>
                <a:ea typeface="ＭＳ Ｐゴシック" panose="020B0600070205080204" pitchFamily="34" charset="-128"/>
                <a:cs typeface="Times New Roman" panose="02020603050405020304" pitchFamily="18" charset="0"/>
              </a:rPr>
              <a:t>Mechanistic, atomistic qualitative explanations</a:t>
            </a:r>
          </a:p>
          <a:p>
            <a:pPr>
              <a:lnSpc>
                <a:spcPct val="80000"/>
              </a:lnSpc>
              <a:buFont typeface="Arial" panose="020B0604020202020204" pitchFamily="34" charset="0"/>
              <a:buChar char="•"/>
              <a:defRPr/>
            </a:pPr>
            <a:r>
              <a:rPr lang="en-US" altLang="en-US" sz="4400">
                <a:latin typeface="Times New Roman" panose="02020603050405020304" pitchFamily="18" charset="0"/>
                <a:ea typeface="ＭＳ Ｐゴシック" panose="020B0600070205080204" pitchFamily="34" charset="-128"/>
                <a:cs typeface="Times New Roman" panose="02020603050405020304" pitchFamily="18" charset="0"/>
              </a:rPr>
              <a:t>The idea that the mechanisms and “hidden springs” of nature can be discovered by experimental manipulations.</a:t>
            </a:r>
          </a:p>
          <a:p>
            <a:pPr eaLnBrk="1" hangingPunct="1">
              <a:lnSpc>
                <a:spcPct val="80000"/>
              </a:lnSpc>
              <a:buFont typeface="Arial" panose="020B0604020202020204" pitchFamily="34" charset="0"/>
              <a:buChar char="•"/>
              <a:defRPr/>
            </a:pPr>
            <a:r>
              <a:rPr lang="en-US" altLang="en-US" sz="4400">
                <a:latin typeface="Times New Roman" panose="02020603050405020304" pitchFamily="18" charset="0"/>
                <a:ea typeface="ＭＳ Ｐゴシック" panose="020B0600070205080204" pitchFamily="34" charset="-128"/>
                <a:cs typeface="Times New Roman" panose="02020603050405020304" pitchFamily="18" charset="0"/>
              </a:rPr>
              <a:t>Search for a method of search—a method, or methods, of scientific discovery</a:t>
            </a:r>
          </a:p>
          <a:p>
            <a:pPr eaLnBrk="1" hangingPunct="1">
              <a:lnSpc>
                <a:spcPct val="80000"/>
              </a:lnSpc>
              <a:buFont typeface="Wingdings" pitchFamily="2" charset="2"/>
              <a:buNone/>
              <a:defRPr/>
            </a:pPr>
            <a:r>
              <a:rPr lang="en-US" altLang="en-US" sz="4400">
                <a:latin typeface="Times New Roman" panose="02020603050405020304" pitchFamily="18" charset="0"/>
                <a:ea typeface="ＭＳ Ｐゴシック" panose="020B0600070205080204" pitchFamily="34" charset="-128"/>
                <a:cs typeface="Times New Roman" panose="02020603050405020304" pitchFamily="18" charset="0"/>
              </a:rPr>
              <a:t>	</a:t>
            </a:r>
          </a:p>
        </p:txBody>
      </p:sp>
      <p:sp>
        <p:nvSpPr>
          <p:cNvPr id="6" name="Slide Number Placeholder 5">
            <a:extLst>
              <a:ext uri="{FF2B5EF4-FFF2-40B4-BE49-F238E27FC236}">
                <a16:creationId xmlns:a16="http://schemas.microsoft.com/office/drawing/2014/main" id="{323C68CA-A14E-A5D6-37E1-68478CD0750A}"/>
              </a:ext>
            </a:extLst>
          </p:cNvPr>
          <p:cNvSpPr>
            <a:spLocks noGrp="1"/>
          </p:cNvSpPr>
          <p:nvPr>
            <p:ph type="sldNum" sz="quarter" idx="2"/>
          </p:nvPr>
        </p:nvSpPr>
        <p:spPr bwMode="auto">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9pPr>
          </a:lstStyle>
          <a:p>
            <a:fld id="{C39055CE-FDED-C348-B56D-16D5F985263C}" type="slidenum">
              <a:rPr lang="en-US" altLang="en-US"/>
              <a:pPr/>
              <a:t>5</a:t>
            </a:fld>
            <a:endParaRPr lang="en-US" altLang="en-US">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0163" y="758061"/>
            <a:ext cx="11216642" cy="1413935"/>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Newton’s Rules of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Reasoning</a:t>
            </a:r>
          </a:p>
        </p:txBody>
      </p:sp>
      <p:sp>
        <p:nvSpPr>
          <p:cNvPr id="3" name="Content Placeholder 2"/>
          <p:cNvSpPr>
            <a:spLocks noGrp="1"/>
          </p:cNvSpPr>
          <p:nvPr>
            <p:ph type="body" idx="1"/>
          </p:nvPr>
        </p:nvSpPr>
        <p:spPr>
          <a:xfrm>
            <a:off x="894079" y="3166532"/>
            <a:ext cx="11625552" cy="6317709"/>
          </a:xfrm>
        </p:spPr>
        <p:txBody>
          <a:bodyPr>
            <a:normAutofit fontScale="77500" lnSpcReduction="20000"/>
          </a:bodyPr>
          <a:lstStyle/>
          <a:p>
            <a:pPr marL="514350" indent="-514350">
              <a:buFont typeface="+mj-lt"/>
              <a:buAutoNum type="arabicPeriod"/>
            </a:pPr>
            <a:r>
              <a:rPr lang="en-US" sz="4500" dirty="0">
                <a:latin typeface="Times New Roman" panose="02020603050405020304" pitchFamily="18" charset="0"/>
                <a:cs typeface="Times New Roman" panose="02020603050405020304" pitchFamily="18" charset="0"/>
              </a:rPr>
              <a:t>No more causes of natural things should be admitted than are both true and sufficient to explain their phenomena.</a:t>
            </a:r>
          </a:p>
          <a:p>
            <a:pPr marL="514350" indent="-514350">
              <a:buFont typeface="+mj-lt"/>
              <a:buAutoNum type="arabicPeriod"/>
            </a:pPr>
            <a:r>
              <a:rPr lang="en-US" sz="4500" dirty="0">
                <a:latin typeface="Times New Roman" panose="02020603050405020304" pitchFamily="18" charset="0"/>
                <a:cs typeface="Times New Roman" panose="02020603050405020304" pitchFamily="18" charset="0"/>
              </a:rPr>
              <a:t>Therefore the causes assigned to natural effects of the same kind must be, so far as possible, the same.</a:t>
            </a:r>
          </a:p>
          <a:p>
            <a:pPr marL="514350" indent="-514350">
              <a:buFont typeface="+mj-lt"/>
              <a:buAutoNum type="arabicPeriod"/>
            </a:pPr>
            <a:r>
              <a:rPr lang="en-US" sz="4500" dirty="0">
                <a:latin typeface="Times New Roman" panose="02020603050405020304" pitchFamily="18" charset="0"/>
                <a:cs typeface="Times New Roman" panose="02020603050405020304" pitchFamily="18" charset="0"/>
              </a:rPr>
              <a:t>Those qualities of bodies that cannot be intended and remitted [i.e. qualities that cannot be increased and diminished] and that belong to all bodies on which experiments can be made should be taken as qualities of all bodies universally.</a:t>
            </a:r>
          </a:p>
          <a:p>
            <a:pPr marL="514350" indent="-514350">
              <a:buFont typeface="+mj-lt"/>
              <a:buAutoNum type="arabicPeriod"/>
            </a:pPr>
            <a:r>
              <a:rPr lang="en-US" sz="4500" dirty="0">
                <a:latin typeface="Times New Roman" panose="02020603050405020304" pitchFamily="18" charset="0"/>
                <a:cs typeface="Times New Roman" panose="02020603050405020304" pitchFamily="18" charset="0"/>
              </a:rPr>
              <a:t>In experimental philosophy, propositions gathered from phenomena by induction should be considered either exactly or very nearly true notwithstanding any contrary hypotheses, until yet other phenomena make such propositions either more exact or liable to exceptions.</a:t>
            </a:r>
          </a:p>
        </p:txBody>
      </p:sp>
      <p:pic>
        <p:nvPicPr>
          <p:cNvPr id="5" name="Picture 4">
            <a:extLst>
              <a:ext uri="{FF2B5EF4-FFF2-40B4-BE49-F238E27FC236}">
                <a16:creationId xmlns:a16="http://schemas.microsoft.com/office/drawing/2014/main" id="{078D0FD5-775B-5754-02C7-C38D31DB6B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5047" y="23569"/>
            <a:ext cx="3124584" cy="3142964"/>
          </a:xfrm>
          <a:prstGeom prst="rect">
            <a:avLst/>
          </a:prstGeom>
        </p:spPr>
      </p:pic>
    </p:spTree>
  </p:cSld>
  <p:clrMapOvr>
    <a:overrideClrMapping bg1="lt1" tx1="dk1" bg2="lt2" tx2="dk2" accent1="accent1" accent2="accent2" accent3="accent3" accent4="accent4" accent5="accent5" accent6="accent6" hlink="hlink" folHlink="folHlink"/>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37A5B-12DF-1301-0111-1A46B44D441B}"/>
              </a:ext>
            </a:extLst>
          </p:cNvPr>
          <p:cNvSpPr>
            <a:spLocks noGrp="1"/>
          </p:cNvSpPr>
          <p:nvPr>
            <p:ph type="title"/>
          </p:nvPr>
        </p:nvSpPr>
        <p:spPr/>
        <p:txBody>
          <a:bodyPr/>
          <a:lstStyle/>
          <a:p>
            <a:r>
              <a:rPr lang="en-US" sz="6000" dirty="0">
                <a:latin typeface="Baskerville"/>
                <a:ea typeface="Baskerville"/>
                <a:sym typeface="Baskerville"/>
              </a:rPr>
              <a:t>State of Causal Research in 1980’s – 1990’s</a:t>
            </a:r>
          </a:p>
        </p:txBody>
      </p:sp>
      <p:sp>
        <p:nvSpPr>
          <p:cNvPr id="3" name="Text Placeholder 2">
            <a:extLst>
              <a:ext uri="{FF2B5EF4-FFF2-40B4-BE49-F238E27FC236}">
                <a16:creationId xmlns:a16="http://schemas.microsoft.com/office/drawing/2014/main" id="{2C918672-9FB2-BC63-C48D-7E91BB79524C}"/>
              </a:ext>
            </a:extLst>
          </p:cNvPr>
          <p:cNvSpPr>
            <a:spLocks noGrp="1"/>
          </p:cNvSpPr>
          <p:nvPr>
            <p:ph type="body" idx="1"/>
          </p:nvPr>
        </p:nvSpPr>
        <p:spPr>
          <a:xfrm>
            <a:off x="1270000" y="3515360"/>
            <a:ext cx="10464800" cy="5715000"/>
          </a:xfrm>
        </p:spPr>
        <p:txBody>
          <a:bodyPr numCol="1">
            <a:normAutofit fontScale="85000" lnSpcReduction="20000"/>
          </a:bodyPr>
          <a:lstStyle/>
          <a:p>
            <a:r>
              <a:rPr lang="en-US" sz="6000" dirty="0">
                <a:latin typeface="Times New Roman" panose="02020603050405020304" pitchFamily="18" charset="0"/>
                <a:cs typeface="Times New Roman" panose="02020603050405020304" pitchFamily="18" charset="0"/>
              </a:rPr>
              <a:t>Causality </a:t>
            </a:r>
          </a:p>
          <a:p>
            <a:r>
              <a:rPr lang="en-US" sz="6000" dirty="0">
                <a:latin typeface="Times New Roman" panose="02020603050405020304" pitchFamily="18" charset="0"/>
                <a:cs typeface="Times New Roman" panose="02020603050405020304" pitchFamily="18" charset="0"/>
              </a:rPr>
              <a:t>Causal models</a:t>
            </a:r>
          </a:p>
          <a:p>
            <a:r>
              <a:rPr lang="en-US" sz="6000" dirty="0">
                <a:latin typeface="Times New Roman" panose="02020603050405020304" pitchFamily="18" charset="0"/>
                <a:cs typeface="Times New Roman" panose="02020603050405020304" pitchFamily="18" charset="0"/>
              </a:rPr>
              <a:t>Manipulations</a:t>
            </a:r>
          </a:p>
          <a:p>
            <a:r>
              <a:rPr lang="en-US" sz="6000" dirty="0">
                <a:latin typeface="Times New Roman" panose="02020603050405020304" pitchFamily="18" charset="0"/>
                <a:cs typeface="Times New Roman" panose="02020603050405020304" pitchFamily="18" charset="0"/>
              </a:rPr>
              <a:t>Assumptions</a:t>
            </a:r>
          </a:p>
          <a:p>
            <a:r>
              <a:rPr lang="en-US" sz="6000" dirty="0">
                <a:latin typeface="Times New Roman" panose="02020603050405020304" pitchFamily="18" charset="0"/>
                <a:cs typeface="Times New Roman" panose="02020603050405020304" pitchFamily="18" charset="0"/>
              </a:rPr>
              <a:t>Inference of Effects</a:t>
            </a:r>
          </a:p>
          <a:p>
            <a:r>
              <a:rPr lang="en-US" sz="6000" dirty="0">
                <a:latin typeface="Times New Roman" panose="02020603050405020304" pitchFamily="18" charset="0"/>
                <a:cs typeface="Times New Roman" panose="02020603050405020304" pitchFamily="18" charset="0"/>
              </a:rPr>
              <a:t>Search</a:t>
            </a:r>
          </a:p>
          <a:p>
            <a:endParaRPr lang="en-US" dirty="0"/>
          </a:p>
        </p:txBody>
      </p:sp>
    </p:spTree>
    <p:extLst>
      <p:ext uri="{BB962C8B-B14F-4D97-AF65-F5344CB8AC3E}">
        <p14:creationId xmlns:p14="http://schemas.microsoft.com/office/powerpoint/2010/main" val="2653978720"/>
      </p:ext>
    </p:extLst>
  </p:cSld>
  <p:clrMapOvr>
    <a:overrideClrMapping bg1="lt1" tx1="dk1" bg2="lt2" tx2="dk2" accent1="accent1" accent2="accent2" accent3="accent3" accent4="accent4" accent5="accent5" accent6="accent6" hlink="hlink" folHlink="folHlink"/>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661B88-55EA-E5A7-0B62-BBCF6256A078}"/>
              </a:ext>
            </a:extLst>
          </p:cNvPr>
          <p:cNvSpPr>
            <a:spLocks noGrp="1"/>
          </p:cNvSpPr>
          <p:nvPr>
            <p:ph type="title"/>
          </p:nvPr>
        </p:nvSpPr>
        <p:spPr/>
        <p:txBody>
          <a:bodyPr/>
          <a:lstStyle/>
          <a:p>
            <a:pPr algn="ctr"/>
            <a:r>
              <a:rPr lang="en-US">
                <a:latin typeface="Times New Roman" panose="02020603050405020304" pitchFamily="18" charset="0"/>
                <a:cs typeface="Times New Roman" panose="02020603050405020304" pitchFamily="18" charset="0"/>
              </a:rPr>
              <a:t>Causality?</a:t>
            </a:r>
          </a:p>
        </p:txBody>
      </p:sp>
      <p:sp>
        <p:nvSpPr>
          <p:cNvPr id="3" name="Text Placeholder 2">
            <a:extLst>
              <a:ext uri="{FF2B5EF4-FFF2-40B4-BE49-F238E27FC236}">
                <a16:creationId xmlns:a16="http://schemas.microsoft.com/office/drawing/2014/main" id="{A3B039CA-45C8-8B45-9860-AD7EEC3EFC4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3298766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3F368-B388-AECE-CC87-9787C0DF413A}"/>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atin typeface="Times New Roman" panose="02020603050405020304" pitchFamily="18" charset="0"/>
                <a:cs typeface="Times New Roman" panose="02020603050405020304" pitchFamily="18" charset="0"/>
              </a:rPr>
              <a:t>Causality?</a:t>
            </a:r>
          </a:p>
        </p:txBody>
      </p:sp>
      <p:sp>
        <p:nvSpPr>
          <p:cNvPr id="3" name="Text Placeholder 2">
            <a:extLst>
              <a:ext uri="{FF2B5EF4-FFF2-40B4-BE49-F238E27FC236}">
                <a16:creationId xmlns:a16="http://schemas.microsoft.com/office/drawing/2014/main" id="{ABD8A65E-171F-CAAD-D5E9-6B70B7F75E88}"/>
              </a:ext>
            </a:extLst>
          </p:cNvPr>
          <p:cNvSpPr>
            <a:spLocks noGrp="1"/>
          </p:cNvSpPr>
          <p:nvPr>
            <p:ph type="body" idx="1"/>
          </p:nvPr>
        </p:nvSpPr>
        <p:spPr/>
        <p:txBody>
          <a:bodyPr>
            <a:normAutofit fontScale="85000" lnSpcReduction="20000"/>
          </a:bodyPr>
          <a:lstStyle/>
          <a:p>
            <a:r>
              <a:rPr lang="en-US">
                <a:latin typeface="Times New Roman" panose="02020603050405020304" pitchFamily="18" charset="0"/>
                <a:cs typeface="Times New Roman" panose="02020603050405020304" pitchFamily="18" charset="0"/>
              </a:rPr>
              <a:t>Do causes even exist?</a:t>
            </a:r>
          </a:p>
          <a:p>
            <a:pPr lvl="1"/>
            <a:r>
              <a:rPr lang="en-US">
                <a:latin typeface="Times New Roman" panose="02020603050405020304" pitchFamily="18" charset="0"/>
                <a:cs typeface="Times New Roman" panose="02020603050405020304" pitchFamily="18" charset="0"/>
              </a:rPr>
              <a:t>...the reason why physics has ceased to look for causes is that, in fact, there are no such things... Bertrand Russell </a:t>
            </a:r>
          </a:p>
          <a:p>
            <a:r>
              <a:rPr lang="en-US">
                <a:latin typeface="Times New Roman" panose="02020603050405020304" pitchFamily="18" charset="0"/>
                <a:cs typeface="Times New Roman" panose="02020603050405020304" pitchFamily="18" charset="0"/>
              </a:rPr>
              <a:t>No satisfactory definition of cause</a:t>
            </a:r>
          </a:p>
          <a:p>
            <a:pPr lvl="1"/>
            <a:r>
              <a:rPr lang="en-US">
                <a:latin typeface="Times New Roman" panose="02020603050405020304" pitchFamily="18" charset="0"/>
                <a:cs typeface="Times New Roman" panose="02020603050405020304" pitchFamily="18" charset="0"/>
              </a:rPr>
              <a:t>...I wish, first, to maintain that " cause " is so inextricably bound up with misleading notions as to make its complete extrusion from the philosophical vocabulary desirable... Bertrand Russell </a:t>
            </a:r>
          </a:p>
          <a:p>
            <a:pPr lvl="1"/>
            <a:endParaRPr lang="en-US"/>
          </a:p>
          <a:p>
            <a:endParaRPr lang="en-US"/>
          </a:p>
        </p:txBody>
      </p:sp>
      <p:pic>
        <p:nvPicPr>
          <p:cNvPr id="4" name="Picture 3">
            <a:extLst>
              <a:ext uri="{FF2B5EF4-FFF2-40B4-BE49-F238E27FC236}">
                <a16:creationId xmlns:a16="http://schemas.microsoft.com/office/drawing/2014/main" id="{94947E50-22D9-46F5-0F58-93975CB4DD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3690" y="7207250"/>
            <a:ext cx="3987800" cy="2552700"/>
          </a:xfrm>
          <a:prstGeom prst="rect">
            <a:avLst/>
          </a:prstGeom>
        </p:spPr>
      </p:pic>
    </p:spTree>
    <p:extLst>
      <p:ext uri="{BB962C8B-B14F-4D97-AF65-F5344CB8AC3E}">
        <p14:creationId xmlns:p14="http://schemas.microsoft.com/office/powerpoint/2010/main" val="263154511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D1FB-90EB-D463-18EF-A795575E6653}"/>
              </a:ext>
            </a:extLst>
          </p:cNvPr>
          <p:cNvSpPr>
            <a:spLocks noGrp="1"/>
          </p:cNvSpPr>
          <p:nvPr>
            <p:ph type="title"/>
          </p:nvPr>
        </p:nvSpPr>
        <p:spPr/>
        <p:txBody>
          <a:bodyPr>
            <a:normAutofit/>
          </a:bodyPr>
          <a:lstStyle/>
          <a:p>
            <a:r>
              <a:rPr lang="en-US">
                <a:latin typeface="Times New Roman" panose="02020603050405020304" pitchFamily="18" charset="0"/>
                <a:cs typeface="Times New Roman" panose="02020603050405020304" pitchFamily="18" charset="0"/>
              </a:rPr>
              <a:t>Causality?</a:t>
            </a:r>
          </a:p>
        </p:txBody>
      </p:sp>
      <p:sp>
        <p:nvSpPr>
          <p:cNvPr id="3" name="Text Placeholder 2">
            <a:extLst>
              <a:ext uri="{FF2B5EF4-FFF2-40B4-BE49-F238E27FC236}">
                <a16:creationId xmlns:a16="http://schemas.microsoft.com/office/drawing/2014/main" id="{D63FD6AA-9705-503A-4419-8353DD8F3558}"/>
              </a:ext>
            </a:extLst>
          </p:cNvPr>
          <p:cNvSpPr>
            <a:spLocks noGrp="1"/>
          </p:cNvSpPr>
          <p:nvPr>
            <p:ph type="body" idx="1"/>
          </p:nvPr>
        </p:nvSpPr>
        <p:spPr>
          <a:xfrm>
            <a:off x="1270000" y="2768600"/>
            <a:ext cx="11233888" cy="6731000"/>
          </a:xfrm>
        </p:spPr>
        <p:txBody>
          <a:bodyPr>
            <a:normAutofit fontScale="62500" lnSpcReduction="20000"/>
          </a:bodyPr>
          <a:lstStyle/>
          <a:p>
            <a:r>
              <a:rPr lang="en-US" sz="5100" dirty="0">
                <a:latin typeface="Times New Roman" panose="02020603050405020304" pitchFamily="18" charset="0"/>
                <a:cs typeface="Times New Roman" panose="02020603050405020304" pitchFamily="18" charset="0"/>
              </a:rPr>
              <a:t>Shipley – “The </a:t>
            </a:r>
            <a:r>
              <a:rPr lang="en-US" sz="5100" dirty="0" err="1">
                <a:latin typeface="Times New Roman" panose="02020603050405020304" pitchFamily="18" charset="0"/>
                <a:cs typeface="Times New Roman" panose="02020603050405020304" pitchFamily="18" charset="0"/>
              </a:rPr>
              <a:t>Phenomenalist</a:t>
            </a:r>
            <a:r>
              <a:rPr lang="en-US" sz="5100" dirty="0">
                <a:latin typeface="Times New Roman" panose="02020603050405020304" pitchFamily="18" charset="0"/>
                <a:cs typeface="Times New Roman" panose="02020603050405020304" pitchFamily="18" charset="0"/>
              </a:rPr>
              <a:t> school of Pearson disliked Wright’s notion that one should distinguish "causes" from correlations. The Realist school of Fisher disliked Wright’s notion that one could study causes by looking at correlations. Professional statisticians therefore ignored it.”</a:t>
            </a:r>
          </a:p>
          <a:p>
            <a:r>
              <a:rPr lang="en-US" sz="5100">
                <a:latin typeface="Times New Roman" panose="02020603050405020304" pitchFamily="18" charset="0"/>
                <a:cs typeface="Times New Roman" panose="02020603050405020304" pitchFamily="18" charset="0"/>
              </a:rPr>
              <a:t>Geweke – “Many econometricians are apt to be uncomfortable when thinking about the concept "causality" (in part, because they usually do so under some duress). On the one hand, the concept is a primitive notion which is indispensable when thinking about economic phenomena, econometric models, and the relationbetween the two. On the other, the idea is notoriously difficult to formalize, as casual reading in the philosophy of science will attest.”</a:t>
            </a:r>
            <a:endParaRPr lang="en-US" sz="4600" dirty="0">
              <a:latin typeface="Times New Roman" panose="02020603050405020304" pitchFamily="18" charset="0"/>
              <a:cs typeface="Times New Roman" panose="02020603050405020304" pitchFamily="18" charset="0"/>
            </a:endParaRPr>
          </a:p>
          <a:p>
            <a:endParaRPr lang="en-US"/>
          </a:p>
        </p:txBody>
      </p:sp>
    </p:spTree>
    <p:extLst>
      <p:ext uri="{BB962C8B-B14F-4D97-AF65-F5344CB8AC3E}">
        <p14:creationId xmlns:p14="http://schemas.microsoft.com/office/powerpoint/2010/main" val="45378414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661B88-55EA-E5A7-0B62-BBCF6256A078}"/>
              </a:ext>
            </a:extLst>
          </p:cNvPr>
          <p:cNvSpPr>
            <a:spLocks noGrp="1"/>
          </p:cNvSpPr>
          <p:nvPr>
            <p:ph type="title"/>
          </p:nvPr>
        </p:nvSpPr>
        <p:spPr/>
        <p:txBody>
          <a:bodyPr/>
          <a:lstStyle/>
          <a:p>
            <a:pPr algn="ctr"/>
            <a:r>
              <a:rPr lang="en-US">
                <a:latin typeface="Times New Roman" panose="02020603050405020304" pitchFamily="18" charset="0"/>
                <a:cs typeface="Times New Roman" panose="02020603050405020304" pitchFamily="18" charset="0"/>
              </a:rPr>
              <a:t>Causal Models</a:t>
            </a:r>
          </a:p>
        </p:txBody>
      </p:sp>
      <p:sp>
        <p:nvSpPr>
          <p:cNvPr id="3" name="Text Placeholder 2">
            <a:extLst>
              <a:ext uri="{FF2B5EF4-FFF2-40B4-BE49-F238E27FC236}">
                <a16:creationId xmlns:a16="http://schemas.microsoft.com/office/drawing/2014/main" id="{69565073-3C61-CE44-A26B-CF098BBB60A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1444356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5E153-7AA9-F3E5-A682-339C6A23BEA5}"/>
              </a:ext>
            </a:extLst>
          </p:cNvPr>
          <p:cNvSpPr>
            <a:spLocks noGrp="1"/>
          </p:cNvSpPr>
          <p:nvPr>
            <p:ph type="title"/>
          </p:nvPr>
        </p:nvSpPr>
        <p:spPr/>
        <p:txBody>
          <a:bodyPr/>
          <a:lstStyle/>
          <a:p>
            <a:r>
              <a:rPr lang="en-US" sz="6000" dirty="0">
                <a:latin typeface="Baskerville"/>
                <a:ea typeface="Baskerville"/>
                <a:sym typeface="Baskerville"/>
              </a:rPr>
              <a:t>Causal Models</a:t>
            </a:r>
          </a:p>
        </p:txBody>
      </p:sp>
      <p:sp>
        <p:nvSpPr>
          <p:cNvPr id="3" name="Text Placeholder 2">
            <a:extLst>
              <a:ext uri="{FF2B5EF4-FFF2-40B4-BE49-F238E27FC236}">
                <a16:creationId xmlns:a16="http://schemas.microsoft.com/office/drawing/2014/main" id="{E131D96B-C671-CA16-59BC-9677A0C8928F}"/>
              </a:ext>
            </a:extLst>
          </p:cNvPr>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Structural equation models</a:t>
            </a:r>
          </a:p>
          <a:p>
            <a:r>
              <a:rPr lang="en-US" dirty="0">
                <a:latin typeface="Times New Roman" panose="02020603050405020304" pitchFamily="18" charset="0"/>
                <a:cs typeface="Times New Roman" panose="02020603050405020304" pitchFamily="18" charset="0"/>
              </a:rPr>
              <a:t>Graphical Models </a:t>
            </a:r>
          </a:p>
          <a:p>
            <a:r>
              <a:rPr lang="en-US" dirty="0">
                <a:latin typeface="Times New Roman" panose="02020603050405020304" pitchFamily="18" charset="0"/>
                <a:cs typeface="Times New Roman" panose="02020603050405020304" pitchFamily="18" charset="0"/>
              </a:rPr>
              <a:t>Potential outcomes</a:t>
            </a:r>
          </a:p>
          <a:p>
            <a:r>
              <a:rPr lang="en-US" dirty="0">
                <a:latin typeface="Times New Roman" panose="02020603050405020304" pitchFamily="18" charset="0"/>
                <a:cs typeface="Times New Roman" panose="02020603050405020304" pitchFamily="18" charset="0"/>
              </a:rPr>
              <a:t>Granger Causality</a:t>
            </a:r>
          </a:p>
          <a:p>
            <a:r>
              <a:rPr lang="en-US" dirty="0">
                <a:latin typeface="Times New Roman" panose="02020603050405020304" pitchFamily="18" charset="0"/>
                <a:cs typeface="Times New Roman" panose="02020603050405020304" pitchFamily="18" charset="0"/>
              </a:rPr>
              <a:t>Some regression models (regression coefficient = causal coefficient if regress on correct set of variables)</a:t>
            </a:r>
          </a:p>
        </p:txBody>
      </p:sp>
    </p:spTree>
    <p:extLst>
      <p:ext uri="{BB962C8B-B14F-4D97-AF65-F5344CB8AC3E}">
        <p14:creationId xmlns:p14="http://schemas.microsoft.com/office/powerpoint/2010/main" val="252172572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5E153-7AA9-F3E5-A682-339C6A23BEA5}"/>
              </a:ext>
            </a:extLst>
          </p:cNvPr>
          <p:cNvSpPr>
            <a:spLocks noGrp="1"/>
          </p:cNvSpPr>
          <p:nvPr>
            <p:ph type="title"/>
          </p:nvPr>
        </p:nvSpPr>
        <p:spPr/>
        <p:txBody>
          <a:bodyPr/>
          <a:lstStyle/>
          <a:p>
            <a:r>
              <a:rPr lang="en-US" sz="7200" dirty="0">
                <a:solidFill>
                  <a:schemeClr val="tx1"/>
                </a:solidFill>
                <a:latin typeface="Times New Roman"/>
                <a:cs typeface="Times New Roman"/>
                <a:sym typeface="Times New Roman"/>
              </a:rPr>
              <a:t>Structural equation models</a:t>
            </a:r>
          </a:p>
        </p:txBody>
      </p:sp>
      <p:sp>
        <p:nvSpPr>
          <p:cNvPr id="5" name="Text Placeholder 4">
            <a:extLst>
              <a:ext uri="{FF2B5EF4-FFF2-40B4-BE49-F238E27FC236}">
                <a16:creationId xmlns:a16="http://schemas.microsoft.com/office/drawing/2014/main" id="{04E339CA-541C-234B-BDDA-479E816F7B69}"/>
              </a:ext>
            </a:extLst>
          </p:cNvPr>
          <p:cNvSpPr>
            <a:spLocks noGrp="1"/>
          </p:cNvSpPr>
          <p:nvPr>
            <p:ph type="body" idx="1"/>
          </p:nvPr>
        </p:nvSpPr>
        <p:spPr/>
        <p:txBody>
          <a:bodyPr/>
          <a:lstStyle/>
          <a:p>
            <a:endParaRPr lang="en-US"/>
          </a:p>
        </p:txBody>
      </p:sp>
      <p:pic>
        <p:nvPicPr>
          <p:cNvPr id="4" name="Picture 2" descr="http://tbn0.google.com/images?q=tbn:hpb4e_H0pzgpIM:http://people.brunel.ac.uk/~hsstwmb/Simpson.jpg">
            <a:hlinkClick r:id="rId2"/>
            <a:extLst>
              <a:ext uri="{FF2B5EF4-FFF2-40B4-BE49-F238E27FC236}">
                <a16:creationId xmlns:a16="http://schemas.microsoft.com/office/drawing/2014/main" id="{4579B85A-F356-E064-472C-B54D24E80489}"/>
              </a:ext>
            </a:extLst>
          </p:cNvPr>
          <p:cNvPicPr>
            <a:picLocks noChangeAspect="1" noChangeArrowheads="1"/>
          </p:cNvPicPr>
          <p:nvPr/>
        </p:nvPicPr>
        <p:blipFill>
          <a:blip r:embed="rId3" cstate="print"/>
          <a:srcRect/>
          <a:stretch>
            <a:fillRect/>
          </a:stretch>
        </p:blipFill>
        <p:spPr bwMode="auto">
          <a:xfrm>
            <a:off x="8001252" y="6921045"/>
            <a:ext cx="1905000" cy="1905000"/>
          </a:xfrm>
          <a:prstGeom prst="rect">
            <a:avLst/>
          </a:prstGeom>
          <a:noFill/>
        </p:spPr>
      </p:pic>
      <p:pic>
        <p:nvPicPr>
          <p:cNvPr id="6" name="Content Placeholder 4">
            <a:extLst>
              <a:ext uri="{FF2B5EF4-FFF2-40B4-BE49-F238E27FC236}">
                <a16:creationId xmlns:a16="http://schemas.microsoft.com/office/drawing/2014/main" id="{D5BD30CE-EE91-490D-B0B1-DB1A00B9ADAF}"/>
              </a:ext>
            </a:extLst>
          </p:cNvPr>
          <p:cNvPicPr>
            <a:picLocks noChangeAspect="1"/>
          </p:cNvPicPr>
          <p:nvPr/>
        </p:nvPicPr>
        <p:blipFill rotWithShape="1">
          <a:blip r:embed="rId4"/>
          <a:srcRect l="1" t="-440" r="-35721" b="-26696"/>
          <a:stretch/>
        </p:blipFill>
        <p:spPr>
          <a:xfrm>
            <a:off x="509799" y="2210099"/>
            <a:ext cx="9712186" cy="9016850"/>
          </a:xfrm>
          <a:prstGeom prst="rect">
            <a:avLst/>
          </a:prstGeom>
        </p:spPr>
      </p:pic>
      <p:sp>
        <p:nvSpPr>
          <p:cNvPr id="7" name="TextBox 6">
            <a:extLst>
              <a:ext uri="{FF2B5EF4-FFF2-40B4-BE49-F238E27FC236}">
                <a16:creationId xmlns:a16="http://schemas.microsoft.com/office/drawing/2014/main" id="{6EDBC474-8435-26B1-B775-7E2F4AEE2F20}"/>
              </a:ext>
            </a:extLst>
          </p:cNvPr>
          <p:cNvSpPr txBox="1"/>
          <p:nvPr/>
        </p:nvSpPr>
        <p:spPr>
          <a:xfrm>
            <a:off x="9906252" y="7175918"/>
            <a:ext cx="2226365" cy="13952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4200" b="0" i="0" u="none" strike="noStrike" cap="none" spc="0" normalizeH="0" baseline="0" dirty="0">
                <a:ln>
                  <a:noFill/>
                </a:ln>
                <a:solidFill>
                  <a:schemeClr val="tx1"/>
                </a:solidFill>
                <a:effectLst/>
                <a:uFillTx/>
                <a:latin typeface="Times New Roman" panose="02020603050405020304" pitchFamily="18" charset="0"/>
                <a:cs typeface="Times New Roman" panose="02020603050405020304" pitchFamily="18" charset="0"/>
                <a:sym typeface="Gill Sans"/>
              </a:rPr>
              <a:t>Sewell Wright</a:t>
            </a:r>
          </a:p>
        </p:txBody>
      </p:sp>
      <p:sp>
        <p:nvSpPr>
          <p:cNvPr id="8" name="TextBox 7">
            <a:extLst>
              <a:ext uri="{FF2B5EF4-FFF2-40B4-BE49-F238E27FC236}">
                <a16:creationId xmlns:a16="http://schemas.microsoft.com/office/drawing/2014/main" id="{7E02F53B-F2C6-BD37-0BA8-1C26DA60B2E8}"/>
              </a:ext>
            </a:extLst>
          </p:cNvPr>
          <p:cNvSpPr txBox="1"/>
          <p:nvPr/>
        </p:nvSpPr>
        <p:spPr>
          <a:xfrm>
            <a:off x="7802469" y="2576586"/>
            <a:ext cx="5555722" cy="4137095"/>
          </a:xfrm>
          <a:prstGeom prst="rect">
            <a:avLst/>
          </a:prstGeom>
          <a:noFill/>
        </p:spPr>
        <p:txBody>
          <a:bodyPr wrap="square" rtlCol="0">
            <a:spAutoFit/>
          </a:bodyPr>
          <a:lstStyle/>
          <a:p>
            <a:pPr algn="l"/>
            <a:r>
              <a:rPr lang="en-US" sz="4400" dirty="0">
                <a:solidFill>
                  <a:schemeClr val="tx1"/>
                </a:solidFill>
                <a:latin typeface="Times New Roman"/>
                <a:cs typeface="Times New Roman"/>
                <a:sym typeface="Times New Roman"/>
              </a:rPr>
              <a:t>G = b * H’’ + c * C</a:t>
            </a:r>
          </a:p>
          <a:p>
            <a:pPr algn="l"/>
            <a:r>
              <a:rPr lang="en-US" sz="4400" dirty="0">
                <a:solidFill>
                  <a:schemeClr val="tx1"/>
                </a:solidFill>
                <a:latin typeface="Times New Roman"/>
                <a:cs typeface="Times New Roman"/>
                <a:sym typeface="Times New Roman"/>
              </a:rPr>
              <a:t>G’’’ = b * H’’’ + c * C</a:t>
            </a:r>
          </a:p>
          <a:p>
            <a:pPr marL="285750" indent="-285750">
              <a:buFontTx/>
              <a:buChar char="•"/>
            </a:pPr>
            <a:r>
              <a:rPr lang="en-US" sz="5828" dirty="0">
                <a:solidFill>
                  <a:schemeClr val="tx1"/>
                </a:solidFill>
                <a:latin typeface="Times New Roman"/>
                <a:cs typeface="Times New Roman"/>
                <a:sym typeface="Times New Roman"/>
              </a:rPr>
              <a:t> </a:t>
            </a:r>
          </a:p>
          <a:p>
            <a:pPr marL="285750" indent="-285750">
              <a:buFontTx/>
              <a:buChar char="•"/>
            </a:pPr>
            <a:r>
              <a:rPr lang="en-US" sz="5828" dirty="0">
                <a:solidFill>
                  <a:schemeClr val="tx1"/>
                </a:solidFill>
                <a:latin typeface="Times New Roman"/>
                <a:cs typeface="Times New Roman"/>
                <a:sym typeface="Times New Roman"/>
              </a:rPr>
              <a:t> </a:t>
            </a:r>
          </a:p>
          <a:p>
            <a:pPr marL="285750" indent="-285750">
              <a:buFontTx/>
              <a:buChar char="•"/>
            </a:pPr>
            <a:r>
              <a:rPr lang="en-US" sz="5828" dirty="0">
                <a:solidFill>
                  <a:schemeClr val="tx1"/>
                </a:solidFill>
                <a:latin typeface="Times New Roman"/>
                <a:cs typeface="Times New Roman"/>
                <a:sym typeface="Times New Roman"/>
              </a:rPr>
              <a:t> </a:t>
            </a:r>
          </a:p>
        </p:txBody>
      </p:sp>
    </p:spTree>
    <p:extLst>
      <p:ext uri="{BB962C8B-B14F-4D97-AF65-F5344CB8AC3E}">
        <p14:creationId xmlns:p14="http://schemas.microsoft.com/office/powerpoint/2010/main" val="409242581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17" name="Probabilistic Interpretation of DAGs"/>
          <p:cNvSpPr txBox="1">
            <a:spLocks noGrp="1"/>
          </p:cNvSpPr>
          <p:nvPr>
            <p:ph type="title"/>
          </p:nvPr>
        </p:nvSpPr>
        <p:spPr>
          <a:prstGeom prst="rect">
            <a:avLst/>
          </a:prstGeom>
          <a:effectLst/>
        </p:spPr>
        <p:txBody>
          <a:bodyPr lIns="65023" tIns="65023" rIns="65023" bIns="65023">
            <a:normAutofit/>
          </a:bodyPr>
          <a:lstStyle>
            <a:lvl1pPr algn="l" defTabSz="1222451">
              <a:lnSpc>
                <a:spcPct val="90000"/>
              </a:lnSpc>
              <a:defRPr sz="5828">
                <a:solidFill>
                  <a:srgbClr val="FFCC66"/>
                </a:solidFill>
                <a:latin typeface="Times New Roman"/>
                <a:ea typeface="Times New Roman"/>
                <a:cs typeface="Times New Roman"/>
                <a:sym typeface="Times New Roman"/>
              </a:defRPr>
            </a:lvl1pPr>
          </a:lstStyle>
          <a:p>
            <a:r>
              <a:rPr dirty="0">
                <a:solidFill>
                  <a:schemeClr val="tx1"/>
                </a:solidFill>
              </a:rPr>
              <a:t>Probabilistic Interpretation of D</a:t>
            </a:r>
            <a:r>
              <a:rPr lang="en-US" dirty="0">
                <a:solidFill>
                  <a:schemeClr val="tx1"/>
                </a:solidFill>
              </a:rPr>
              <a:t>irected Acyclic Graphs (DAGs)</a:t>
            </a:r>
            <a:endParaRPr dirty="0">
              <a:solidFill>
                <a:schemeClr val="tx1"/>
              </a:solidFill>
            </a:endParaRPr>
          </a:p>
        </p:txBody>
      </p:sp>
      <p:sp>
        <p:nvSpPr>
          <p:cNvPr id="218" name="A DAG represents a distribution P when each variable is independent of its non-descendants conditional on its parents in the DAG.…"/>
          <p:cNvSpPr txBox="1">
            <a:spLocks noGrp="1"/>
          </p:cNvSpPr>
          <p:nvPr>
            <p:ph type="body" idx="1"/>
          </p:nvPr>
        </p:nvSpPr>
        <p:spPr>
          <a:xfrm>
            <a:off x="1787949" y="2756195"/>
            <a:ext cx="10464800" cy="5715000"/>
          </a:xfrm>
          <a:prstGeom prst="rect">
            <a:avLst/>
          </a:prstGeom>
          <a:effectLst/>
        </p:spPr>
        <p:txBody>
          <a:bodyPr lIns="65023" tIns="65023" rIns="65023" bIns="65023" anchor="t">
            <a:normAutofit/>
          </a:bodyPr>
          <a:lstStyle/>
          <a:p>
            <a:pPr marL="471487" indent="-471487" defTabSz="1300480">
              <a:lnSpc>
                <a:spcPct val="80000"/>
              </a:lnSpc>
              <a:spcBef>
                <a:spcPts val="1000"/>
              </a:spcBef>
              <a:buSzPct val="80000"/>
              <a:buChar char="●"/>
              <a:defRPr sz="4400">
                <a:solidFill>
                  <a:srgbClr val="FFFFFF"/>
                </a:solidFill>
                <a:latin typeface="Times New Roman"/>
                <a:ea typeface="Times New Roman"/>
                <a:cs typeface="Times New Roman"/>
                <a:sym typeface="Times New Roman"/>
              </a:defRPr>
            </a:pPr>
            <a:r>
              <a:rPr dirty="0">
                <a:solidFill>
                  <a:schemeClr val="tx1"/>
                </a:solidFill>
              </a:rPr>
              <a:t>A DAG represents a distribution P when each variable is independent of its non-descendants conditional on its parents in the DAG.</a:t>
            </a:r>
          </a:p>
          <a:p>
            <a:pPr marL="487680" indent="-487680" defTabSz="1300480">
              <a:lnSpc>
                <a:spcPct val="80000"/>
              </a:lnSpc>
              <a:spcBef>
                <a:spcPts val="1000"/>
              </a:spcBef>
              <a:buSzTx/>
              <a:buFont typeface="Wingdings"/>
              <a:buNone/>
              <a:defRPr sz="4400">
                <a:solidFill>
                  <a:srgbClr val="FFFFFF"/>
                </a:solidFill>
                <a:latin typeface="Arial"/>
                <a:ea typeface="Arial"/>
                <a:cs typeface="Arial"/>
                <a:sym typeface="Arial"/>
              </a:defRPr>
            </a:pPr>
            <a:r>
              <a:rPr dirty="0">
                <a:solidFill>
                  <a:schemeClr val="tx1"/>
                </a:solidFill>
              </a:rPr>
              <a:t>			        </a:t>
            </a:r>
            <a:r>
              <a:rPr dirty="0">
                <a:solidFill>
                  <a:schemeClr val="tx1"/>
                </a:solidFill>
                <a:latin typeface="Times New Roman"/>
                <a:ea typeface="Times New Roman"/>
                <a:cs typeface="Times New Roman"/>
                <a:sym typeface="Times New Roman"/>
              </a:rPr>
              <a:t>CP    SEX| PE,SES,IQ)</a:t>
            </a:r>
          </a:p>
          <a:p>
            <a:pPr marL="487680" indent="-487680" defTabSz="1300480">
              <a:lnSpc>
                <a:spcPct val="80000"/>
              </a:lnSpc>
              <a:spcBef>
                <a:spcPts val="1000"/>
              </a:spcBef>
              <a:buSzTx/>
              <a:buFont typeface="Wingdings"/>
              <a:buNone/>
              <a:defRPr sz="4400">
                <a:solidFill>
                  <a:srgbClr val="FFFFFF"/>
                </a:solidFill>
                <a:latin typeface="Times New Roman"/>
                <a:ea typeface="Times New Roman"/>
                <a:cs typeface="Times New Roman"/>
                <a:sym typeface="Times New Roman"/>
              </a:defRPr>
            </a:pPr>
            <a:r>
              <a:rPr dirty="0">
                <a:solidFill>
                  <a:schemeClr val="tx1"/>
                </a:solidFill>
              </a:rPr>
              <a:t>    				SEX   SES</a:t>
            </a:r>
          </a:p>
          <a:p>
            <a:pPr marL="487680" indent="-487680" defTabSz="1300480">
              <a:lnSpc>
                <a:spcPct val="80000"/>
              </a:lnSpc>
              <a:spcBef>
                <a:spcPts val="1000"/>
              </a:spcBef>
              <a:buSzTx/>
              <a:buFont typeface="Wingdings"/>
              <a:buNone/>
              <a:defRPr sz="4400">
                <a:solidFill>
                  <a:srgbClr val="FFFFFF"/>
                </a:solidFill>
                <a:latin typeface="Times New Roman"/>
                <a:ea typeface="Times New Roman"/>
                <a:cs typeface="Times New Roman"/>
                <a:sym typeface="Times New Roman"/>
              </a:defRPr>
            </a:pPr>
            <a:r>
              <a:rPr dirty="0">
                <a:solidFill>
                  <a:schemeClr val="tx1"/>
                </a:solidFill>
              </a:rPr>
              <a:t>				         SEX    IQ</a:t>
            </a:r>
          </a:p>
          <a:p>
            <a:pPr marL="487680" indent="-487680" defTabSz="1300480">
              <a:lnSpc>
                <a:spcPct val="80000"/>
              </a:lnSpc>
              <a:spcBef>
                <a:spcPts val="1000"/>
              </a:spcBef>
              <a:buSzTx/>
              <a:buFont typeface="Wingdings"/>
              <a:buNone/>
              <a:defRPr sz="4400">
                <a:solidFill>
                  <a:srgbClr val="FFFFFF"/>
                </a:solidFill>
                <a:latin typeface="Times New Roman"/>
                <a:ea typeface="Times New Roman"/>
                <a:cs typeface="Times New Roman"/>
                <a:sym typeface="Times New Roman"/>
              </a:defRPr>
            </a:pPr>
            <a:r>
              <a:rPr dirty="0">
                <a:solidFill>
                  <a:schemeClr val="tx1"/>
                </a:solidFill>
              </a:rPr>
              <a:t>					</a:t>
            </a:r>
          </a:p>
        </p:txBody>
      </p:sp>
      <p:sp>
        <p:nvSpPr>
          <p:cNvPr id="216"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14</a:t>
            </a:fld>
            <a:endParaRPr/>
          </a:p>
        </p:txBody>
      </p:sp>
      <p:sp>
        <p:nvSpPr>
          <p:cNvPr id="219" name="Line"/>
          <p:cNvSpPr/>
          <p:nvPr/>
        </p:nvSpPr>
        <p:spPr>
          <a:xfrm>
            <a:off x="3251199" y="5407377"/>
            <a:ext cx="1221460" cy="1101798"/>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20" name="Line"/>
          <p:cNvSpPr/>
          <p:nvPr/>
        </p:nvSpPr>
        <p:spPr>
          <a:xfrm>
            <a:off x="3269261" y="5450275"/>
            <a:ext cx="2858350" cy="1228232"/>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21" name="Line"/>
          <p:cNvSpPr/>
          <p:nvPr/>
        </p:nvSpPr>
        <p:spPr>
          <a:xfrm flipV="1">
            <a:off x="3325706" y="7157156"/>
            <a:ext cx="1165015" cy="1101797"/>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22" name="Line"/>
          <p:cNvSpPr/>
          <p:nvPr/>
        </p:nvSpPr>
        <p:spPr>
          <a:xfrm flipV="1">
            <a:off x="3325706" y="6935894"/>
            <a:ext cx="2801905" cy="1304997"/>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23" name="Line"/>
          <p:cNvSpPr/>
          <p:nvPr/>
        </p:nvSpPr>
        <p:spPr>
          <a:xfrm>
            <a:off x="4906151" y="6780107"/>
            <a:ext cx="1090509" cy="1"/>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24" name="Line"/>
          <p:cNvSpPr/>
          <p:nvPr/>
        </p:nvSpPr>
        <p:spPr>
          <a:xfrm>
            <a:off x="3300870" y="6807200"/>
            <a:ext cx="1097282" cy="1"/>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25" name="Line"/>
          <p:cNvSpPr/>
          <p:nvPr/>
        </p:nvSpPr>
        <p:spPr>
          <a:xfrm rot="10800000">
            <a:off x="1894274" y="5420924"/>
            <a:ext cx="690882" cy="276126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4897"/>
                  <a:pt x="21600" y="10939"/>
                </a:cubicBezTo>
                <a:cubicBezTo>
                  <a:pt x="21600" y="16037"/>
                  <a:pt x="14644" y="20460"/>
                  <a:pt x="4831" y="21600"/>
                </a:cubicBezTo>
              </a:path>
            </a:pathLst>
          </a:custGeom>
          <a:noFill/>
          <a:ln w="50800" cap="flat">
            <a:solidFill>
              <a:schemeClr val="tx1"/>
            </a:solidFill>
            <a:prstDash val="solid"/>
            <a:round/>
            <a:head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26" name="PE"/>
          <p:cNvSpPr txBox="1"/>
          <p:nvPr/>
        </p:nvSpPr>
        <p:spPr>
          <a:xfrm>
            <a:off x="4320935" y="6543040"/>
            <a:ext cx="721136" cy="56220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3" tIns="65023" rIns="65023" bIns="65023" numCol="1" anchor="t">
            <a:spAutoFit/>
          </a:bodyPr>
          <a:lstStyle>
            <a:lvl1pPr algn="l" defTabSz="1300480">
              <a:spcBef>
                <a:spcPts val="1700"/>
              </a:spcBef>
              <a:defRPr sz="2800">
                <a:solidFill>
                  <a:srgbClr val="FFFFFF"/>
                </a:solidFill>
                <a:latin typeface="Arial"/>
                <a:ea typeface="Arial"/>
                <a:cs typeface="Arial"/>
                <a:sym typeface="Arial"/>
              </a:defRPr>
            </a:lvl1pPr>
          </a:lstStyle>
          <a:p>
            <a:r>
              <a:rPr dirty="0">
                <a:solidFill>
                  <a:schemeClr val="tx1"/>
                </a:solidFill>
              </a:rPr>
              <a:t>PE</a:t>
            </a:r>
          </a:p>
        </p:txBody>
      </p:sp>
      <p:sp>
        <p:nvSpPr>
          <p:cNvPr id="227" name="CP"/>
          <p:cNvSpPr txBox="1"/>
          <p:nvPr/>
        </p:nvSpPr>
        <p:spPr>
          <a:xfrm>
            <a:off x="6041363" y="6576907"/>
            <a:ext cx="721136" cy="56220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3" tIns="65023" rIns="65023" bIns="65023" numCol="1" anchor="t">
            <a:spAutoFit/>
          </a:bodyPr>
          <a:lstStyle>
            <a:lvl1pPr algn="l" defTabSz="1300480">
              <a:spcBef>
                <a:spcPts val="1700"/>
              </a:spcBef>
              <a:defRPr sz="2800">
                <a:solidFill>
                  <a:srgbClr val="FFFFFF"/>
                </a:solidFill>
                <a:latin typeface="Arial"/>
                <a:ea typeface="Arial"/>
                <a:cs typeface="Arial"/>
                <a:sym typeface="Arial"/>
              </a:defRPr>
            </a:lvl1pPr>
          </a:lstStyle>
          <a:p>
            <a:r>
              <a:rPr dirty="0">
                <a:solidFill>
                  <a:schemeClr val="tx1"/>
                </a:solidFill>
              </a:rPr>
              <a:t>CP</a:t>
            </a:r>
          </a:p>
        </p:txBody>
      </p:sp>
      <p:sp>
        <p:nvSpPr>
          <p:cNvPr id="228" name="SEX"/>
          <p:cNvSpPr txBox="1"/>
          <p:nvPr/>
        </p:nvSpPr>
        <p:spPr>
          <a:xfrm>
            <a:off x="2325058" y="6520462"/>
            <a:ext cx="1100442" cy="56220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3" tIns="65023" rIns="65023" bIns="65023" numCol="1" anchor="t">
            <a:spAutoFit/>
          </a:bodyPr>
          <a:lstStyle>
            <a:lvl1pPr algn="l" defTabSz="1300480">
              <a:spcBef>
                <a:spcPts val="1700"/>
              </a:spcBef>
              <a:defRPr sz="2800">
                <a:solidFill>
                  <a:srgbClr val="FFFFFF"/>
                </a:solidFill>
                <a:latin typeface="Arial"/>
                <a:ea typeface="Arial"/>
                <a:cs typeface="Arial"/>
                <a:sym typeface="Arial"/>
              </a:defRPr>
            </a:lvl1pPr>
          </a:lstStyle>
          <a:p>
            <a:r>
              <a:rPr dirty="0">
                <a:solidFill>
                  <a:schemeClr val="tx1"/>
                </a:solidFill>
              </a:rPr>
              <a:t>SEX</a:t>
            </a:r>
          </a:p>
        </p:txBody>
      </p:sp>
      <p:sp>
        <p:nvSpPr>
          <p:cNvPr id="229" name="SES"/>
          <p:cNvSpPr txBox="1"/>
          <p:nvPr/>
        </p:nvSpPr>
        <p:spPr>
          <a:xfrm>
            <a:off x="2410853" y="5168053"/>
            <a:ext cx="1100443" cy="52481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3" tIns="65023" rIns="65023" bIns="65023" numCol="1" anchor="t">
            <a:spAutoFit/>
          </a:bodyPr>
          <a:lstStyle>
            <a:lvl1pPr algn="l" defTabSz="1300480">
              <a:spcBef>
                <a:spcPts val="1700"/>
              </a:spcBef>
              <a:defRPr sz="2800">
                <a:solidFill>
                  <a:srgbClr val="FFFFFF"/>
                </a:solidFill>
                <a:latin typeface="Arial"/>
                <a:ea typeface="Arial"/>
                <a:cs typeface="Arial"/>
                <a:sym typeface="Arial"/>
              </a:defRPr>
            </a:lvl1pPr>
          </a:lstStyle>
          <a:p>
            <a:r>
              <a:t>SES</a:t>
            </a:r>
          </a:p>
        </p:txBody>
      </p:sp>
      <p:sp>
        <p:nvSpPr>
          <p:cNvPr id="230" name="IQ"/>
          <p:cNvSpPr txBox="1"/>
          <p:nvPr/>
        </p:nvSpPr>
        <p:spPr>
          <a:xfrm>
            <a:off x="2652436" y="7963184"/>
            <a:ext cx="1100443" cy="56220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3" tIns="65023" rIns="65023" bIns="65023" numCol="1" anchor="t">
            <a:spAutoFit/>
          </a:bodyPr>
          <a:lstStyle>
            <a:lvl1pPr algn="l" defTabSz="1300480">
              <a:spcBef>
                <a:spcPts val="1700"/>
              </a:spcBef>
              <a:defRPr sz="2800">
                <a:solidFill>
                  <a:srgbClr val="FFFFFF"/>
                </a:solidFill>
                <a:latin typeface="Arial"/>
                <a:ea typeface="Arial"/>
                <a:cs typeface="Arial"/>
                <a:sym typeface="Arial"/>
              </a:defRPr>
            </a:lvl1pPr>
          </a:lstStyle>
          <a:p>
            <a:r>
              <a:rPr dirty="0">
                <a:solidFill>
                  <a:schemeClr val="tx1"/>
                </a:solidFill>
              </a:rPr>
              <a:t>IQ</a:t>
            </a:r>
          </a:p>
        </p:txBody>
      </p:sp>
      <p:sp>
        <p:nvSpPr>
          <p:cNvPr id="232" name="SES"/>
          <p:cNvSpPr txBox="1"/>
          <p:nvPr/>
        </p:nvSpPr>
        <p:spPr>
          <a:xfrm>
            <a:off x="2410854" y="5168053"/>
            <a:ext cx="1100442" cy="56220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5023" tIns="65023" rIns="65023" bIns="65023" numCol="1" anchor="t">
            <a:spAutoFit/>
          </a:bodyPr>
          <a:lstStyle>
            <a:lvl1pPr algn="l" defTabSz="1300480">
              <a:spcBef>
                <a:spcPts val="1700"/>
              </a:spcBef>
              <a:defRPr sz="2800">
                <a:solidFill>
                  <a:srgbClr val="FFFFFF"/>
                </a:solidFill>
                <a:latin typeface="Arial"/>
                <a:ea typeface="Arial"/>
                <a:cs typeface="Arial"/>
                <a:sym typeface="Arial"/>
              </a:defRPr>
            </a:lvl1pPr>
          </a:lstStyle>
          <a:p>
            <a:r>
              <a:rPr dirty="0">
                <a:solidFill>
                  <a:schemeClr val="tx1"/>
                </a:solidFill>
              </a:rPr>
              <a:t>SES</a:t>
            </a:r>
          </a:p>
        </p:txBody>
      </p:sp>
      <p:sp>
        <p:nvSpPr>
          <p:cNvPr id="234" name="4/7/22"/>
          <p:cNvSpPr txBox="1"/>
          <p:nvPr/>
        </p:nvSpPr>
        <p:spPr>
          <a:xfrm>
            <a:off x="1040383" y="9179193"/>
            <a:ext cx="2579287" cy="3892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5023" tIns="65023" rIns="65023" bIns="65023" anchor="b">
            <a:spAutoFit/>
          </a:bodyPr>
          <a:lstStyle>
            <a:lvl1pPr algn="l" defTabSz="1300480">
              <a:defRPr sz="1800">
                <a:solidFill>
                  <a:srgbClr val="FFFFFF"/>
                </a:solidFill>
                <a:latin typeface="Arial"/>
                <a:ea typeface="Arial"/>
                <a:cs typeface="Arial"/>
                <a:sym typeface="Arial"/>
              </a:defRPr>
            </a:lvl1pPr>
          </a:lstStyle>
          <a:p>
            <a:r>
              <a:t>4/7/22</a:t>
            </a:r>
          </a:p>
        </p:txBody>
      </p:sp>
      <p:sp>
        <p:nvSpPr>
          <p:cNvPr id="235" name="Line"/>
          <p:cNvSpPr/>
          <p:nvPr/>
        </p:nvSpPr>
        <p:spPr>
          <a:xfrm flipH="1">
            <a:off x="6585936" y="5160977"/>
            <a:ext cx="1" cy="350548"/>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36" name="Line"/>
          <p:cNvSpPr/>
          <p:nvPr/>
        </p:nvSpPr>
        <p:spPr>
          <a:xfrm flipH="1">
            <a:off x="6722316" y="5159310"/>
            <a:ext cx="1" cy="350548"/>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37" name="Line"/>
          <p:cNvSpPr/>
          <p:nvPr/>
        </p:nvSpPr>
        <p:spPr>
          <a:xfrm>
            <a:off x="6468975" y="5509857"/>
            <a:ext cx="388340" cy="1"/>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33" name="Line">
            <a:extLst>
              <a:ext uri="{FF2B5EF4-FFF2-40B4-BE49-F238E27FC236}">
                <a16:creationId xmlns:a16="http://schemas.microsoft.com/office/drawing/2014/main" id="{052FF6B9-803E-CB41-893A-E603D9A4BAEC}"/>
              </a:ext>
            </a:extLst>
          </p:cNvPr>
          <p:cNvSpPr/>
          <p:nvPr/>
        </p:nvSpPr>
        <p:spPr>
          <a:xfrm flipH="1">
            <a:off x="8261399" y="5823363"/>
            <a:ext cx="1" cy="350548"/>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34" name="Line">
            <a:extLst>
              <a:ext uri="{FF2B5EF4-FFF2-40B4-BE49-F238E27FC236}">
                <a16:creationId xmlns:a16="http://schemas.microsoft.com/office/drawing/2014/main" id="{8BFE4523-5FEC-3847-8F44-7E5CFBCD2F10}"/>
              </a:ext>
            </a:extLst>
          </p:cNvPr>
          <p:cNvSpPr/>
          <p:nvPr/>
        </p:nvSpPr>
        <p:spPr>
          <a:xfrm flipH="1">
            <a:off x="8397779" y="5821696"/>
            <a:ext cx="1" cy="350548"/>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35" name="Line">
            <a:extLst>
              <a:ext uri="{FF2B5EF4-FFF2-40B4-BE49-F238E27FC236}">
                <a16:creationId xmlns:a16="http://schemas.microsoft.com/office/drawing/2014/main" id="{75EB68A5-F39F-6149-934E-5EFA9CDD3F10}"/>
              </a:ext>
            </a:extLst>
          </p:cNvPr>
          <p:cNvSpPr/>
          <p:nvPr/>
        </p:nvSpPr>
        <p:spPr>
          <a:xfrm>
            <a:off x="8150444" y="6172243"/>
            <a:ext cx="388340" cy="1"/>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36" name="Line">
            <a:extLst>
              <a:ext uri="{FF2B5EF4-FFF2-40B4-BE49-F238E27FC236}">
                <a16:creationId xmlns:a16="http://schemas.microsoft.com/office/drawing/2014/main" id="{9ECF6489-305A-B647-A5F3-7A94610A1F89}"/>
              </a:ext>
            </a:extLst>
          </p:cNvPr>
          <p:cNvSpPr/>
          <p:nvPr/>
        </p:nvSpPr>
        <p:spPr>
          <a:xfrm flipH="1">
            <a:off x="8281960" y="6474427"/>
            <a:ext cx="1" cy="350548"/>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37" name="Line">
            <a:extLst>
              <a:ext uri="{FF2B5EF4-FFF2-40B4-BE49-F238E27FC236}">
                <a16:creationId xmlns:a16="http://schemas.microsoft.com/office/drawing/2014/main" id="{079A75B5-B019-0240-B986-D43CDC42F1AA}"/>
              </a:ext>
            </a:extLst>
          </p:cNvPr>
          <p:cNvSpPr/>
          <p:nvPr/>
        </p:nvSpPr>
        <p:spPr>
          <a:xfrm flipH="1">
            <a:off x="8418340" y="6472760"/>
            <a:ext cx="1" cy="350548"/>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38" name="Line">
            <a:extLst>
              <a:ext uri="{FF2B5EF4-FFF2-40B4-BE49-F238E27FC236}">
                <a16:creationId xmlns:a16="http://schemas.microsoft.com/office/drawing/2014/main" id="{8D93E6F5-F453-524A-B848-7AFEF3DA0F4C}"/>
              </a:ext>
            </a:extLst>
          </p:cNvPr>
          <p:cNvSpPr/>
          <p:nvPr/>
        </p:nvSpPr>
        <p:spPr>
          <a:xfrm>
            <a:off x="8171005" y="6823307"/>
            <a:ext cx="388340" cy="1"/>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Tree>
    <p:extLst>
      <p:ext uri="{BB962C8B-B14F-4D97-AF65-F5344CB8AC3E}">
        <p14:creationId xmlns:p14="http://schemas.microsoft.com/office/powerpoint/2010/main" val="2822620842"/>
      </p:ext>
    </p:extLst>
  </p:cSld>
  <p:clrMapOvr>
    <a:overrideClrMapping bg1="lt1" tx1="dk1" bg2="lt2" tx2="dk2" accent1="accent1" accent2="accent2" accent3="accent3" accent4="accent4" accent5="accent5" accent6="accent6" hlink="hlink" folHlink="folHlink"/>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presenting Causal Relations with Directed Graphs"/>
          <p:cNvSpPr txBox="1">
            <a:spLocks noGrp="1"/>
          </p:cNvSpPr>
          <p:nvPr>
            <p:ph type="title"/>
          </p:nvPr>
        </p:nvSpPr>
        <p:spPr>
          <a:prstGeom prst="rect">
            <a:avLst/>
          </a:prstGeom>
        </p:spPr>
        <p:txBody>
          <a:bodyPr/>
          <a:lstStyle>
            <a:lvl1pPr>
              <a:defRPr sz="6000">
                <a:latin typeface="Baskerville"/>
                <a:ea typeface="Baskerville"/>
                <a:cs typeface="Baskerville"/>
                <a:sym typeface="Baskerville"/>
              </a:defRPr>
            </a:lvl1pPr>
          </a:lstStyle>
          <a:p>
            <a:r>
              <a:rPr lang="en-US"/>
              <a:t>Causal Interpretation of DAGs</a:t>
            </a:r>
            <a:endParaRPr/>
          </a:p>
        </p:txBody>
      </p:sp>
      <p:sp>
        <p:nvSpPr>
          <p:cNvPr id="126" name="A directed graph represents a causal structure…"/>
          <p:cNvSpPr txBox="1">
            <a:spLocks noGrp="1"/>
          </p:cNvSpPr>
          <p:nvPr>
            <p:ph type="body" idx="1"/>
          </p:nvPr>
        </p:nvSpPr>
        <p:spPr>
          <a:prstGeom prst="rect">
            <a:avLst/>
          </a:prstGeom>
        </p:spPr>
        <p:txBody>
          <a:bodyPr/>
          <a:lstStyle/>
          <a:p>
            <a:pPr marL="1251857" lvl="1" indent="-489857">
              <a:defRPr sz="3600">
                <a:latin typeface="Baskerville"/>
                <a:ea typeface="Baskerville"/>
                <a:cs typeface="Baskerville"/>
                <a:sym typeface="Baskerville"/>
              </a:defRPr>
            </a:pPr>
            <a:r>
              <a:t>A directed graph represents a causal structure</a:t>
            </a:r>
          </a:p>
          <a:p>
            <a:pPr marL="1251857" lvl="1" indent="-489857">
              <a:defRPr sz="3600">
                <a:latin typeface="Baskerville"/>
                <a:ea typeface="Baskerville"/>
                <a:cs typeface="Baskerville"/>
                <a:sym typeface="Baskerville"/>
              </a:defRPr>
            </a:pPr>
            <a:endParaRPr/>
          </a:p>
          <a:p>
            <a:pPr marL="1251857" lvl="1" indent="-489857">
              <a:defRPr sz="3600">
                <a:latin typeface="Baskerville"/>
                <a:ea typeface="Baskerville"/>
                <a:cs typeface="Baskerville"/>
                <a:sym typeface="Baskerville"/>
              </a:defRPr>
            </a:pPr>
            <a:endParaRPr/>
          </a:p>
          <a:p>
            <a:pPr marL="1251857" lvl="1" indent="-489857">
              <a:defRPr sz="3600">
                <a:latin typeface="Baskerville"/>
                <a:ea typeface="Baskerville"/>
                <a:cs typeface="Baskerville"/>
                <a:sym typeface="Baskerville"/>
              </a:defRPr>
            </a:pPr>
            <a:endParaRPr/>
          </a:p>
          <a:p>
            <a:pPr marL="1251857" lvl="1" indent="-489857">
              <a:defRPr sz="3600">
                <a:latin typeface="Baskerville"/>
                <a:ea typeface="Baskerville"/>
                <a:cs typeface="Baskerville"/>
                <a:sym typeface="Baskerville"/>
              </a:defRPr>
            </a:pPr>
            <a:endParaRPr/>
          </a:p>
          <a:p>
            <a:pPr marL="1251857" lvl="1" indent="-489857">
              <a:defRPr sz="3600">
                <a:latin typeface="Baskerville"/>
                <a:ea typeface="Baskerville"/>
                <a:cs typeface="Baskerville"/>
                <a:sym typeface="Baskerville"/>
              </a:defRPr>
            </a:pPr>
            <a:r>
              <a:t>Directed edge from </a:t>
            </a:r>
            <a:r>
              <a:rPr i="1"/>
              <a:t>A</a:t>
            </a:r>
            <a:r>
              <a:t> to </a:t>
            </a:r>
            <a:r>
              <a:rPr i="1"/>
              <a:t>B</a:t>
            </a:r>
            <a:r>
              <a:t> means </a:t>
            </a:r>
            <a:r>
              <a:rPr i="1"/>
              <a:t>A</a:t>
            </a:r>
            <a:r>
              <a:t> is a direct cause of </a:t>
            </a:r>
            <a:r>
              <a:rPr i="1"/>
              <a:t>B</a:t>
            </a:r>
            <a:r>
              <a:t> relative to the given variable set </a:t>
            </a:r>
            <a:r>
              <a:rPr b="1" i="1"/>
              <a:t>V</a:t>
            </a:r>
          </a:p>
        </p:txBody>
      </p:sp>
      <p:pic>
        <p:nvPicPr>
          <p:cNvPr id="127" name="Screenshot 2015-09-13 02.18.27.png" descr="Screenshot 2015-09-13 02.18.27.png"/>
          <p:cNvPicPr>
            <a:picLocks noChangeAspect="1"/>
          </p:cNvPicPr>
          <p:nvPr/>
        </p:nvPicPr>
        <p:blipFill>
          <a:blip r:embed="rId3"/>
          <a:stretch>
            <a:fillRect/>
          </a:stretch>
        </p:blipFill>
        <p:spPr>
          <a:xfrm>
            <a:off x="3330554" y="4013200"/>
            <a:ext cx="6616701" cy="2656834"/>
          </a:xfrm>
          <a:prstGeom prst="rect">
            <a:avLst/>
          </a:prstGeom>
          <a:ln w="12700">
            <a:miter lim="400000"/>
          </a:ln>
        </p:spPr>
      </p:pic>
      <p:sp>
        <p:nvSpPr>
          <p:cNvPr id="128" name="(adapted from “Causation, Prediction, and Search” by SGS, 1995)"/>
          <p:cNvSpPr txBox="1"/>
          <p:nvPr/>
        </p:nvSpPr>
        <p:spPr>
          <a:xfrm>
            <a:off x="2150888" y="6711950"/>
            <a:ext cx="8692568" cy="482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600"/>
            </a:lvl1pPr>
          </a:lstStyle>
          <a:p>
            <a:r>
              <a:t>(adapted from “Causation, Prediction, and Search” by SGS, 1995)</a:t>
            </a:r>
          </a:p>
        </p:txBody>
      </p:sp>
    </p:spTree>
    <p:extLst>
      <p:ext uri="{BB962C8B-B14F-4D97-AF65-F5344CB8AC3E}">
        <p14:creationId xmlns:p14="http://schemas.microsoft.com/office/powerpoint/2010/main" val="261643221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ADC8-1389-282F-CAD2-A5C603555202}"/>
              </a:ext>
            </a:extLst>
          </p:cNvPr>
          <p:cNvSpPr>
            <a:spLocks noGrp="1"/>
          </p:cNvSpPr>
          <p:nvPr>
            <p:ph type="title"/>
          </p:nvPr>
        </p:nvSpPr>
        <p:spPr/>
        <p:txBody>
          <a:bodyPr>
            <a:normAutofit/>
          </a:bodyPr>
          <a:lstStyle/>
          <a:p>
            <a:r>
              <a:rPr lang="en-US">
                <a:latin typeface="Times New Roman" panose="02020603050405020304" pitchFamily="18" charset="0"/>
                <a:cs typeface="Times New Roman" panose="02020603050405020304" pitchFamily="18" charset="0"/>
              </a:rPr>
              <a:t>Potential Outcomes</a:t>
            </a:r>
          </a:p>
        </p:txBody>
      </p:sp>
      <p:sp>
        <p:nvSpPr>
          <p:cNvPr id="3" name="Text Placeholder 2">
            <a:extLst>
              <a:ext uri="{FF2B5EF4-FFF2-40B4-BE49-F238E27FC236}">
                <a16:creationId xmlns:a16="http://schemas.microsoft.com/office/drawing/2014/main" id="{575E276E-0C07-47B4-5D26-E416FE561B1A}"/>
              </a:ext>
            </a:extLst>
          </p:cNvPr>
          <p:cNvSpPr>
            <a:spLocks noGrp="1"/>
          </p:cNvSpPr>
          <p:nvPr>
            <p:ph type="body" idx="1"/>
          </p:nvPr>
        </p:nvSpPr>
        <p:spPr>
          <a:xfrm>
            <a:off x="0" y="2688560"/>
            <a:ext cx="10464800" cy="5715000"/>
          </a:xfrm>
        </p:spPr>
        <p:txBody>
          <a:bodyPr/>
          <a:lstStyle/>
          <a:p>
            <a:r>
              <a:rPr lang="en-US">
                <a:latin typeface="Times New Roman" panose="02020603050405020304" pitchFamily="18" charset="0"/>
                <a:cs typeface="Times New Roman" panose="02020603050405020304" pitchFamily="18" charset="0"/>
              </a:rPr>
              <a:t>Neyman/Rubin model </a:t>
            </a:r>
          </a:p>
          <a:p>
            <a:r>
              <a:rPr lang="en-US">
                <a:latin typeface="Times New Roman" panose="02020603050405020304" pitchFamily="18" charset="0"/>
                <a:cs typeface="Times New Roman" panose="02020603050405020304" pitchFamily="18" charset="0"/>
              </a:rPr>
              <a:t>Introduction of notation for interventions versus conditioning: Y</a:t>
            </a:r>
            <a:r>
              <a:rPr lang="en-US" baseline="-25000">
                <a:latin typeface="Times New Roman" panose="02020603050405020304" pitchFamily="18" charset="0"/>
                <a:cs typeface="Times New Roman" panose="02020603050405020304" pitchFamily="18" charset="0"/>
              </a:rPr>
              <a:t>t</a:t>
            </a:r>
            <a:r>
              <a:rPr lang="en-US">
                <a:latin typeface="Times New Roman" panose="02020603050405020304" pitchFamily="18" charset="0"/>
                <a:cs typeface="Times New Roman" panose="02020603050405020304" pitchFamily="18" charset="0"/>
              </a:rPr>
              <a:t>(u) is the value that unit u would have if u had been assigned treatment; Y</a:t>
            </a:r>
            <a:r>
              <a:rPr lang="en-US" baseline="-25000">
                <a:latin typeface="Times New Roman" panose="02020603050405020304" pitchFamily="18" charset="0"/>
                <a:cs typeface="Times New Roman" panose="02020603050405020304" pitchFamily="18" charset="0"/>
              </a:rPr>
              <a:t>c</a:t>
            </a:r>
            <a:r>
              <a:rPr lang="en-US">
                <a:latin typeface="Times New Roman" panose="02020603050405020304" pitchFamily="18" charset="0"/>
                <a:cs typeface="Times New Roman" panose="02020603050405020304" pitchFamily="18" charset="0"/>
              </a:rPr>
              <a:t>(u) is the value that unit u would have if u had been assigned control</a:t>
            </a:r>
          </a:p>
          <a:p>
            <a:r>
              <a:rPr lang="en-US">
                <a:latin typeface="Times New Roman" panose="02020603050405020304" pitchFamily="18" charset="0"/>
                <a:cs typeface="Times New Roman" panose="02020603050405020304" pitchFamily="18" charset="0"/>
              </a:rPr>
              <a:t>This was extended from experimental contexts to general contexts</a:t>
            </a:r>
          </a:p>
        </p:txBody>
      </p:sp>
      <p:pic>
        <p:nvPicPr>
          <p:cNvPr id="5" name="Picture 4">
            <a:extLst>
              <a:ext uri="{FF2B5EF4-FFF2-40B4-BE49-F238E27FC236}">
                <a16:creationId xmlns:a16="http://schemas.microsoft.com/office/drawing/2014/main" id="{C2EA7C69-D888-6C4E-CF4B-98776C5E6A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04130" y="4556967"/>
            <a:ext cx="2700670" cy="2708613"/>
          </a:xfrm>
          <a:prstGeom prst="rect">
            <a:avLst/>
          </a:prstGeom>
        </p:spPr>
      </p:pic>
      <p:pic>
        <p:nvPicPr>
          <p:cNvPr id="7" name="Picture 6">
            <a:extLst>
              <a:ext uri="{FF2B5EF4-FFF2-40B4-BE49-F238E27FC236}">
                <a16:creationId xmlns:a16="http://schemas.microsoft.com/office/drawing/2014/main" id="{69C104AC-A48D-1F22-9F99-9ABB267995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8500" y="7099300"/>
            <a:ext cx="2146300" cy="2654300"/>
          </a:xfrm>
          <a:prstGeom prst="rect">
            <a:avLst/>
          </a:prstGeom>
        </p:spPr>
      </p:pic>
    </p:spTree>
    <p:extLst>
      <p:ext uri="{BB962C8B-B14F-4D97-AF65-F5344CB8AC3E}">
        <p14:creationId xmlns:p14="http://schemas.microsoft.com/office/powerpoint/2010/main" val="296462303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ADC8-1389-282F-CAD2-A5C603555202}"/>
              </a:ext>
            </a:extLst>
          </p:cNvPr>
          <p:cNvSpPr>
            <a:spLocks noGrp="1"/>
          </p:cNvSpPr>
          <p:nvPr>
            <p:ph type="title"/>
          </p:nvPr>
        </p:nvSpPr>
        <p:spPr/>
        <p:txBody>
          <a:bodyPr>
            <a:normAutofit/>
          </a:bodyPr>
          <a:lstStyle/>
          <a:p>
            <a:r>
              <a:rPr lang="en-US"/>
              <a:t>Granger Causality</a:t>
            </a:r>
          </a:p>
        </p:txBody>
      </p:sp>
      <p:sp>
        <p:nvSpPr>
          <p:cNvPr id="14" name="Text Placeholder 13">
            <a:extLst>
              <a:ext uri="{FF2B5EF4-FFF2-40B4-BE49-F238E27FC236}">
                <a16:creationId xmlns:a16="http://schemas.microsoft.com/office/drawing/2014/main" id="{D9E02FC5-81F9-003D-3E74-3D28FD11C99C}"/>
              </a:ext>
            </a:extLst>
          </p:cNvPr>
          <p:cNvSpPr>
            <a:spLocks noGrp="1"/>
          </p:cNvSpPr>
          <p:nvPr>
            <p:ph type="body" idx="1"/>
          </p:nvPr>
        </p:nvSpPr>
        <p:spPr>
          <a:xfrm>
            <a:off x="1269999" y="3300228"/>
            <a:ext cx="10464800" cy="5715000"/>
          </a:xfrm>
        </p:spPr>
        <p:txBody>
          <a:bodyPr/>
          <a:lstStyle/>
          <a:p>
            <a:r>
              <a:rPr lang="en-US" b="0" i="0">
                <a:solidFill>
                  <a:srgbClr val="202122"/>
                </a:solidFill>
                <a:effectLst/>
                <a:latin typeface="Arial" panose="020B0604020202020204" pitchFamily="34" charset="0"/>
              </a:rPr>
              <a:t>The cause happens prior to its effect.</a:t>
            </a:r>
          </a:p>
          <a:p>
            <a:r>
              <a:rPr lang="en-US" b="0" i="0">
                <a:solidFill>
                  <a:srgbClr val="202122"/>
                </a:solidFill>
                <a:effectLst/>
                <a:latin typeface="Arial" panose="020B0604020202020204" pitchFamily="34" charset="0"/>
              </a:rPr>
              <a:t>The cause has </a:t>
            </a:r>
            <a:r>
              <a:rPr lang="en-US" b="0" i="1">
                <a:solidFill>
                  <a:srgbClr val="202122"/>
                </a:solidFill>
                <a:effectLst/>
                <a:latin typeface="Arial" panose="020B0604020202020204" pitchFamily="34" charset="0"/>
              </a:rPr>
              <a:t>unique</a:t>
            </a:r>
            <a:r>
              <a:rPr lang="en-US" b="0" i="0">
                <a:solidFill>
                  <a:srgbClr val="202122"/>
                </a:solidFill>
                <a:effectLst/>
                <a:latin typeface="Arial" panose="020B0604020202020204" pitchFamily="34" charset="0"/>
              </a:rPr>
              <a:t> information about the future values of its effect.</a:t>
            </a:r>
          </a:p>
          <a:p>
            <a:br>
              <a:rPr lang="en-US"/>
            </a:br>
            <a:r>
              <a:rPr lang="en-US">
                <a:latin typeface="Times New Roman" panose="02020603050405020304" pitchFamily="18" charset="0"/>
                <a:cs typeface="Times New Roman" panose="02020603050405020304" pitchFamily="18" charset="0"/>
              </a:rPr>
              <a:t>This is more of a test for causality in the graphical sense under a set of assumptions than it is a separate causal model. </a:t>
            </a:r>
          </a:p>
        </p:txBody>
      </p:sp>
      <p:pic>
        <p:nvPicPr>
          <p:cNvPr id="20" name="Picture 19">
            <a:extLst>
              <a:ext uri="{FF2B5EF4-FFF2-40B4-BE49-F238E27FC236}">
                <a16:creationId xmlns:a16="http://schemas.microsoft.com/office/drawing/2014/main" id="{C49C0653-04EA-5D62-0DF3-EAF704DBE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129" y="2534684"/>
            <a:ext cx="12388541" cy="4014972"/>
          </a:xfrm>
          <a:prstGeom prst="rect">
            <a:avLst/>
          </a:prstGeom>
        </p:spPr>
      </p:pic>
    </p:spTree>
    <p:extLst>
      <p:ext uri="{BB962C8B-B14F-4D97-AF65-F5344CB8AC3E}">
        <p14:creationId xmlns:p14="http://schemas.microsoft.com/office/powerpoint/2010/main" val="52108806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ADC8-1389-282F-CAD2-A5C603555202}"/>
              </a:ext>
            </a:extLst>
          </p:cNvPr>
          <p:cNvSpPr>
            <a:spLocks noGrp="1"/>
          </p:cNvSpPr>
          <p:nvPr>
            <p:ph type="title"/>
          </p:nvPr>
        </p:nvSpPr>
        <p:spPr/>
        <p:txBody>
          <a:bodyPr>
            <a:normAutofit fontScale="90000"/>
          </a:bodyPr>
          <a:lstStyle/>
          <a:p>
            <a:r>
              <a:rPr lang="en-US">
                <a:latin typeface="Times New Roman" panose="02020603050405020304" pitchFamily="18" charset="0"/>
                <a:cs typeface="Times New Roman" panose="02020603050405020304" pitchFamily="18" charset="0"/>
              </a:rPr>
              <a:t>Relationships Between Causal Models</a:t>
            </a:r>
          </a:p>
        </p:txBody>
      </p:sp>
      <p:sp>
        <p:nvSpPr>
          <p:cNvPr id="3" name="Text Placeholder 2">
            <a:extLst>
              <a:ext uri="{FF2B5EF4-FFF2-40B4-BE49-F238E27FC236}">
                <a16:creationId xmlns:a16="http://schemas.microsoft.com/office/drawing/2014/main" id="{575E276E-0C07-47B4-5D26-E416FE561B1A}"/>
              </a:ext>
            </a:extLst>
          </p:cNvPr>
          <p:cNvSpPr>
            <a:spLocks noGrp="1"/>
          </p:cNvSpPr>
          <p:nvPr>
            <p:ph type="body" idx="1"/>
          </p:nvPr>
        </p:nvSpPr>
        <p:spPr/>
        <p:txBody>
          <a:bodyPr/>
          <a:lstStyle/>
          <a:p>
            <a:r>
              <a:rPr lang="en-US">
                <a:latin typeface="Times New Roman" panose="02020603050405020304" pitchFamily="18" charset="0"/>
                <a:cs typeface="Times New Roman" panose="02020603050405020304" pitchFamily="18" charset="0"/>
              </a:rPr>
              <a:t>A structural equation model whose functions are represented by a DAG and whose error terms are independent is a special case of a DAG graphical model</a:t>
            </a:r>
          </a:p>
          <a:p>
            <a:r>
              <a:rPr lang="en-US">
                <a:latin typeface="Times New Roman" panose="02020603050405020304" pitchFamily="18" charset="0"/>
                <a:cs typeface="Times New Roman" panose="02020603050405020304" pitchFamily="18" charset="0"/>
              </a:rPr>
              <a:t>Structural equation models allow for correlated errors and cycles</a:t>
            </a:r>
          </a:p>
          <a:p>
            <a:r>
              <a:rPr lang="en-US">
                <a:latin typeface="Times New Roman" panose="02020603050405020304" pitchFamily="18" charset="0"/>
                <a:cs typeface="Times New Roman" panose="02020603050405020304" pitchFamily="18" charset="0"/>
              </a:rPr>
              <a:t>Potential outcome models can be represented in modified DAG models (Robins and Richardson??)</a:t>
            </a:r>
          </a:p>
        </p:txBody>
      </p:sp>
    </p:spTree>
    <p:extLst>
      <p:ext uri="{BB962C8B-B14F-4D97-AF65-F5344CB8AC3E}">
        <p14:creationId xmlns:p14="http://schemas.microsoft.com/office/powerpoint/2010/main" val="73964181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661B88-55EA-E5A7-0B62-BBCF6256A078}"/>
              </a:ext>
            </a:extLst>
          </p:cNvPr>
          <p:cNvSpPr>
            <a:spLocks noGrp="1"/>
          </p:cNvSpPr>
          <p:nvPr>
            <p:ph type="title"/>
          </p:nvPr>
        </p:nvSpPr>
        <p:spPr/>
        <p:txBody>
          <a:bodyPr/>
          <a:lstStyle/>
          <a:p>
            <a:pPr algn="ctr"/>
            <a:r>
              <a:rPr lang="en-US">
                <a:latin typeface="Times New Roman" panose="02020603050405020304" pitchFamily="18" charset="0"/>
                <a:cs typeface="Times New Roman" panose="02020603050405020304" pitchFamily="18" charset="0"/>
              </a:rPr>
              <a:t>Manipulations</a:t>
            </a:r>
          </a:p>
        </p:txBody>
      </p:sp>
      <p:sp>
        <p:nvSpPr>
          <p:cNvPr id="3" name="Text Placeholder 2">
            <a:extLst>
              <a:ext uri="{FF2B5EF4-FFF2-40B4-BE49-F238E27FC236}">
                <a16:creationId xmlns:a16="http://schemas.microsoft.com/office/drawing/2014/main" id="{AC2D2A27-B0A0-CC4B-8E96-048D2A69280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2559322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presenting Causal Relations with Directed Graphs"/>
          <p:cNvSpPr txBox="1">
            <a:spLocks noGrp="1"/>
          </p:cNvSpPr>
          <p:nvPr>
            <p:ph type="title"/>
          </p:nvPr>
        </p:nvSpPr>
        <p:spPr>
          <a:prstGeom prst="rect">
            <a:avLst/>
          </a:prstGeom>
        </p:spPr>
        <p:txBody>
          <a:bodyPr/>
          <a:lstStyle>
            <a:lvl1pPr>
              <a:defRPr sz="6000">
                <a:latin typeface="Baskerville"/>
                <a:ea typeface="Baskerville"/>
                <a:cs typeface="Baskerville"/>
                <a:sym typeface="Baskerville"/>
              </a:defRPr>
            </a:lvl1pPr>
          </a:lstStyle>
          <a:p>
            <a:r>
              <a:rPr lang="en-US"/>
              <a:t>Causal DAGs – Manipulation (Hard)</a:t>
            </a:r>
            <a:endParaRPr/>
          </a:p>
        </p:txBody>
      </p:sp>
      <p:sp>
        <p:nvSpPr>
          <p:cNvPr id="126" name="A directed graph represents a causal structure…"/>
          <p:cNvSpPr txBox="1">
            <a:spLocks noGrp="1"/>
          </p:cNvSpPr>
          <p:nvPr>
            <p:ph type="body" idx="1"/>
          </p:nvPr>
        </p:nvSpPr>
        <p:spPr>
          <a:xfrm>
            <a:off x="1068829" y="2019300"/>
            <a:ext cx="10464800" cy="5715000"/>
          </a:xfrm>
          <a:prstGeom prst="rect">
            <a:avLst/>
          </a:prstGeom>
        </p:spPr>
        <p:txBody>
          <a:bodyPr/>
          <a:lstStyle/>
          <a:p>
            <a:pPr marL="1251857" lvl="1" indent="-489857">
              <a:defRPr sz="3600">
                <a:latin typeface="Baskerville"/>
                <a:ea typeface="Baskerville"/>
                <a:cs typeface="Baskerville"/>
                <a:sym typeface="Baskerville"/>
              </a:defRPr>
            </a:pPr>
            <a:r>
              <a:rPr lang="en-US"/>
              <a:t>A hard manipulation of a causal DAG  breaks all edges   into the variable beinig manipulated</a:t>
            </a:r>
            <a:endParaRPr/>
          </a:p>
          <a:p>
            <a:pPr marL="1251857" lvl="1" indent="-489857">
              <a:defRPr sz="3600">
                <a:latin typeface="Baskerville"/>
                <a:ea typeface="Baskerville"/>
                <a:cs typeface="Baskerville"/>
                <a:sym typeface="Baskerville"/>
              </a:defRPr>
            </a:pPr>
            <a:endParaRPr/>
          </a:p>
          <a:p>
            <a:pPr marL="1251857" lvl="1" indent="-489857">
              <a:defRPr sz="3600">
                <a:latin typeface="Baskerville"/>
                <a:ea typeface="Baskerville"/>
                <a:cs typeface="Baskerville"/>
                <a:sym typeface="Baskerville"/>
              </a:defRPr>
            </a:pPr>
            <a:endParaRPr/>
          </a:p>
          <a:p>
            <a:pPr marL="1251857" lvl="1" indent="-489857">
              <a:defRPr sz="3600">
                <a:latin typeface="Baskerville"/>
                <a:ea typeface="Baskerville"/>
                <a:cs typeface="Baskerville"/>
                <a:sym typeface="Baskerville"/>
              </a:defRPr>
            </a:pPr>
            <a:endParaRPr/>
          </a:p>
          <a:p>
            <a:pPr marL="1251857" lvl="1" indent="-489857">
              <a:defRPr sz="3600">
                <a:latin typeface="Baskerville"/>
                <a:ea typeface="Baskerville"/>
                <a:cs typeface="Baskerville"/>
                <a:sym typeface="Baskerville"/>
              </a:defRPr>
            </a:pPr>
            <a:endParaRPr lang="en-US"/>
          </a:p>
          <a:p>
            <a:pPr marL="1251857" lvl="1" indent="-489857">
              <a:defRPr sz="3600">
                <a:latin typeface="Baskerville"/>
                <a:ea typeface="Baskerville"/>
                <a:cs typeface="Baskerville"/>
                <a:sym typeface="Baskerville"/>
              </a:defRPr>
            </a:pPr>
            <a:r>
              <a:rPr lang="en-US"/>
              <a:t>Smoking     Drinking</a:t>
            </a:r>
            <a:endParaRPr/>
          </a:p>
        </p:txBody>
      </p:sp>
      <p:pic>
        <p:nvPicPr>
          <p:cNvPr id="127" name="Screenshot 2015-09-13 02.18.27.png" descr="Screenshot 2015-09-13 02.18.27.png"/>
          <p:cNvPicPr>
            <a:picLocks noChangeAspect="1"/>
          </p:cNvPicPr>
          <p:nvPr/>
        </p:nvPicPr>
        <p:blipFill>
          <a:blip r:embed="rId3"/>
          <a:stretch>
            <a:fillRect/>
          </a:stretch>
        </p:blipFill>
        <p:spPr>
          <a:xfrm>
            <a:off x="2586275" y="3464754"/>
            <a:ext cx="6616701" cy="2656834"/>
          </a:xfrm>
          <a:prstGeom prst="rect">
            <a:avLst/>
          </a:prstGeom>
          <a:ln w="12700">
            <a:miter lim="400000"/>
          </a:ln>
        </p:spPr>
      </p:pic>
      <p:sp>
        <p:nvSpPr>
          <p:cNvPr id="128" name="(adapted from “Causation, Prediction, and Search” by SGS, 1995)"/>
          <p:cNvSpPr txBox="1"/>
          <p:nvPr/>
        </p:nvSpPr>
        <p:spPr>
          <a:xfrm>
            <a:off x="1954945" y="8242300"/>
            <a:ext cx="8692568" cy="482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2600"/>
            </a:lvl1pPr>
          </a:lstStyle>
          <a:p>
            <a:r>
              <a:t>(adapted from “Causation, Prediction, and Search” by SGS, 1995)</a:t>
            </a:r>
          </a:p>
        </p:txBody>
      </p:sp>
      <p:sp>
        <p:nvSpPr>
          <p:cNvPr id="2" name="Rectangle 1">
            <a:extLst>
              <a:ext uri="{FF2B5EF4-FFF2-40B4-BE49-F238E27FC236}">
                <a16:creationId xmlns:a16="http://schemas.microsoft.com/office/drawing/2014/main" id="{CAD1C0A9-8D77-344D-5B81-949040FB8A72}"/>
              </a:ext>
            </a:extLst>
          </p:cNvPr>
          <p:cNvSpPr/>
          <p:nvPr/>
        </p:nvSpPr>
        <p:spPr>
          <a:xfrm rot="5400000">
            <a:off x="3274684" y="4679649"/>
            <a:ext cx="677065" cy="305275"/>
          </a:xfrm>
          <a:prstGeom prst="rect">
            <a:avLst/>
          </a:prstGeom>
          <a:solidFill>
            <a:schemeClr val="bg1"/>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10" name="Line">
            <a:extLst>
              <a:ext uri="{FF2B5EF4-FFF2-40B4-BE49-F238E27FC236}">
                <a16:creationId xmlns:a16="http://schemas.microsoft.com/office/drawing/2014/main" id="{61318217-420D-4150-611A-D81AEC6BF021}"/>
              </a:ext>
            </a:extLst>
          </p:cNvPr>
          <p:cNvSpPr/>
          <p:nvPr/>
        </p:nvSpPr>
        <p:spPr>
          <a:xfrm flipH="1">
            <a:off x="4254013" y="7096568"/>
            <a:ext cx="1" cy="350548"/>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11" name="Line">
            <a:extLst>
              <a:ext uri="{FF2B5EF4-FFF2-40B4-BE49-F238E27FC236}">
                <a16:creationId xmlns:a16="http://schemas.microsoft.com/office/drawing/2014/main" id="{BC030E77-0287-ABD7-9410-13D26E2AD8AE}"/>
              </a:ext>
            </a:extLst>
          </p:cNvPr>
          <p:cNvSpPr/>
          <p:nvPr/>
        </p:nvSpPr>
        <p:spPr>
          <a:xfrm flipH="1">
            <a:off x="4390393" y="7094901"/>
            <a:ext cx="1" cy="350548"/>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12" name="Line">
            <a:extLst>
              <a:ext uri="{FF2B5EF4-FFF2-40B4-BE49-F238E27FC236}">
                <a16:creationId xmlns:a16="http://schemas.microsoft.com/office/drawing/2014/main" id="{807EF88A-3442-7B89-4B6D-74E31408D17D}"/>
              </a:ext>
            </a:extLst>
          </p:cNvPr>
          <p:cNvSpPr/>
          <p:nvPr/>
        </p:nvSpPr>
        <p:spPr>
          <a:xfrm>
            <a:off x="4143058" y="7445448"/>
            <a:ext cx="388340" cy="1"/>
          </a:xfrm>
          <a:prstGeom prst="line">
            <a:avLst/>
          </a:prstGeom>
          <a:noFill/>
          <a:ln w="254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Tree>
    <p:extLst>
      <p:ext uri="{BB962C8B-B14F-4D97-AF65-F5344CB8AC3E}">
        <p14:creationId xmlns:p14="http://schemas.microsoft.com/office/powerpoint/2010/main" val="346824232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5E153-7AA9-F3E5-A682-339C6A23BEA5}"/>
              </a:ext>
            </a:extLst>
          </p:cNvPr>
          <p:cNvSpPr>
            <a:spLocks noGrp="1"/>
          </p:cNvSpPr>
          <p:nvPr>
            <p:ph type="title"/>
          </p:nvPr>
        </p:nvSpPr>
        <p:spPr>
          <a:xfrm>
            <a:off x="1270000" y="254000"/>
            <a:ext cx="11160790" cy="2438400"/>
          </a:xfrm>
        </p:spPr>
        <p:txBody>
          <a:bodyPr>
            <a:normAutofit/>
          </a:bodyPr>
          <a:lstStyle/>
          <a:p>
            <a:r>
              <a:rPr lang="en-US" sz="4800" dirty="0"/>
              <a:t>Structural Equation Models - Interventions</a:t>
            </a:r>
          </a:p>
        </p:txBody>
      </p:sp>
      <p:sp>
        <p:nvSpPr>
          <p:cNvPr id="4" name="Text Placeholder 3">
            <a:extLst>
              <a:ext uri="{FF2B5EF4-FFF2-40B4-BE49-F238E27FC236}">
                <a16:creationId xmlns:a16="http://schemas.microsoft.com/office/drawing/2014/main" id="{F58F92C0-C3DC-CC40-8440-13F30FCF3C88}"/>
              </a:ext>
            </a:extLst>
          </p:cNvPr>
          <p:cNvSpPr>
            <a:spLocks noGrp="1"/>
          </p:cNvSpPr>
          <p:nvPr>
            <p:ph type="body" idx="1"/>
          </p:nvPr>
        </p:nvSpPr>
        <p:spPr/>
        <p:txBody>
          <a:bodyPr/>
          <a:lstStyle/>
          <a:p>
            <a:endParaRPr lang="en-US"/>
          </a:p>
        </p:txBody>
      </p:sp>
      <p:pic>
        <p:nvPicPr>
          <p:cNvPr id="6" name="Content Placeholder 4">
            <a:extLst>
              <a:ext uri="{FF2B5EF4-FFF2-40B4-BE49-F238E27FC236}">
                <a16:creationId xmlns:a16="http://schemas.microsoft.com/office/drawing/2014/main" id="{D5BD30CE-EE91-490D-B0B1-DB1A00B9ADAF}"/>
              </a:ext>
            </a:extLst>
          </p:cNvPr>
          <p:cNvPicPr>
            <a:picLocks noChangeAspect="1"/>
          </p:cNvPicPr>
          <p:nvPr/>
        </p:nvPicPr>
        <p:blipFill rotWithShape="1">
          <a:blip r:embed="rId3"/>
          <a:srcRect l="1" t="-440" r="-35721" b="-26696"/>
          <a:stretch/>
        </p:blipFill>
        <p:spPr>
          <a:xfrm>
            <a:off x="692679" y="2027219"/>
            <a:ext cx="9712186" cy="9016850"/>
          </a:xfrm>
          <a:prstGeom prst="rect">
            <a:avLst/>
          </a:prstGeom>
        </p:spPr>
      </p:pic>
      <p:sp>
        <p:nvSpPr>
          <p:cNvPr id="8" name="TextBox 7">
            <a:extLst>
              <a:ext uri="{FF2B5EF4-FFF2-40B4-BE49-F238E27FC236}">
                <a16:creationId xmlns:a16="http://schemas.microsoft.com/office/drawing/2014/main" id="{7E02F53B-F2C6-BD37-0BA8-1C26DA60B2E8}"/>
              </a:ext>
            </a:extLst>
          </p:cNvPr>
          <p:cNvSpPr txBox="1"/>
          <p:nvPr/>
        </p:nvSpPr>
        <p:spPr>
          <a:xfrm>
            <a:off x="7802469" y="2566943"/>
            <a:ext cx="5555722" cy="3323987"/>
          </a:xfrm>
          <a:prstGeom prst="rect">
            <a:avLst/>
          </a:prstGeom>
          <a:noFill/>
        </p:spPr>
        <p:txBody>
          <a:bodyPr wrap="square" rtlCol="0">
            <a:spAutoFit/>
          </a:bodyPr>
          <a:lstStyle/>
          <a:p>
            <a:pPr algn="l"/>
            <a:r>
              <a:rPr lang="en-US" dirty="0">
                <a:solidFill>
                  <a:schemeClr val="tx1"/>
                </a:solidFill>
              </a:rPr>
              <a:t>G = b * H’’ + c * C</a:t>
            </a:r>
          </a:p>
          <a:p>
            <a:pPr algn="l"/>
            <a:r>
              <a:rPr lang="en-US" dirty="0">
                <a:solidFill>
                  <a:schemeClr val="tx1"/>
                </a:solidFill>
              </a:rPr>
              <a:t>G’’’ = b * H’’’ + c * C</a:t>
            </a:r>
          </a:p>
          <a:p>
            <a:pPr marL="285750" indent="-285750">
              <a:buFontTx/>
              <a:buChar char="•"/>
            </a:pPr>
            <a:r>
              <a:rPr lang="en-US" dirty="0">
                <a:solidFill>
                  <a:schemeClr val="tx1"/>
                </a:solidFill>
              </a:rPr>
              <a:t> </a:t>
            </a:r>
          </a:p>
          <a:p>
            <a:pPr marL="285750" indent="-285750">
              <a:buFontTx/>
              <a:buChar char="•"/>
            </a:pPr>
            <a:r>
              <a:rPr lang="en-US" dirty="0">
                <a:solidFill>
                  <a:schemeClr val="tx1"/>
                </a:solidFill>
              </a:rPr>
              <a:t> </a:t>
            </a:r>
          </a:p>
          <a:p>
            <a:pPr marL="285750" indent="-285750">
              <a:buFontTx/>
              <a:buChar char="•"/>
            </a:pPr>
            <a:r>
              <a:rPr lang="en-US" dirty="0">
                <a:solidFill>
                  <a:schemeClr val="bg1"/>
                </a:solidFill>
              </a:rPr>
              <a:t> </a:t>
            </a:r>
          </a:p>
        </p:txBody>
      </p:sp>
      <p:sp>
        <p:nvSpPr>
          <p:cNvPr id="5" name="TextBox 4">
            <a:extLst>
              <a:ext uri="{FF2B5EF4-FFF2-40B4-BE49-F238E27FC236}">
                <a16:creationId xmlns:a16="http://schemas.microsoft.com/office/drawing/2014/main" id="{F396C467-ABDF-83C7-8A82-6C6BA201A03F}"/>
              </a:ext>
            </a:extLst>
          </p:cNvPr>
          <p:cNvSpPr txBox="1"/>
          <p:nvPr/>
        </p:nvSpPr>
        <p:spPr>
          <a:xfrm>
            <a:off x="7545343" y="1942738"/>
            <a:ext cx="5057474" cy="738664"/>
          </a:xfrm>
          <a:prstGeom prst="rect">
            <a:avLst/>
          </a:prstGeom>
          <a:noFill/>
        </p:spPr>
        <p:txBody>
          <a:bodyPr wrap="square" rtlCol="0">
            <a:spAutoFit/>
          </a:bodyPr>
          <a:lstStyle/>
          <a:p>
            <a:r>
              <a:rPr lang="en-US" dirty="0">
                <a:solidFill>
                  <a:schemeClr val="tx1"/>
                </a:solidFill>
              </a:rPr>
              <a:t>Intervention on G’’’</a:t>
            </a:r>
          </a:p>
        </p:txBody>
      </p:sp>
      <p:cxnSp>
        <p:nvCxnSpPr>
          <p:cNvPr id="10" name="Straight Connector 9">
            <a:extLst>
              <a:ext uri="{FF2B5EF4-FFF2-40B4-BE49-F238E27FC236}">
                <a16:creationId xmlns:a16="http://schemas.microsoft.com/office/drawing/2014/main" id="{DC1D741F-2126-FB85-0433-B315ADBB02F2}"/>
              </a:ext>
            </a:extLst>
          </p:cNvPr>
          <p:cNvCxnSpPr/>
          <p:nvPr/>
        </p:nvCxnSpPr>
        <p:spPr>
          <a:xfrm>
            <a:off x="7829225" y="3613272"/>
            <a:ext cx="4601565" cy="0"/>
          </a:xfrm>
          <a:prstGeom prst="line">
            <a:avLst/>
          </a:prstGeom>
          <a:noFill/>
          <a:ln w="79375"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FEE0037B-92C8-E562-088D-D1F7F03232D6}"/>
              </a:ext>
            </a:extLst>
          </p:cNvPr>
          <p:cNvSpPr txBox="1"/>
          <p:nvPr/>
        </p:nvSpPr>
        <p:spPr>
          <a:xfrm>
            <a:off x="7601270" y="5976988"/>
            <a:ext cx="5057474" cy="1384995"/>
          </a:xfrm>
          <a:prstGeom prst="rect">
            <a:avLst/>
          </a:prstGeom>
          <a:noFill/>
        </p:spPr>
        <p:txBody>
          <a:bodyPr wrap="square" rtlCol="0">
            <a:spAutoFit/>
          </a:bodyPr>
          <a:lstStyle/>
          <a:p>
            <a:r>
              <a:rPr lang="en-US" dirty="0">
                <a:solidFill>
                  <a:schemeClr val="tx1"/>
                </a:solidFill>
              </a:rPr>
              <a:t>Strotz and Wold - 1960</a:t>
            </a:r>
          </a:p>
        </p:txBody>
      </p:sp>
      <p:pic>
        <p:nvPicPr>
          <p:cNvPr id="13" name="Picture 12">
            <a:extLst>
              <a:ext uri="{FF2B5EF4-FFF2-40B4-BE49-F238E27FC236}">
                <a16:creationId xmlns:a16="http://schemas.microsoft.com/office/drawing/2014/main" id="{BA328495-A26F-C919-99A7-90635F8FBA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48928" y="7374132"/>
            <a:ext cx="1422400" cy="1651000"/>
          </a:xfrm>
          <a:prstGeom prst="rect">
            <a:avLst/>
          </a:prstGeom>
        </p:spPr>
      </p:pic>
      <p:pic>
        <p:nvPicPr>
          <p:cNvPr id="15" name="Picture 14">
            <a:extLst>
              <a:ext uri="{FF2B5EF4-FFF2-40B4-BE49-F238E27FC236}">
                <a16:creationId xmlns:a16="http://schemas.microsoft.com/office/drawing/2014/main" id="{389C8A8F-F8A7-3D51-CB6C-5D8C8BE900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50057" y="7383113"/>
            <a:ext cx="1524000" cy="1308100"/>
          </a:xfrm>
          <a:prstGeom prst="rect">
            <a:avLst/>
          </a:prstGeom>
        </p:spPr>
      </p:pic>
    </p:spTree>
    <p:extLst>
      <p:ext uri="{BB962C8B-B14F-4D97-AF65-F5344CB8AC3E}">
        <p14:creationId xmlns:p14="http://schemas.microsoft.com/office/powerpoint/2010/main" val="252042659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ADC8-1389-282F-CAD2-A5C603555202}"/>
              </a:ext>
            </a:extLst>
          </p:cNvPr>
          <p:cNvSpPr>
            <a:spLocks noGrp="1"/>
          </p:cNvSpPr>
          <p:nvPr>
            <p:ph type="title"/>
          </p:nvPr>
        </p:nvSpPr>
        <p:spPr/>
        <p:txBody>
          <a:bodyPr>
            <a:normAutofit/>
          </a:bodyPr>
          <a:lstStyle/>
          <a:p>
            <a:r>
              <a:rPr lang="en-US" sz="5400" dirty="0">
                <a:latin typeface="Times New Roman" panose="02020603050405020304" pitchFamily="18" charset="0"/>
                <a:cs typeface="Times New Roman" panose="02020603050405020304" pitchFamily="18" charset="0"/>
              </a:rPr>
              <a:t>Potential Outcomes - Manipulations</a:t>
            </a:r>
          </a:p>
        </p:txBody>
      </p:sp>
      <p:sp>
        <p:nvSpPr>
          <p:cNvPr id="3" name="Text Placeholder 2">
            <a:extLst>
              <a:ext uri="{FF2B5EF4-FFF2-40B4-BE49-F238E27FC236}">
                <a16:creationId xmlns:a16="http://schemas.microsoft.com/office/drawing/2014/main" id="{575E276E-0C07-47B4-5D26-E416FE561B1A}"/>
              </a:ext>
            </a:extLst>
          </p:cNvPr>
          <p:cNvSpPr>
            <a:spLocks noGrp="1"/>
          </p:cNvSpPr>
          <p:nvPr>
            <p:ph type="body" idx="1"/>
          </p:nvPr>
        </p:nvSpPr>
        <p:spPr/>
        <p:txBody>
          <a:bodyPr/>
          <a:lstStyle/>
          <a:p>
            <a:r>
              <a:rPr lang="en-US" sz="3600" dirty="0" err="1">
                <a:latin typeface="Times New Roman" panose="02020603050405020304" pitchFamily="18" charset="0"/>
                <a:cs typeface="Times New Roman" panose="02020603050405020304" pitchFamily="18" charset="0"/>
              </a:rPr>
              <a:t>Y</a:t>
            </a:r>
            <a:r>
              <a:rPr lang="en-US" sz="3600" baseline="-25000" dirty="0" err="1">
                <a:latin typeface="Times New Roman" panose="02020603050405020304" pitchFamily="18" charset="0"/>
                <a:cs typeface="Times New Roman" panose="02020603050405020304" pitchFamily="18" charset="0"/>
              </a:rPr>
              <a:t>t</a:t>
            </a:r>
            <a:r>
              <a:rPr lang="en-US" sz="3600" dirty="0">
                <a:latin typeface="Times New Roman" panose="02020603050405020304" pitchFamily="18" charset="0"/>
                <a:cs typeface="Times New Roman" panose="02020603050405020304" pitchFamily="18" charset="0"/>
              </a:rPr>
              <a:t>(u) is the value that unit u would have if u had been assigned treatment; </a:t>
            </a:r>
            <a:r>
              <a:rPr lang="en-US" sz="3600" dirty="0" err="1">
                <a:latin typeface="Times New Roman" panose="02020603050405020304" pitchFamily="18" charset="0"/>
                <a:cs typeface="Times New Roman" panose="02020603050405020304" pitchFamily="18" charset="0"/>
              </a:rPr>
              <a:t>Y</a:t>
            </a:r>
            <a:r>
              <a:rPr lang="en-US" sz="3600" baseline="-25000" dirty="0" err="1">
                <a:latin typeface="Times New Roman" panose="02020603050405020304" pitchFamily="18" charset="0"/>
                <a:cs typeface="Times New Roman" panose="02020603050405020304" pitchFamily="18" charset="0"/>
              </a:rPr>
              <a:t>c</a:t>
            </a:r>
            <a:r>
              <a:rPr lang="en-US" sz="3600" dirty="0">
                <a:latin typeface="Times New Roman" panose="02020603050405020304" pitchFamily="18" charset="0"/>
                <a:cs typeface="Times New Roman" panose="02020603050405020304" pitchFamily="18" charset="0"/>
              </a:rPr>
              <a:t>(u) is the value that unit u would have if u had been assigned control</a:t>
            </a:r>
          </a:p>
          <a:p>
            <a:pPr lvl="1"/>
            <a:r>
              <a:rPr lang="en-US" sz="2400" dirty="0" err="1">
                <a:latin typeface="Times New Roman" panose="02020603050405020304" pitchFamily="18" charset="0"/>
                <a:cs typeface="Times New Roman" panose="02020603050405020304" pitchFamily="18" charset="0"/>
              </a:rPr>
              <a:t>Neyman</a:t>
            </a:r>
            <a:r>
              <a:rPr lang="en-US" sz="2400" dirty="0">
                <a:latin typeface="Times New Roman" panose="02020603050405020304" pitchFamily="18" charset="0"/>
                <a:cs typeface="Times New Roman" panose="02020603050405020304" pitchFamily="18" charset="0"/>
              </a:rPr>
              <a:t>, Jerzy. </a:t>
            </a:r>
            <a:r>
              <a:rPr lang="en-US" sz="2400" i="1" dirty="0">
                <a:latin typeface="Times New Roman" panose="02020603050405020304" pitchFamily="18" charset="0"/>
                <a:cs typeface="Times New Roman" panose="02020603050405020304" pitchFamily="18" charset="0"/>
              </a:rPr>
              <a:t>Sur les applications de la </a:t>
            </a:r>
            <a:r>
              <a:rPr lang="en-US" sz="2400" i="1" dirty="0" err="1">
                <a:latin typeface="Times New Roman" panose="02020603050405020304" pitchFamily="18" charset="0"/>
                <a:cs typeface="Times New Roman" panose="02020603050405020304" pitchFamily="18" charset="0"/>
              </a:rPr>
              <a:t>theorie</a:t>
            </a:r>
            <a:r>
              <a:rPr lang="en-US" sz="2400" i="1" dirty="0">
                <a:latin typeface="Times New Roman" panose="02020603050405020304" pitchFamily="18" charset="0"/>
                <a:cs typeface="Times New Roman" panose="02020603050405020304" pitchFamily="18" charset="0"/>
              </a:rPr>
              <a:t> des </a:t>
            </a:r>
            <a:r>
              <a:rPr lang="en-US" sz="2400" i="1" dirty="0" err="1">
                <a:latin typeface="Times New Roman" panose="02020603050405020304" pitchFamily="18" charset="0"/>
                <a:cs typeface="Times New Roman" panose="02020603050405020304" pitchFamily="18" charset="0"/>
              </a:rPr>
              <a:t>probabilites</a:t>
            </a:r>
            <a:r>
              <a:rPr lang="en-US" sz="2400" i="1" dirty="0">
                <a:latin typeface="Times New Roman" panose="02020603050405020304" pitchFamily="18" charset="0"/>
                <a:cs typeface="Times New Roman" panose="02020603050405020304" pitchFamily="18" charset="0"/>
              </a:rPr>
              <a:t> aux experiences </a:t>
            </a:r>
            <a:r>
              <a:rPr lang="en-US" sz="2400" i="1" dirty="0" err="1">
                <a:latin typeface="Times New Roman" panose="02020603050405020304" pitchFamily="18" charset="0"/>
                <a:cs typeface="Times New Roman" panose="02020603050405020304" pitchFamily="18" charset="0"/>
              </a:rPr>
              <a:t>agricoles</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Essai</a:t>
            </a:r>
            <a:r>
              <a:rPr lang="en-US" sz="2400" i="1" dirty="0">
                <a:latin typeface="Times New Roman" panose="02020603050405020304" pitchFamily="18" charset="0"/>
                <a:cs typeface="Times New Roman" panose="02020603050405020304" pitchFamily="18" charset="0"/>
              </a:rPr>
              <a:t> des </a:t>
            </a:r>
            <a:r>
              <a:rPr lang="en-US" sz="2400" i="1" dirty="0" err="1">
                <a:latin typeface="Times New Roman" panose="02020603050405020304" pitchFamily="18" charset="0"/>
                <a:cs typeface="Times New Roman" panose="02020603050405020304" pitchFamily="18" charset="0"/>
              </a:rPr>
              <a:t>principes</a:t>
            </a:r>
            <a:r>
              <a:rPr lang="en-US" sz="2400" i="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Master's Thesis (1923). Excerpts reprinted in English, Statistical Science, Vol. 5, pp. 463–472. )</a:t>
            </a:r>
          </a:p>
          <a:p>
            <a:r>
              <a:rPr lang="en-US" sz="3600" dirty="0">
                <a:latin typeface="Times New Roman" panose="02020603050405020304" pitchFamily="18" charset="0"/>
                <a:cs typeface="Times New Roman" panose="02020603050405020304" pitchFamily="18" charset="0"/>
              </a:rPr>
              <a:t>This was extended from experimental contexts to general contexts</a:t>
            </a:r>
            <a:r>
              <a:rPr lang="en-US" dirty="0">
                <a:latin typeface="Times New Roman" panose="02020603050405020304" pitchFamily="18" charset="0"/>
                <a:cs typeface="Times New Roman" panose="02020603050405020304" pitchFamily="18" charset="0"/>
              </a:rPr>
              <a:t>. </a:t>
            </a:r>
          </a:p>
          <a:p>
            <a:pPr lvl="1"/>
            <a:r>
              <a:rPr lang="en-US" sz="2800" dirty="0">
                <a:latin typeface="Times New Roman" panose="02020603050405020304" pitchFamily="18" charset="0"/>
                <a:cs typeface="Times New Roman" panose="02020603050405020304" pitchFamily="18" charset="0"/>
              </a:rPr>
              <a:t>Rubin, D. B. (1974), "Estimating Causal Effects of Treatments in Random </a:t>
            </a:r>
            <a:r>
              <a:rPr lang="en-US" sz="2800" dirty="0" err="1">
                <a:latin typeface="Times New Roman" panose="02020603050405020304" pitchFamily="18" charset="0"/>
                <a:cs typeface="Times New Roman" panose="02020603050405020304" pitchFamily="18" charset="0"/>
              </a:rPr>
              <a:t>ized</a:t>
            </a:r>
            <a:r>
              <a:rPr lang="en-US" sz="2800" dirty="0">
                <a:latin typeface="Times New Roman" panose="02020603050405020304" pitchFamily="18" charset="0"/>
                <a:cs typeface="Times New Roman" panose="02020603050405020304" pitchFamily="18" charset="0"/>
              </a:rPr>
              <a:t> and Nonrandomized Studies," Journal of Educational Psychology, 66, 688-701</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91022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Causal Sufficiency"/>
          <p:cNvSpPr txBox="1">
            <a:spLocks noGrp="1"/>
          </p:cNvSpPr>
          <p:nvPr>
            <p:ph type="title"/>
          </p:nvPr>
        </p:nvSpPr>
        <p:spPr>
          <a:prstGeom prst="rect">
            <a:avLst/>
          </a:prstGeom>
          <a:effectLst/>
        </p:spPr>
        <p:txBody>
          <a:bodyPr lIns="65023" tIns="65023" rIns="65023" bIns="65023">
            <a:normAutofit/>
          </a:bodyPr>
          <a:lstStyle>
            <a:lvl1pPr algn="l" defTabSz="1300480">
              <a:lnSpc>
                <a:spcPct val="90000"/>
              </a:lnSpc>
              <a:defRPr sz="6200">
                <a:solidFill>
                  <a:srgbClr val="FFCC66"/>
                </a:solidFill>
                <a:latin typeface="Times New Roman"/>
                <a:ea typeface="Times New Roman"/>
                <a:cs typeface="Times New Roman"/>
                <a:sym typeface="Times New Roman"/>
              </a:defRPr>
            </a:lvl1pPr>
          </a:lstStyle>
          <a:p>
            <a:r>
              <a:rPr sz="6600" dirty="0">
                <a:solidFill>
                  <a:schemeClr val="tx1"/>
                </a:solidFill>
              </a:rPr>
              <a:t>Causal Sufficiency</a:t>
            </a:r>
          </a:p>
        </p:txBody>
      </p:sp>
      <p:sp>
        <p:nvSpPr>
          <p:cNvPr id="269" name="A set of variables is causally sufficient if every cause of two variables in the set is also in the set.…"/>
          <p:cNvSpPr txBox="1">
            <a:spLocks noGrp="1"/>
          </p:cNvSpPr>
          <p:nvPr>
            <p:ph type="body" idx="1"/>
          </p:nvPr>
        </p:nvSpPr>
        <p:spPr>
          <a:prstGeom prst="rect">
            <a:avLst/>
          </a:prstGeom>
          <a:effectLst/>
        </p:spPr>
        <p:txBody>
          <a:bodyPr lIns="65023" tIns="65023" rIns="65023" bIns="65023" anchor="t">
            <a:normAutofit/>
          </a:bodyPr>
          <a:lstStyle/>
          <a:p>
            <a:pPr marL="465364" indent="-465364" defTabSz="1300480">
              <a:lnSpc>
                <a:spcPct val="90000"/>
              </a:lnSpc>
              <a:spcBef>
                <a:spcPts val="900"/>
              </a:spcBef>
              <a:buSzPct val="80000"/>
              <a:buChar char="●"/>
              <a:defRPr>
                <a:solidFill>
                  <a:srgbClr val="FFFFFF"/>
                </a:solidFill>
                <a:latin typeface="Times New Roman"/>
                <a:ea typeface="Times New Roman"/>
                <a:cs typeface="Times New Roman"/>
                <a:sym typeface="Times New Roman"/>
              </a:defRPr>
            </a:pPr>
            <a:r>
              <a:rPr dirty="0">
                <a:solidFill>
                  <a:schemeClr val="tx1"/>
                </a:solidFill>
              </a:rPr>
              <a:t>A set of variables is causally sufficient if every cause of two variables in the set is also in the set.</a:t>
            </a:r>
          </a:p>
          <a:p>
            <a:pPr marL="465364" indent="-465364" defTabSz="1300480">
              <a:lnSpc>
                <a:spcPct val="90000"/>
              </a:lnSpc>
              <a:spcBef>
                <a:spcPts val="900"/>
              </a:spcBef>
              <a:buSzPct val="80000"/>
              <a:buChar char="●"/>
              <a:defRPr>
                <a:solidFill>
                  <a:srgbClr val="FFFFFF"/>
                </a:solidFill>
                <a:latin typeface="Times New Roman"/>
                <a:ea typeface="Times New Roman"/>
                <a:cs typeface="Times New Roman"/>
                <a:sym typeface="Times New Roman"/>
              </a:defRPr>
            </a:pPr>
            <a:r>
              <a:rPr dirty="0">
                <a:solidFill>
                  <a:schemeClr val="tx1"/>
                </a:solidFill>
              </a:rPr>
              <a:t>{PE,CP,SES,IQ} is causally sufficient</a:t>
            </a:r>
          </a:p>
          <a:p>
            <a:pPr marL="465364" indent="-465364" defTabSz="1300480">
              <a:lnSpc>
                <a:spcPct val="90000"/>
              </a:lnSpc>
              <a:spcBef>
                <a:spcPts val="1000"/>
              </a:spcBef>
              <a:buSzPct val="80000"/>
              <a:buChar char="●"/>
              <a:defRPr>
                <a:solidFill>
                  <a:srgbClr val="FFFFFF"/>
                </a:solidFill>
                <a:latin typeface="Times New Roman"/>
                <a:ea typeface="Times New Roman"/>
                <a:cs typeface="Times New Roman"/>
                <a:sym typeface="Times New Roman"/>
              </a:defRPr>
            </a:pPr>
            <a:r>
              <a:rPr dirty="0">
                <a:solidFill>
                  <a:schemeClr val="tx1"/>
                </a:solidFill>
              </a:rPr>
              <a:t>{IQ,CP,SES} is not causally sufficient.</a:t>
            </a:r>
            <a:r>
              <a:rPr sz="4400" dirty="0">
                <a:solidFill>
                  <a:schemeClr val="tx1"/>
                </a:solidFill>
              </a:rPr>
              <a:t> </a:t>
            </a:r>
          </a:p>
        </p:txBody>
      </p:sp>
      <p:sp>
        <p:nvSpPr>
          <p:cNvPr id="28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23</a:t>
            </a:fld>
            <a:endParaRPr/>
          </a:p>
        </p:txBody>
      </p:sp>
      <p:sp>
        <p:nvSpPr>
          <p:cNvPr id="21" name="Line">
            <a:extLst>
              <a:ext uri="{FF2B5EF4-FFF2-40B4-BE49-F238E27FC236}">
                <a16:creationId xmlns:a16="http://schemas.microsoft.com/office/drawing/2014/main" id="{9C2C903C-87BC-9F4A-9959-CE79E5DF3B64}"/>
              </a:ext>
            </a:extLst>
          </p:cNvPr>
          <p:cNvSpPr/>
          <p:nvPr/>
        </p:nvSpPr>
        <p:spPr>
          <a:xfrm>
            <a:off x="3071162" y="6345482"/>
            <a:ext cx="1203398" cy="1058900"/>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2" name="Line">
            <a:extLst>
              <a:ext uri="{FF2B5EF4-FFF2-40B4-BE49-F238E27FC236}">
                <a16:creationId xmlns:a16="http://schemas.microsoft.com/office/drawing/2014/main" id="{13B51180-59EC-944D-A3D0-3DFBC07DB421}"/>
              </a:ext>
            </a:extLst>
          </p:cNvPr>
          <p:cNvSpPr/>
          <p:nvPr/>
        </p:nvSpPr>
        <p:spPr>
          <a:xfrm>
            <a:off x="3071162" y="6345482"/>
            <a:ext cx="2858350" cy="1228232"/>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3" name="Line">
            <a:extLst>
              <a:ext uri="{FF2B5EF4-FFF2-40B4-BE49-F238E27FC236}">
                <a16:creationId xmlns:a16="http://schemas.microsoft.com/office/drawing/2014/main" id="{59559391-FD32-A047-A2B5-A18E6DDA276A}"/>
              </a:ext>
            </a:extLst>
          </p:cNvPr>
          <p:cNvSpPr/>
          <p:nvPr/>
        </p:nvSpPr>
        <p:spPr>
          <a:xfrm flipV="1">
            <a:off x="3127607" y="8052363"/>
            <a:ext cx="1165015" cy="1101797"/>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4" name="Line">
            <a:extLst>
              <a:ext uri="{FF2B5EF4-FFF2-40B4-BE49-F238E27FC236}">
                <a16:creationId xmlns:a16="http://schemas.microsoft.com/office/drawing/2014/main" id="{6DEF028C-BE14-AA4A-9E0D-BA7F60FD24F7}"/>
              </a:ext>
            </a:extLst>
          </p:cNvPr>
          <p:cNvSpPr/>
          <p:nvPr/>
        </p:nvSpPr>
        <p:spPr>
          <a:xfrm flipV="1">
            <a:off x="3127607" y="7831101"/>
            <a:ext cx="2801905" cy="1304997"/>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5" name="Line">
            <a:extLst>
              <a:ext uri="{FF2B5EF4-FFF2-40B4-BE49-F238E27FC236}">
                <a16:creationId xmlns:a16="http://schemas.microsoft.com/office/drawing/2014/main" id="{D6E98040-9D5E-0D45-B8D0-BA9BB2F95073}"/>
              </a:ext>
            </a:extLst>
          </p:cNvPr>
          <p:cNvSpPr/>
          <p:nvPr/>
        </p:nvSpPr>
        <p:spPr>
          <a:xfrm>
            <a:off x="4708052" y="7675314"/>
            <a:ext cx="1090509" cy="1"/>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6" name="Line">
            <a:extLst>
              <a:ext uri="{FF2B5EF4-FFF2-40B4-BE49-F238E27FC236}">
                <a16:creationId xmlns:a16="http://schemas.microsoft.com/office/drawing/2014/main" id="{25D72692-97AE-D54D-96C2-A9FFB3BFCD05}"/>
              </a:ext>
            </a:extLst>
          </p:cNvPr>
          <p:cNvSpPr/>
          <p:nvPr/>
        </p:nvSpPr>
        <p:spPr>
          <a:xfrm>
            <a:off x="3102771" y="7702407"/>
            <a:ext cx="1097282" cy="1"/>
          </a:xfrm>
          <a:prstGeom prst="line">
            <a:avLst/>
          </a:prstGeom>
          <a:noFill/>
          <a:ln w="50800" cap="flat">
            <a:solidFill>
              <a:schemeClr val="tx1"/>
            </a:solidFill>
            <a:prstDash val="solid"/>
            <a:round/>
            <a:tail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7" name="Line">
            <a:extLst>
              <a:ext uri="{FF2B5EF4-FFF2-40B4-BE49-F238E27FC236}">
                <a16:creationId xmlns:a16="http://schemas.microsoft.com/office/drawing/2014/main" id="{488526D3-8C70-6849-8A2E-53D662BF4792}"/>
              </a:ext>
            </a:extLst>
          </p:cNvPr>
          <p:cNvSpPr/>
          <p:nvPr/>
        </p:nvSpPr>
        <p:spPr>
          <a:xfrm rot="10800000">
            <a:off x="1696175" y="6316131"/>
            <a:ext cx="690882" cy="276126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4897"/>
                  <a:pt x="21600" y="10939"/>
                </a:cubicBezTo>
                <a:cubicBezTo>
                  <a:pt x="21600" y="16037"/>
                  <a:pt x="14644" y="20460"/>
                  <a:pt x="4831" y="21600"/>
                </a:cubicBezTo>
              </a:path>
            </a:pathLst>
          </a:custGeom>
          <a:noFill/>
          <a:ln w="50800" cap="flat">
            <a:solidFill>
              <a:schemeClr val="tx1"/>
            </a:solidFill>
            <a:prstDash val="solid"/>
            <a:round/>
            <a:headEnd type="triangle" w="med" len="me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
        <p:nvSpPr>
          <p:cNvPr id="28" name="PE">
            <a:extLst>
              <a:ext uri="{FF2B5EF4-FFF2-40B4-BE49-F238E27FC236}">
                <a16:creationId xmlns:a16="http://schemas.microsoft.com/office/drawing/2014/main" id="{39045A76-CE82-0F4C-B3C9-BF9F5FB3CA9B}"/>
              </a:ext>
            </a:extLst>
          </p:cNvPr>
          <p:cNvSpPr txBox="1"/>
          <p:nvPr/>
        </p:nvSpPr>
        <p:spPr>
          <a:xfrm>
            <a:off x="4122836" y="7438247"/>
            <a:ext cx="721136" cy="65453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5023" tIns="65023" rIns="65023" bIns="65023" numCol="1" anchor="t">
            <a:spAutoFit/>
          </a:bodyPr>
          <a:lstStyle>
            <a:lvl1pPr algn="l" defTabSz="1300480">
              <a:spcBef>
                <a:spcPts val="1700"/>
              </a:spcBef>
              <a:defRPr sz="2800">
                <a:solidFill>
                  <a:srgbClr val="FFFFFF"/>
                </a:solidFill>
                <a:latin typeface="Arial"/>
                <a:ea typeface="Arial"/>
                <a:cs typeface="Arial"/>
                <a:sym typeface="Arial"/>
              </a:defRPr>
            </a:lvl1pPr>
          </a:lstStyle>
          <a:p>
            <a:r>
              <a:rPr sz="3400" dirty="0">
                <a:solidFill>
                  <a:schemeClr val="tx1"/>
                </a:solidFill>
                <a:latin typeface="Times New Roman" panose="02020603050405020304" pitchFamily="18" charset="0"/>
                <a:cs typeface="Times New Roman" panose="02020603050405020304" pitchFamily="18" charset="0"/>
                <a:sym typeface="Gill Sans"/>
              </a:rPr>
              <a:t>PE</a:t>
            </a:r>
          </a:p>
        </p:txBody>
      </p:sp>
      <p:sp>
        <p:nvSpPr>
          <p:cNvPr id="29" name="CP">
            <a:extLst>
              <a:ext uri="{FF2B5EF4-FFF2-40B4-BE49-F238E27FC236}">
                <a16:creationId xmlns:a16="http://schemas.microsoft.com/office/drawing/2014/main" id="{C922E2F6-AA46-4B48-BB9D-60CC6E8D26B3}"/>
              </a:ext>
            </a:extLst>
          </p:cNvPr>
          <p:cNvSpPr txBox="1"/>
          <p:nvPr/>
        </p:nvSpPr>
        <p:spPr>
          <a:xfrm>
            <a:off x="5843264" y="7472114"/>
            <a:ext cx="721136" cy="65453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5023" tIns="65023" rIns="65023" bIns="65023" numCol="1" anchor="t">
            <a:spAutoFit/>
          </a:bodyPr>
          <a:lstStyle>
            <a:lvl1pPr algn="l" defTabSz="1300480">
              <a:spcBef>
                <a:spcPts val="1700"/>
              </a:spcBef>
              <a:defRPr sz="2800">
                <a:solidFill>
                  <a:srgbClr val="FFFFFF"/>
                </a:solidFill>
                <a:latin typeface="Arial"/>
                <a:ea typeface="Arial"/>
                <a:cs typeface="Arial"/>
                <a:sym typeface="Arial"/>
              </a:defRPr>
            </a:lvl1pPr>
          </a:lstStyle>
          <a:p>
            <a:r>
              <a:rPr sz="3400" dirty="0">
                <a:solidFill>
                  <a:schemeClr val="tx1"/>
                </a:solidFill>
                <a:latin typeface="Times New Roman" panose="02020603050405020304" pitchFamily="18" charset="0"/>
                <a:cs typeface="Times New Roman" panose="02020603050405020304" pitchFamily="18" charset="0"/>
                <a:sym typeface="Gill Sans"/>
              </a:rPr>
              <a:t>CP</a:t>
            </a:r>
          </a:p>
        </p:txBody>
      </p:sp>
      <p:sp>
        <p:nvSpPr>
          <p:cNvPr id="30" name="SEX">
            <a:extLst>
              <a:ext uri="{FF2B5EF4-FFF2-40B4-BE49-F238E27FC236}">
                <a16:creationId xmlns:a16="http://schemas.microsoft.com/office/drawing/2014/main" id="{08604499-FE8C-ED4E-9623-AFB0B0489865}"/>
              </a:ext>
            </a:extLst>
          </p:cNvPr>
          <p:cNvSpPr txBox="1"/>
          <p:nvPr/>
        </p:nvSpPr>
        <p:spPr>
          <a:xfrm>
            <a:off x="2126959" y="7415669"/>
            <a:ext cx="1100442" cy="65453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5023" tIns="65023" rIns="65023" bIns="65023" numCol="1" anchor="t">
            <a:spAutoFit/>
          </a:bodyPr>
          <a:lstStyle>
            <a:lvl1pPr algn="l" defTabSz="1300480">
              <a:spcBef>
                <a:spcPts val="1700"/>
              </a:spcBef>
              <a:defRPr sz="2800">
                <a:solidFill>
                  <a:srgbClr val="FFFFFF"/>
                </a:solidFill>
                <a:latin typeface="Arial"/>
                <a:ea typeface="Arial"/>
                <a:cs typeface="Arial"/>
                <a:sym typeface="Arial"/>
              </a:defRPr>
            </a:lvl1pPr>
          </a:lstStyle>
          <a:p>
            <a:r>
              <a:rPr sz="3400" dirty="0">
                <a:solidFill>
                  <a:schemeClr val="tx1"/>
                </a:solidFill>
                <a:latin typeface="Times New Roman" panose="02020603050405020304" pitchFamily="18" charset="0"/>
                <a:cs typeface="Times New Roman" panose="02020603050405020304" pitchFamily="18" charset="0"/>
                <a:sym typeface="Gill Sans"/>
              </a:rPr>
              <a:t>SEX</a:t>
            </a:r>
          </a:p>
        </p:txBody>
      </p:sp>
      <p:sp>
        <p:nvSpPr>
          <p:cNvPr id="31" name="SES">
            <a:extLst>
              <a:ext uri="{FF2B5EF4-FFF2-40B4-BE49-F238E27FC236}">
                <a16:creationId xmlns:a16="http://schemas.microsoft.com/office/drawing/2014/main" id="{1EB51941-3909-AA4C-89F8-59E9340FCDEE}"/>
              </a:ext>
            </a:extLst>
          </p:cNvPr>
          <p:cNvSpPr txBox="1"/>
          <p:nvPr/>
        </p:nvSpPr>
        <p:spPr>
          <a:xfrm>
            <a:off x="2257009" y="5988863"/>
            <a:ext cx="998084" cy="65453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5023" tIns="65023" rIns="65023" bIns="65023" numCol="1" anchor="t">
            <a:spAutoFit/>
          </a:bodyPr>
          <a:lstStyle>
            <a:lvl1pPr algn="l" defTabSz="1300480">
              <a:spcBef>
                <a:spcPts val="1700"/>
              </a:spcBef>
              <a:defRPr sz="2800">
                <a:solidFill>
                  <a:srgbClr val="FFFFFF"/>
                </a:solidFill>
                <a:latin typeface="Arial"/>
                <a:ea typeface="Arial"/>
                <a:cs typeface="Arial"/>
                <a:sym typeface="Arial"/>
              </a:defRPr>
            </a:lvl1pPr>
          </a:lstStyle>
          <a:p>
            <a:r>
              <a:rPr sz="3400" dirty="0">
                <a:solidFill>
                  <a:schemeClr val="tx1"/>
                </a:solidFill>
                <a:latin typeface="Times New Roman" panose="02020603050405020304" pitchFamily="18" charset="0"/>
                <a:cs typeface="Times New Roman" panose="02020603050405020304" pitchFamily="18" charset="0"/>
                <a:sym typeface="Gill Sans"/>
              </a:rPr>
              <a:t>SES</a:t>
            </a:r>
          </a:p>
        </p:txBody>
      </p:sp>
      <p:sp>
        <p:nvSpPr>
          <p:cNvPr id="32" name="IQ">
            <a:extLst>
              <a:ext uri="{FF2B5EF4-FFF2-40B4-BE49-F238E27FC236}">
                <a16:creationId xmlns:a16="http://schemas.microsoft.com/office/drawing/2014/main" id="{0339A1F8-C71F-4745-846D-9347723BBB89}"/>
              </a:ext>
            </a:extLst>
          </p:cNvPr>
          <p:cNvSpPr txBox="1"/>
          <p:nvPr/>
        </p:nvSpPr>
        <p:spPr>
          <a:xfrm>
            <a:off x="2454337" y="8858391"/>
            <a:ext cx="1100443" cy="65453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5023" tIns="65023" rIns="65023" bIns="65023" numCol="1" anchor="t">
            <a:spAutoFit/>
          </a:bodyPr>
          <a:lstStyle>
            <a:lvl1pPr algn="l" defTabSz="1300480">
              <a:spcBef>
                <a:spcPts val="1700"/>
              </a:spcBef>
              <a:defRPr sz="2800">
                <a:solidFill>
                  <a:srgbClr val="FFFFFF"/>
                </a:solidFill>
                <a:latin typeface="Arial"/>
                <a:ea typeface="Arial"/>
                <a:cs typeface="Arial"/>
                <a:sym typeface="Arial"/>
              </a:defRPr>
            </a:lvl1pPr>
          </a:lstStyle>
          <a:p>
            <a:r>
              <a:rPr sz="3400" dirty="0">
                <a:solidFill>
                  <a:schemeClr val="tx1"/>
                </a:solidFill>
                <a:latin typeface="Times New Roman" panose="02020603050405020304" pitchFamily="18" charset="0"/>
                <a:cs typeface="Times New Roman" panose="02020603050405020304" pitchFamily="18" charset="0"/>
                <a:sym typeface="Gill Sans"/>
              </a:rPr>
              <a:t>IQ</a:t>
            </a:r>
          </a:p>
        </p:txBody>
      </p:sp>
      <p:sp>
        <p:nvSpPr>
          <p:cNvPr id="33" name="Line">
            <a:extLst>
              <a:ext uri="{FF2B5EF4-FFF2-40B4-BE49-F238E27FC236}">
                <a16:creationId xmlns:a16="http://schemas.microsoft.com/office/drawing/2014/main" id="{651B95FB-1BFC-D941-9AC0-24B654FEC3C3}"/>
              </a:ext>
            </a:extLst>
          </p:cNvPr>
          <p:cNvSpPr/>
          <p:nvPr/>
        </p:nvSpPr>
        <p:spPr>
          <a:xfrm flipH="1">
            <a:off x="6667499" y="6173543"/>
            <a:ext cx="1" cy="350548"/>
          </a:xfrm>
          <a:prstGeom prst="line">
            <a:avLst/>
          </a:prstGeom>
          <a:noFill/>
          <a:ln w="12700" cap="flat">
            <a:solidFill>
              <a:schemeClr val="tx1"/>
            </a:solidFill>
            <a:prstDash val="solid"/>
            <a:round/>
          </a:ln>
          <a:effectLst/>
        </p:spPr>
        <p:txBody>
          <a:bodyPr wrap="square" lIns="65023" tIns="65023" rIns="65023" bIns="65023" numCol="1" anchor="t">
            <a:noAutofit/>
          </a:bodyPr>
          <a:lstStyle/>
          <a:p>
            <a:pPr algn="l" defTabSz="1300480">
              <a:defRPr sz="3400">
                <a:solidFill>
                  <a:srgbClr val="FFFFFF"/>
                </a:solidFill>
                <a:latin typeface="Arial"/>
                <a:ea typeface="Arial"/>
                <a:cs typeface="Arial"/>
                <a:sym typeface="Arial"/>
              </a:defRPr>
            </a:pPr>
            <a:endParaRPr/>
          </a:p>
        </p:txBody>
      </p:sp>
    </p:spTree>
    <p:extLst>
      <p:ext uri="{BB962C8B-B14F-4D97-AF65-F5344CB8AC3E}">
        <p14:creationId xmlns:p14="http://schemas.microsoft.com/office/powerpoint/2010/main" val="2452660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ADC8-1389-282F-CAD2-A5C603555202}"/>
              </a:ext>
            </a:extLst>
          </p:cNvPr>
          <p:cNvSpPr>
            <a:spLocks noGrp="1"/>
          </p:cNvSpPr>
          <p:nvPr>
            <p:ph type="title"/>
          </p:nvPr>
        </p:nvSpPr>
        <p:spPr/>
        <p:txBody>
          <a:bodyPr>
            <a:normAutofit/>
          </a:bodyPr>
          <a:lstStyle/>
          <a:p>
            <a:r>
              <a:rPr lang="en-US" sz="6000" dirty="0">
                <a:latin typeface="Baskerville"/>
                <a:ea typeface="Baskerville"/>
                <a:sym typeface="Baskerville"/>
              </a:rPr>
              <a:t>Frequently Made Assumptions</a:t>
            </a:r>
          </a:p>
        </p:txBody>
      </p:sp>
      <p:sp>
        <p:nvSpPr>
          <p:cNvPr id="7" name="Text Placeholder 2">
            <a:extLst>
              <a:ext uri="{FF2B5EF4-FFF2-40B4-BE49-F238E27FC236}">
                <a16:creationId xmlns:a16="http://schemas.microsoft.com/office/drawing/2014/main" id="{E51E616F-63DD-201F-4105-21CB9883725C}"/>
              </a:ext>
            </a:extLst>
          </p:cNvPr>
          <p:cNvSpPr txBox="1">
            <a:spLocks/>
          </p:cNvSpPr>
          <p:nvPr/>
        </p:nvSpPr>
        <p:spPr>
          <a:xfrm>
            <a:off x="1270000" y="2343298"/>
            <a:ext cx="10464800" cy="5715000"/>
          </a:xfrm>
          <a:prstGeom prst="rect">
            <a:avLst/>
          </a:prstGeom>
          <a:ln w="12700">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marL="889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1pPr>
            <a:lvl2pPr marL="13335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2pPr>
            <a:lvl3pPr marL="1778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3pPr>
            <a:lvl4pPr marL="22225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4pPr>
            <a:lvl5pPr marL="2667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5pPr>
            <a:lvl6pPr marL="30945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6pPr>
            <a:lvl7pPr marL="34501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7pPr>
            <a:lvl8pPr marL="38057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8pPr>
            <a:lvl9pPr marL="41613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9pPr>
          </a:lstStyle>
          <a:p>
            <a:pPr marL="317500" indent="0" hangingPunct="1">
              <a:buFontTx/>
              <a:buNone/>
            </a:pPr>
            <a:endParaRPr lang="en-US">
              <a:latin typeface="Times New Roman" panose="02020603050405020304" pitchFamily="18" charset="0"/>
              <a:cs typeface="Times New Roman" panose="02020603050405020304" pitchFamily="18" charset="0"/>
            </a:endParaRPr>
          </a:p>
          <a:p>
            <a:pPr hangingPunct="1"/>
            <a:r>
              <a:rPr lang="en-US">
                <a:latin typeface="Times New Roman" panose="02020603050405020304" pitchFamily="18" charset="0"/>
                <a:cs typeface="Times New Roman" panose="02020603050405020304" pitchFamily="18" charset="0"/>
              </a:rPr>
              <a:t>Each structural equation represnts a manipulable mechanism (or each potential outcome is well defined).</a:t>
            </a:r>
          </a:p>
          <a:p>
            <a:pPr hangingPunct="1"/>
            <a:r>
              <a:rPr lang="en-US">
                <a:latin typeface="Times New Roman" panose="02020603050405020304" pitchFamily="18" charset="0"/>
                <a:cs typeface="Times New Roman" panose="02020603050405020304" pitchFamily="18" charset="0"/>
              </a:rPr>
              <a:t>The causal structure is represented by a directed acyclic graph. </a:t>
            </a:r>
          </a:p>
          <a:p>
            <a:pPr hangingPunct="1"/>
            <a:r>
              <a:rPr lang="en-US">
                <a:latin typeface="Times New Roman" panose="02020603050405020304" pitchFamily="18" charset="0"/>
                <a:cs typeface="Times New Roman" panose="02020603050405020304" pitchFamily="18" charset="0"/>
              </a:rPr>
              <a:t>Stable Unit Treatment Value Assumption - potential outcomes for a given observation respond only to its own treatment status; potential outcomes are invariant to random assignment of others</a:t>
            </a:r>
          </a:p>
        </p:txBody>
      </p:sp>
    </p:spTree>
    <p:extLst>
      <p:ext uri="{BB962C8B-B14F-4D97-AF65-F5344CB8AC3E}">
        <p14:creationId xmlns:p14="http://schemas.microsoft.com/office/powerpoint/2010/main" val="103847520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ADC8-1389-282F-CAD2-A5C603555202}"/>
              </a:ext>
            </a:extLst>
          </p:cNvPr>
          <p:cNvSpPr>
            <a:spLocks noGrp="1"/>
          </p:cNvSpPr>
          <p:nvPr>
            <p:ph type="title"/>
          </p:nvPr>
        </p:nvSpPr>
        <p:spPr/>
        <p:txBody>
          <a:bodyPr>
            <a:normAutofit/>
          </a:bodyPr>
          <a:lstStyle/>
          <a:p>
            <a:r>
              <a:rPr lang="en-US" sz="6000" dirty="0">
                <a:latin typeface="Baskerville"/>
                <a:ea typeface="Baskerville"/>
                <a:sym typeface="Baskerville"/>
              </a:rPr>
              <a:t>Frequently Made Assumptions</a:t>
            </a:r>
          </a:p>
        </p:txBody>
      </p:sp>
      <p:sp>
        <p:nvSpPr>
          <p:cNvPr id="3" name="Text Placeholder 2">
            <a:extLst>
              <a:ext uri="{FF2B5EF4-FFF2-40B4-BE49-F238E27FC236}">
                <a16:creationId xmlns:a16="http://schemas.microsoft.com/office/drawing/2014/main" id="{575E276E-0C07-47B4-5D26-E416FE561B1A}"/>
              </a:ext>
            </a:extLst>
          </p:cNvPr>
          <p:cNvSpPr>
            <a:spLocks noGrp="1"/>
          </p:cNvSpPr>
          <p:nvPr>
            <p:ph type="body" idx="1"/>
          </p:nvPr>
        </p:nvSpPr>
        <p:spPr>
          <a:xfrm>
            <a:off x="1270000" y="2019300"/>
            <a:ext cx="10464800" cy="5715000"/>
          </a:xfrm>
        </p:spPr>
        <p:txBody>
          <a:bodyPr/>
          <a:lstStyle/>
          <a:p>
            <a:r>
              <a:rPr lang="en-US">
                <a:latin typeface="Times New Roman" panose="02020603050405020304" pitchFamily="18" charset="0"/>
                <a:cs typeface="Times New Roman" panose="02020603050405020304" pitchFamily="18" charset="0"/>
              </a:rPr>
              <a:t>Causal Markov Assumption –If a set of variables is causally sufficient, each variable  is  independent of its non-effects conditional on its immediate causes)</a:t>
            </a:r>
          </a:p>
          <a:p>
            <a:r>
              <a:rPr lang="en-US">
                <a:latin typeface="Times New Roman" panose="02020603050405020304" pitchFamily="18" charset="0"/>
                <a:cs typeface="Times New Roman" panose="02020603050405020304" pitchFamily="18" charset="0"/>
              </a:rPr>
              <a:t>Simplicity Assumption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196971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Causal Structure vs. Statistical Independence (SGS, et al.)"/>
          <p:cNvSpPr txBox="1">
            <a:spLocks noGrp="1"/>
          </p:cNvSpPr>
          <p:nvPr>
            <p:ph type="title"/>
          </p:nvPr>
        </p:nvSpPr>
        <p:spPr>
          <a:prstGeom prst="rect">
            <a:avLst/>
          </a:prstGeom>
        </p:spPr>
        <p:txBody>
          <a:bodyPr>
            <a:normAutofit/>
          </a:bodyPr>
          <a:lstStyle/>
          <a:p>
            <a:pPr>
              <a:defRPr sz="4620">
                <a:latin typeface="Hoefler Text"/>
                <a:ea typeface="Hoefler Text"/>
                <a:cs typeface="Hoefler Text"/>
                <a:sym typeface="Hoefler Text"/>
              </a:defRPr>
            </a:pPr>
            <a:r>
              <a:rPr lang="en-US" sz="6000" dirty="0">
                <a:latin typeface="Baskerville"/>
                <a:ea typeface="Baskerville"/>
                <a:sym typeface="Baskerville"/>
              </a:rPr>
              <a:t>Simplicity Assumption</a:t>
            </a:r>
            <a:endParaRPr sz="6000" dirty="0">
              <a:latin typeface="Baskerville"/>
              <a:ea typeface="Baskerville"/>
              <a:sym typeface="Baskerville"/>
            </a:endParaRPr>
          </a:p>
        </p:txBody>
      </p:sp>
      <p:sp>
        <p:nvSpPr>
          <p:cNvPr id="249" name="causal structure…"/>
          <p:cNvSpPr/>
          <p:nvPr/>
        </p:nvSpPr>
        <p:spPr>
          <a:xfrm>
            <a:off x="292100" y="3911600"/>
            <a:ext cx="3810000" cy="3340100"/>
          </a:xfrm>
          <a:prstGeom prst="roundRect">
            <a:avLst>
              <a:gd name="adj" fmla="val 4943"/>
            </a:avLst>
          </a:prstGeom>
          <a:ln w="50800">
            <a:solidFill>
              <a:srgbClr val="575757"/>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defRPr sz="4000">
                <a:solidFill>
                  <a:srgbClr val="000000">
                    <a:alpha val="69000"/>
                  </a:srgbClr>
                </a:solidFill>
                <a:effectLst>
                  <a:outerShdw blurRad="25400" dist="25400" dir="2700000" rotWithShape="0">
                    <a:srgbClr val="FFFFFF">
                      <a:alpha val="75000"/>
                    </a:srgbClr>
                  </a:outerShdw>
                </a:effectLst>
              </a:defRPr>
            </a:pPr>
            <a:r>
              <a:rPr dirty="0"/>
              <a:t>causal structure</a:t>
            </a:r>
          </a:p>
          <a:p>
            <a:pPr>
              <a:defRPr sz="4000">
                <a:solidFill>
                  <a:srgbClr val="000000">
                    <a:alpha val="69000"/>
                  </a:srgbClr>
                </a:solidFill>
                <a:effectLst>
                  <a:outerShdw blurRad="25400" dist="25400" dir="2700000" rotWithShape="0">
                    <a:srgbClr val="FFFFFF">
                      <a:alpha val="75000"/>
                    </a:srgbClr>
                  </a:outerShdw>
                </a:effectLst>
              </a:defRPr>
            </a:pPr>
            <a:r>
              <a:rPr dirty="0"/>
              <a:t>(causal graph)</a:t>
            </a:r>
          </a:p>
          <a:p>
            <a:pPr>
              <a:defRPr sz="4000">
                <a:effectLst>
                  <a:outerShdw blurRad="25400" dist="25400" dir="2700000" rotWithShape="0">
                    <a:srgbClr val="FFFFFF">
                      <a:alpha val="75000"/>
                    </a:srgbClr>
                  </a:outerShdw>
                </a:effectLst>
              </a:defRPr>
            </a:pPr>
            <a:r>
              <a:rPr dirty="0"/>
              <a:t> Y → X → Z</a:t>
            </a:r>
          </a:p>
          <a:p>
            <a:pPr>
              <a:defRPr sz="4000">
                <a:effectLst>
                  <a:outerShdw blurRad="25400" dist="25400" dir="2700000" rotWithShape="0">
                    <a:srgbClr val="FFFFFF">
                      <a:alpha val="75000"/>
                    </a:srgbClr>
                  </a:outerShdw>
                </a:effectLst>
              </a:defRPr>
            </a:pPr>
            <a:endParaRPr dirty="0"/>
          </a:p>
          <a:p>
            <a:pPr>
              <a:defRPr sz="4000" b="1">
                <a:effectLst>
                  <a:outerShdw blurRad="25400" dist="25400" dir="2700000" rotWithShape="0">
                    <a:srgbClr val="FFFFFF">
                      <a:alpha val="75000"/>
                    </a:srgbClr>
                  </a:outerShdw>
                </a:effectLst>
              </a:defRPr>
            </a:pPr>
            <a:endParaRPr dirty="0"/>
          </a:p>
        </p:txBody>
      </p:sp>
      <p:sp>
        <p:nvSpPr>
          <p:cNvPr id="250" name="Statistical independence(s)…"/>
          <p:cNvSpPr/>
          <p:nvPr/>
        </p:nvSpPr>
        <p:spPr>
          <a:xfrm>
            <a:off x="8788400" y="3949700"/>
            <a:ext cx="3873500" cy="2603500"/>
          </a:xfrm>
          <a:prstGeom prst="roundRect">
            <a:avLst>
              <a:gd name="adj" fmla="val 6341"/>
            </a:avLst>
          </a:prstGeom>
          <a:noFill/>
          <a:ln w="50800" cap="flat">
            <a:solidFill>
              <a:srgbClr val="575757"/>
            </a:solidFill>
            <a:prstDash val="solid"/>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p>
            <a:pPr>
              <a:defRPr sz="4000">
                <a:solidFill>
                  <a:srgbClr val="000000">
                    <a:alpha val="69000"/>
                  </a:srgbClr>
                </a:solidFill>
                <a:effectLst>
                  <a:outerShdw blurRad="25400" dist="25400" dir="2700000" rotWithShape="0">
                    <a:srgbClr val="FFFFFF">
                      <a:alpha val="75000"/>
                    </a:srgbClr>
                  </a:outerShdw>
                </a:effectLst>
              </a:defRPr>
            </a:pPr>
            <a:r>
              <a:t>Statistical independence(s)</a:t>
            </a:r>
          </a:p>
          <a:p>
            <a:pPr>
              <a:defRPr sz="4000">
                <a:solidFill>
                  <a:srgbClr val="FF3AD5"/>
                </a:solidFill>
                <a:effectLst>
                  <a:outerShdw blurRad="25400" dist="25400" dir="2700000" rotWithShape="0">
                    <a:srgbClr val="FFFFFF">
                      <a:alpha val="75000"/>
                    </a:srgbClr>
                  </a:outerShdw>
                </a:effectLst>
              </a:defRPr>
            </a:pPr>
            <a:endParaRPr/>
          </a:p>
          <a:p>
            <a:pPr>
              <a:defRPr sz="4000">
                <a:solidFill>
                  <a:srgbClr val="010001"/>
                </a:solidFill>
                <a:effectLst>
                  <a:outerShdw blurRad="25400" dist="25400" dir="2700000" rotWithShape="0">
                    <a:srgbClr val="FFFFFF">
                      <a:alpha val="75000"/>
                    </a:srgbClr>
                  </a:outerShdw>
                </a:effectLst>
              </a:defRPr>
            </a:pPr>
            <a:r>
              <a:t> Y      Z | X</a:t>
            </a:r>
          </a:p>
        </p:txBody>
      </p:sp>
      <p:pic>
        <p:nvPicPr>
          <p:cNvPr id="251" name="ind.bmp" descr="ind.bmp"/>
          <p:cNvPicPr>
            <a:picLocks noChangeAspect="1"/>
          </p:cNvPicPr>
          <p:nvPr/>
        </p:nvPicPr>
        <p:blipFill>
          <a:blip r:embed="rId3">
            <a:alphaModFix amt="40000"/>
          </a:blip>
          <a:stretch>
            <a:fillRect/>
          </a:stretch>
        </p:blipFill>
        <p:spPr>
          <a:xfrm>
            <a:off x="10142409" y="5896324"/>
            <a:ext cx="568679" cy="495301"/>
          </a:xfrm>
          <a:prstGeom prst="rect">
            <a:avLst/>
          </a:prstGeom>
          <a:ln w="12700" cap="flat">
            <a:noFill/>
            <a:miter lim="400000"/>
          </a:ln>
          <a:effectLst/>
        </p:spPr>
      </p:pic>
      <p:sp>
        <p:nvSpPr>
          <p:cNvPr id="253" name="Causal Markov condition: each variable is ind. of its non-descendants (non-effects) conditional on its parents (direct causes)"/>
          <p:cNvSpPr/>
          <p:nvPr/>
        </p:nvSpPr>
        <p:spPr>
          <a:xfrm>
            <a:off x="770681" y="2378472"/>
            <a:ext cx="11150600" cy="3560366"/>
          </a:xfrm>
          <a:custGeom>
            <a:avLst/>
            <a:gdLst/>
            <a:ahLst/>
            <a:cxnLst>
              <a:cxn ang="0">
                <a:pos x="wd2" y="hd2"/>
              </a:cxn>
              <a:cxn ang="5400000">
                <a:pos x="wd2" y="hd2"/>
              </a:cxn>
              <a:cxn ang="10800000">
                <a:pos x="wd2" y="hd2"/>
              </a:cxn>
              <a:cxn ang="16200000">
                <a:pos x="wd2" y="hd2"/>
              </a:cxn>
            </a:cxnLst>
            <a:rect l="0" t="0" r="r" b="b"/>
            <a:pathLst>
              <a:path w="21600" h="21600" extrusionOk="0">
                <a:moveTo>
                  <a:pt x="492" y="0"/>
                </a:moveTo>
                <a:cubicBezTo>
                  <a:pt x="220" y="0"/>
                  <a:pt x="0" y="690"/>
                  <a:pt x="0" y="1541"/>
                </a:cubicBezTo>
                <a:lnTo>
                  <a:pt x="0" y="5702"/>
                </a:lnTo>
                <a:cubicBezTo>
                  <a:pt x="0" y="6553"/>
                  <a:pt x="220" y="7243"/>
                  <a:pt x="492" y="7243"/>
                </a:cubicBezTo>
                <a:lnTo>
                  <a:pt x="7373" y="7243"/>
                </a:lnTo>
                <a:lnTo>
                  <a:pt x="7635" y="21600"/>
                </a:lnTo>
                <a:lnTo>
                  <a:pt x="7896" y="7243"/>
                </a:lnTo>
                <a:lnTo>
                  <a:pt x="21108" y="7243"/>
                </a:lnTo>
                <a:cubicBezTo>
                  <a:pt x="21380" y="7243"/>
                  <a:pt x="21600" y="6553"/>
                  <a:pt x="21600" y="5702"/>
                </a:cubicBezTo>
                <a:lnTo>
                  <a:pt x="21600" y="1541"/>
                </a:lnTo>
                <a:cubicBezTo>
                  <a:pt x="21600" y="690"/>
                  <a:pt x="21380" y="0"/>
                  <a:pt x="21108" y="0"/>
                </a:cubicBezTo>
                <a:lnTo>
                  <a:pt x="492" y="0"/>
                </a:lnTo>
                <a:close/>
              </a:path>
            </a:pathLst>
          </a:custGeom>
          <a:blipFill>
            <a:blip r:embed="rId4"/>
          </a:blipFill>
          <a:ln w="38100">
            <a:solidFill>
              <a:srgbClr val="CE1C02"/>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defRPr sz="3600">
                <a:solidFill>
                  <a:srgbClr val="FFFFFF"/>
                </a:solidFill>
                <a:effectLst>
                  <a:outerShdw blurRad="38100" dist="12700" dir="5400000" rotWithShape="0">
                    <a:srgbClr val="000000">
                      <a:alpha val="50000"/>
                    </a:srgbClr>
                  </a:outerShdw>
                </a:effectLst>
              </a:defRPr>
            </a:pPr>
            <a:endParaRPr sz="3000" dirty="0">
              <a:solidFill>
                <a:srgbClr val="B51A00"/>
              </a:solidFill>
            </a:endParaRPr>
          </a:p>
        </p:txBody>
      </p:sp>
      <p:sp>
        <p:nvSpPr>
          <p:cNvPr id="254" name="Faithfulness: all observed (conditional) independencies are entailed by Markov condition in the causal graph"/>
          <p:cNvSpPr/>
          <p:nvPr/>
        </p:nvSpPr>
        <p:spPr>
          <a:xfrm>
            <a:off x="2340819" y="6796437"/>
            <a:ext cx="9893300" cy="2365375"/>
          </a:xfrm>
          <a:custGeom>
            <a:avLst/>
            <a:gdLst/>
            <a:ahLst/>
            <a:cxnLst>
              <a:cxn ang="0">
                <a:pos x="wd2" y="hd2"/>
              </a:cxn>
              <a:cxn ang="5400000">
                <a:pos x="wd2" y="hd2"/>
              </a:cxn>
              <a:cxn ang="10800000">
                <a:pos x="wd2" y="hd2"/>
              </a:cxn>
              <a:cxn ang="16200000">
                <a:pos x="wd2" y="hd2"/>
              </a:cxn>
            </a:cxnLst>
            <a:rect l="0" t="0" r="r" b="b"/>
            <a:pathLst>
              <a:path w="21600" h="21600" extrusionOk="0">
                <a:moveTo>
                  <a:pt x="12404" y="0"/>
                </a:moveTo>
                <a:lnTo>
                  <a:pt x="12127" y="10003"/>
                </a:lnTo>
                <a:lnTo>
                  <a:pt x="555" y="10003"/>
                </a:lnTo>
                <a:cubicBezTo>
                  <a:pt x="248" y="10003"/>
                  <a:pt x="0" y="11041"/>
                  <a:pt x="0" y="12322"/>
                </a:cubicBezTo>
                <a:lnTo>
                  <a:pt x="0" y="19281"/>
                </a:lnTo>
                <a:cubicBezTo>
                  <a:pt x="0" y="20562"/>
                  <a:pt x="248" y="21600"/>
                  <a:pt x="555" y="21600"/>
                </a:cubicBezTo>
                <a:lnTo>
                  <a:pt x="21045" y="21600"/>
                </a:lnTo>
                <a:cubicBezTo>
                  <a:pt x="21352" y="21600"/>
                  <a:pt x="21600" y="20562"/>
                  <a:pt x="21600" y="19281"/>
                </a:cubicBezTo>
                <a:lnTo>
                  <a:pt x="21600" y="12322"/>
                </a:lnTo>
                <a:cubicBezTo>
                  <a:pt x="21600" y="11041"/>
                  <a:pt x="21352" y="10003"/>
                  <a:pt x="21045" y="10003"/>
                </a:cubicBezTo>
                <a:lnTo>
                  <a:pt x="12681" y="10003"/>
                </a:lnTo>
                <a:lnTo>
                  <a:pt x="12404" y="0"/>
                </a:lnTo>
                <a:close/>
              </a:path>
            </a:pathLst>
          </a:custGeom>
          <a:blipFill>
            <a:blip r:embed="rId4"/>
          </a:blipFill>
          <a:ln w="38100">
            <a:solidFill>
              <a:srgbClr val="3031A6"/>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defRPr sz="3600">
                <a:solidFill>
                  <a:srgbClr val="FFFFFF"/>
                </a:solidFill>
                <a:effectLst>
                  <a:outerShdw blurRad="38100" dist="12700" dir="5400000" rotWithShape="0">
                    <a:srgbClr val="000000">
                      <a:alpha val="50000"/>
                    </a:srgbClr>
                  </a:outerShdw>
                </a:effectLst>
              </a:defRPr>
            </a:pPr>
            <a:endParaRPr sz="3000" dirty="0"/>
          </a:p>
        </p:txBody>
      </p:sp>
      <p:sp>
        <p:nvSpPr>
          <p:cNvPr id="255" name="Line"/>
          <p:cNvSpPr/>
          <p:nvPr/>
        </p:nvSpPr>
        <p:spPr>
          <a:xfrm flipH="1" flipV="1">
            <a:off x="3746500" y="5537200"/>
            <a:ext cx="5541820" cy="332507"/>
          </a:xfrm>
          <a:prstGeom prst="line">
            <a:avLst/>
          </a:prstGeom>
          <a:ln w="76200">
            <a:solidFill>
              <a:srgbClr val="E63B7A"/>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56" name="Line"/>
          <p:cNvSpPr/>
          <p:nvPr/>
        </p:nvSpPr>
        <p:spPr>
          <a:xfrm flipV="1">
            <a:off x="3657600" y="6273800"/>
            <a:ext cx="5562601" cy="581892"/>
          </a:xfrm>
          <a:prstGeom prst="line">
            <a:avLst/>
          </a:prstGeom>
          <a:ln w="76200">
            <a:solidFill>
              <a:schemeClr val="accent1"/>
            </a:solidFill>
            <a:miter lim="400000"/>
            <a:headEnd type="stealth"/>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257" name="Y -- X -- Z ?"/>
          <p:cNvSpPr txBox="1"/>
          <p:nvPr/>
        </p:nvSpPr>
        <p:spPr>
          <a:xfrm>
            <a:off x="770681" y="6343650"/>
            <a:ext cx="2827438" cy="698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4000" b="1"/>
            </a:pPr>
            <a:r>
              <a:t> </a:t>
            </a:r>
            <a:r>
              <a:rPr b="0">
                <a:solidFill>
                  <a:srgbClr val="606060"/>
                </a:solidFill>
              </a:rPr>
              <a:t>Y -- X -- Z</a:t>
            </a:r>
            <a:r>
              <a:t> ?</a:t>
            </a:r>
          </a:p>
        </p:txBody>
      </p:sp>
      <p:sp>
        <p:nvSpPr>
          <p:cNvPr id="3" name="TextBox 2">
            <a:extLst>
              <a:ext uri="{FF2B5EF4-FFF2-40B4-BE49-F238E27FC236}">
                <a16:creationId xmlns:a16="http://schemas.microsoft.com/office/drawing/2014/main" id="{063AC8E6-3E49-BE47-B407-C91CFDDCB601}"/>
              </a:ext>
            </a:extLst>
          </p:cNvPr>
          <p:cNvSpPr txBox="1"/>
          <p:nvPr/>
        </p:nvSpPr>
        <p:spPr>
          <a:xfrm>
            <a:off x="923290" y="2265819"/>
            <a:ext cx="11031220" cy="2072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r>
              <a:rPr lang="en-US" sz="2800" b="1" dirty="0">
                <a:solidFill>
                  <a:schemeClr val="bg1"/>
                </a:solidFill>
              </a:rPr>
              <a:t>Causal Markov condition</a:t>
            </a:r>
            <a:r>
              <a:rPr lang="en-US" sz="2800" dirty="0">
                <a:solidFill>
                  <a:schemeClr val="bg1"/>
                </a:solidFill>
              </a:rPr>
              <a:t>: in causally sufficient system, each variable </a:t>
            </a:r>
            <a:r>
              <a:rPr lang="en-US" sz="2800" dirty="0" err="1">
                <a:solidFill>
                  <a:schemeClr val="bg1"/>
                </a:solidFill>
              </a:rPr>
              <a:t>ind.</a:t>
            </a:r>
            <a:r>
              <a:rPr lang="en-US" sz="2800" dirty="0">
                <a:solidFill>
                  <a:schemeClr val="bg1"/>
                </a:solidFill>
              </a:rPr>
              <a:t> of its non-descendants </a:t>
            </a:r>
            <a:r>
              <a:rPr lang="en-US" sz="2800" dirty="0">
                <a:solidFill>
                  <a:srgbClr val="FF0000"/>
                </a:solidFill>
              </a:rPr>
              <a:t>(non-effects) </a:t>
            </a:r>
            <a:r>
              <a:rPr lang="en-US" sz="2800" dirty="0">
                <a:solidFill>
                  <a:schemeClr val="bg1"/>
                </a:solidFill>
              </a:rPr>
              <a:t>conditional on its parents </a:t>
            </a:r>
            <a:r>
              <a:rPr lang="en-US" sz="2800" dirty="0">
                <a:solidFill>
                  <a:srgbClr val="FF0000"/>
                </a:solidFill>
              </a:rPr>
              <a:t>(direct causes) in the causal DAG.</a:t>
            </a:r>
          </a:p>
          <a:p>
            <a:pPr marL="0" marR="0" indent="0" algn="ctr" defTabSz="584200" rtl="0" fontAlgn="auto" latinLnBrk="0" hangingPunct="0">
              <a:lnSpc>
                <a:spcPct val="100000"/>
              </a:lnSpc>
              <a:spcBef>
                <a:spcPts val="0"/>
              </a:spcBef>
              <a:spcAft>
                <a:spcPts val="0"/>
              </a:spcAft>
              <a:buClrTx/>
              <a:buSzTx/>
              <a:buFontTx/>
              <a:buNone/>
              <a:tabLst/>
            </a:pPr>
            <a:endParaRPr kumimoji="0" lang="en-US" sz="4400" b="0" i="0" u="none" strike="noStrike" cap="none" spc="0" normalizeH="0" baseline="0" dirty="0">
              <a:ln>
                <a:noFill/>
              </a:ln>
              <a:solidFill>
                <a:srgbClr val="000000"/>
              </a:solidFill>
              <a:effectLst/>
              <a:uFillTx/>
              <a:latin typeface="+mn-lt"/>
              <a:ea typeface="+mn-ea"/>
              <a:cs typeface="+mn-cs"/>
              <a:sym typeface="Gill Sans"/>
            </a:endParaRPr>
          </a:p>
        </p:txBody>
      </p:sp>
      <p:sp>
        <p:nvSpPr>
          <p:cNvPr id="4" name="TextBox 3">
            <a:extLst>
              <a:ext uri="{FF2B5EF4-FFF2-40B4-BE49-F238E27FC236}">
                <a16:creationId xmlns:a16="http://schemas.microsoft.com/office/drawing/2014/main" id="{0C727D79-C371-3B47-90F5-D7EA2F79EC81}"/>
              </a:ext>
            </a:extLst>
          </p:cNvPr>
          <p:cNvSpPr txBox="1"/>
          <p:nvPr/>
        </p:nvSpPr>
        <p:spPr>
          <a:xfrm>
            <a:off x="2120808" y="7950641"/>
            <a:ext cx="10034479" cy="17338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3200" b="1" dirty="0">
                <a:solidFill>
                  <a:schemeClr val="bg1"/>
                </a:solidFill>
              </a:rPr>
              <a:t>Faithfulness</a:t>
            </a:r>
            <a:r>
              <a:rPr lang="en-US" sz="3200" dirty="0">
                <a:solidFill>
                  <a:schemeClr val="bg1"/>
                </a:solidFill>
              </a:rPr>
              <a:t>: all observed (conditional) independencies are entailed</a:t>
            </a:r>
            <a:r>
              <a:rPr lang="en-US" sz="3200" dirty="0">
                <a:solidFill>
                  <a:srgbClr val="002E7A"/>
                </a:solidFill>
              </a:rPr>
              <a:t> </a:t>
            </a:r>
            <a:r>
              <a:rPr lang="en-US" sz="3200" dirty="0">
                <a:solidFill>
                  <a:schemeClr val="accent1">
                    <a:lumMod val="20000"/>
                    <a:lumOff val="80000"/>
                  </a:schemeClr>
                </a:solidFill>
              </a:rPr>
              <a:t>by Markov condition </a:t>
            </a:r>
            <a:r>
              <a:rPr lang="en-US" sz="3200" dirty="0">
                <a:solidFill>
                  <a:schemeClr val="bg1"/>
                </a:solidFill>
              </a:rPr>
              <a:t>in the causal graph</a:t>
            </a:r>
          </a:p>
          <a:p>
            <a:pPr marL="0" marR="0" indent="0" algn="ctr" defTabSz="584200" rtl="0" fontAlgn="auto" latinLnBrk="0" hangingPunct="0">
              <a:lnSpc>
                <a:spcPct val="100000"/>
              </a:lnSpc>
              <a:spcBef>
                <a:spcPts val="0"/>
              </a:spcBef>
              <a:spcAft>
                <a:spcPts val="0"/>
              </a:spcAft>
              <a:buClrTx/>
              <a:buSzTx/>
              <a:buFontTx/>
              <a:buNone/>
              <a:tabLst/>
            </a:pPr>
            <a:endParaRPr kumimoji="0" lang="en-US" sz="4200" b="0" i="0" u="none" strike="noStrike" cap="none" spc="0" normalizeH="0" baseline="0" dirty="0">
              <a:ln>
                <a:noFill/>
              </a:ln>
              <a:solidFill>
                <a:srgbClr val="000000"/>
              </a:solidFill>
              <a:effectLst/>
              <a:uFillTx/>
              <a:latin typeface="+mn-lt"/>
              <a:ea typeface="+mn-ea"/>
              <a:cs typeface="+mn-cs"/>
              <a:sym typeface="Gill Sans"/>
            </a:endParaRPr>
          </a:p>
        </p:txBody>
      </p:sp>
    </p:spTree>
    <p:extLst>
      <p:ext uri="{BB962C8B-B14F-4D97-AF65-F5344CB8AC3E}">
        <p14:creationId xmlns:p14="http://schemas.microsoft.com/office/powerpoint/2010/main" val="156515636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p:tmAbs val="0"/>
                                  </p:iterate>
                                  <p:childTnLst>
                                    <p:set>
                                      <p:cBhvr>
                                        <p:cTn id="6" fill="hold"/>
                                        <p:tgtEl>
                                          <p:spTgt spid="253"/>
                                        </p:tgtEl>
                                        <p:attrNameLst>
                                          <p:attrName>style.visibility</p:attrName>
                                        </p:attrNameLst>
                                      </p:cBhvr>
                                      <p:to>
                                        <p:strVal val="visible"/>
                                      </p:to>
                                    </p:set>
                                    <p:anim calcmode="lin" valueType="num">
                                      <p:cBhvr>
                                        <p:cTn id="7" dur="100" fill="hold"/>
                                        <p:tgtEl>
                                          <p:spTgt spid="253"/>
                                        </p:tgtEl>
                                        <p:attrNameLst>
                                          <p:attrName>ppt_x</p:attrName>
                                        </p:attrNameLst>
                                      </p:cBhvr>
                                      <p:tavLst>
                                        <p:tav tm="0">
                                          <p:val>
                                            <p:strVal val="0-#ppt_w/2"/>
                                          </p:val>
                                        </p:tav>
                                        <p:tav tm="100000">
                                          <p:val>
                                            <p:strVal val="#ppt_x"/>
                                          </p:val>
                                        </p:tav>
                                      </p:tavLst>
                                    </p:anim>
                                    <p:anim calcmode="lin" valueType="num">
                                      <p:cBhvr>
                                        <p:cTn id="8" dur="100" fill="hold"/>
                                        <p:tgtEl>
                                          <p:spTgt spid="25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iterate>
                                    <p:tmAbs val="0"/>
                                  </p:iterate>
                                  <p:childTnLst>
                                    <p:set>
                                      <p:cBhvr>
                                        <p:cTn id="12" fill="hold"/>
                                        <p:tgtEl>
                                          <p:spTgt spid="255"/>
                                        </p:tgtEl>
                                        <p:attrNameLst>
                                          <p:attrName>style.visibility</p:attrName>
                                        </p:attrNameLst>
                                      </p:cBhvr>
                                      <p:to>
                                        <p:strVal val="visible"/>
                                      </p:to>
                                    </p:set>
                                    <p:anim calcmode="lin" valueType="num">
                                      <p:cBhvr>
                                        <p:cTn id="13" dur="100" fill="hold"/>
                                        <p:tgtEl>
                                          <p:spTgt spid="255"/>
                                        </p:tgtEl>
                                        <p:attrNameLst>
                                          <p:attrName>ppt_x</p:attrName>
                                        </p:attrNameLst>
                                      </p:cBhvr>
                                      <p:tavLst>
                                        <p:tav tm="0">
                                          <p:val>
                                            <p:strVal val="#ppt_x"/>
                                          </p:val>
                                        </p:tav>
                                        <p:tav tm="100000">
                                          <p:val>
                                            <p:strVal val="#ppt_x"/>
                                          </p:val>
                                        </p:tav>
                                      </p:tavLst>
                                    </p:anim>
                                    <p:anim calcmode="lin" valueType="num">
                                      <p:cBhvr>
                                        <p:cTn id="14" dur="100" fill="hold"/>
                                        <p:tgtEl>
                                          <p:spTgt spid="255"/>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iterate type="lt">
                                    <p:tmAbs val="0"/>
                                  </p:iterate>
                                  <p:childTnLst>
                                    <p:set>
                                      <p:cBhvr>
                                        <p:cTn id="18" fill="hold"/>
                                        <p:tgtEl>
                                          <p:spTgt spid="254"/>
                                        </p:tgtEl>
                                        <p:attrNameLst>
                                          <p:attrName>style.visibility</p:attrName>
                                        </p:attrNameLst>
                                      </p:cBhvr>
                                      <p:to>
                                        <p:strVal val="visible"/>
                                      </p:to>
                                    </p:set>
                                    <p:anim calcmode="lin" valueType="num">
                                      <p:cBhvr>
                                        <p:cTn id="19" dur="250" fill="hold"/>
                                        <p:tgtEl>
                                          <p:spTgt spid="254"/>
                                        </p:tgtEl>
                                        <p:attrNameLst>
                                          <p:attrName>ppt_x</p:attrName>
                                        </p:attrNameLst>
                                      </p:cBhvr>
                                      <p:tavLst>
                                        <p:tav tm="0">
                                          <p:val>
                                            <p:strVal val="#ppt_x"/>
                                          </p:val>
                                        </p:tav>
                                        <p:tav tm="100000">
                                          <p:val>
                                            <p:strVal val="#ppt_x"/>
                                          </p:val>
                                        </p:tav>
                                      </p:tavLst>
                                    </p:anim>
                                    <p:anim calcmode="lin" valueType="num">
                                      <p:cBhvr>
                                        <p:cTn id="20" dur="250" fill="hold"/>
                                        <p:tgtEl>
                                          <p:spTgt spid="25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iterate type="lt">
                                    <p:tmAbs val="0"/>
                                  </p:iterate>
                                  <p:childTnLst>
                                    <p:set>
                                      <p:cBhvr>
                                        <p:cTn id="24" fill="hold"/>
                                        <p:tgtEl>
                                          <p:spTgt spid="256"/>
                                        </p:tgtEl>
                                        <p:attrNameLst>
                                          <p:attrName>style.visibility</p:attrName>
                                        </p:attrNameLst>
                                      </p:cBhvr>
                                      <p:to>
                                        <p:strVal val="visible"/>
                                      </p:to>
                                    </p:set>
                                    <p:anim calcmode="lin" valueType="num">
                                      <p:cBhvr>
                                        <p:cTn id="25" dur="250" fill="hold"/>
                                        <p:tgtEl>
                                          <p:spTgt spid="256"/>
                                        </p:tgtEl>
                                        <p:attrNameLst>
                                          <p:attrName>ppt_x</p:attrName>
                                        </p:attrNameLst>
                                      </p:cBhvr>
                                      <p:tavLst>
                                        <p:tav tm="0">
                                          <p:val>
                                            <p:strVal val="#ppt_x"/>
                                          </p:val>
                                        </p:tav>
                                        <p:tav tm="100000">
                                          <p:val>
                                            <p:strVal val="#ppt_x"/>
                                          </p:val>
                                        </p:tav>
                                      </p:tavLst>
                                    </p:anim>
                                    <p:anim calcmode="lin" valueType="num">
                                      <p:cBhvr>
                                        <p:cTn id="26" dur="250" fill="hold"/>
                                        <p:tgtEl>
                                          <p:spTgt spid="25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 grpId="0" animBg="1" advAuto="0"/>
      <p:bldP spid="254" grpId="0" animBg="1" advAuto="0"/>
      <p:bldP spid="255" grpId="0" animBg="1" advAuto="0"/>
      <p:bldP spid="256" grpId="0" animBg="1" advAuto="0"/>
      <p:bldP spid="257" grpId="0"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 name="Surfaces of Unfaithfulness in Parameter Space"/>
          <p:cNvSpPr txBox="1">
            <a:spLocks noGrp="1"/>
          </p:cNvSpPr>
          <p:nvPr>
            <p:ph type="title"/>
          </p:nvPr>
        </p:nvSpPr>
        <p:spPr>
          <a:prstGeom prst="rect">
            <a:avLst/>
          </a:prstGeom>
          <a:effectLst/>
        </p:spPr>
        <p:txBody>
          <a:bodyPr lIns="65023" tIns="65023" rIns="65023" bIns="65023">
            <a:normAutofit/>
          </a:bodyPr>
          <a:lstStyle>
            <a:lvl1pPr algn="l" defTabSz="988364">
              <a:lnSpc>
                <a:spcPct val="90000"/>
              </a:lnSpc>
              <a:defRPr sz="4712">
                <a:solidFill>
                  <a:srgbClr val="FFCC66"/>
                </a:solidFill>
                <a:latin typeface="Times New Roman"/>
                <a:ea typeface="Times New Roman"/>
                <a:cs typeface="Times New Roman"/>
                <a:sym typeface="Times New Roman"/>
              </a:defRPr>
            </a:lvl1pPr>
          </a:lstStyle>
          <a:p>
            <a:pPr algn="ctr" defTabSz="584200">
              <a:lnSpc>
                <a:spcPct val="100000"/>
              </a:lnSpc>
            </a:pPr>
            <a:r>
              <a:rPr sz="6000" dirty="0">
                <a:solidFill>
                  <a:srgbClr val="000000"/>
                </a:solidFill>
                <a:latin typeface="Baskerville"/>
                <a:ea typeface="Baskerville"/>
                <a:sym typeface="Baskerville"/>
              </a:rPr>
              <a:t>Surfaces of Unfaithfulness in Parameter Space</a:t>
            </a:r>
          </a:p>
        </p:txBody>
      </p:sp>
      <p:sp>
        <p:nvSpPr>
          <p:cNvPr id="2" name="Text Placeholder 1">
            <a:extLst>
              <a:ext uri="{FF2B5EF4-FFF2-40B4-BE49-F238E27FC236}">
                <a16:creationId xmlns:a16="http://schemas.microsoft.com/office/drawing/2014/main" id="{A1F64CD3-67A9-904F-B912-F2C85E67596A}"/>
              </a:ext>
            </a:extLst>
          </p:cNvPr>
          <p:cNvSpPr>
            <a:spLocks noGrp="1"/>
          </p:cNvSpPr>
          <p:nvPr>
            <p:ph type="body" idx="1"/>
          </p:nvPr>
        </p:nvSpPr>
        <p:spPr/>
        <p:txBody>
          <a:bodyPr/>
          <a:lstStyle/>
          <a:p>
            <a:endParaRPr lang="en-US"/>
          </a:p>
        </p:txBody>
      </p:sp>
      <p:sp>
        <p:nvSpPr>
          <p:cNvPr id="53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650240">
              <a:defRPr sz="1600">
                <a:solidFill>
                  <a:srgbClr val="1B3861"/>
                </a:solidFill>
                <a:latin typeface="Trebuchet MS"/>
                <a:ea typeface="Trebuchet MS"/>
                <a:cs typeface="Trebuchet MS"/>
                <a:sym typeface="Trebuchet MS"/>
              </a:defRPr>
            </a:lvl1pPr>
          </a:lstStyle>
          <a:p>
            <a:fld id="{86CB4B4D-7CA3-9044-876B-883B54F8677D}" type="slidenum">
              <a:t>27</a:t>
            </a:fld>
            <a:endParaRPr/>
          </a:p>
        </p:txBody>
      </p:sp>
      <p:pic>
        <p:nvPicPr>
          <p:cNvPr id="534" name="image.png" descr="image.png"/>
          <p:cNvPicPr>
            <a:picLocks noChangeAspect="1"/>
          </p:cNvPicPr>
          <p:nvPr/>
        </p:nvPicPr>
        <p:blipFill>
          <a:blip r:embed="rId2"/>
          <a:stretch>
            <a:fillRect/>
          </a:stretch>
        </p:blipFill>
        <p:spPr>
          <a:xfrm>
            <a:off x="1108568" y="2289386"/>
            <a:ext cx="10882491" cy="3822419"/>
          </a:xfrm>
          <a:prstGeom prst="rect">
            <a:avLst/>
          </a:prstGeom>
          <a:ln w="12700">
            <a:miter lim="400000"/>
          </a:ln>
        </p:spPr>
      </p:pic>
      <p:sp>
        <p:nvSpPr>
          <p:cNvPr id="536" name="Surfaces of unfaithfulness in parameter space are Lebesgue measure 0. (pointwise consistency)…"/>
          <p:cNvSpPr txBox="1"/>
          <p:nvPr/>
        </p:nvSpPr>
        <p:spPr>
          <a:xfrm>
            <a:off x="1173592" y="6328551"/>
            <a:ext cx="10752442" cy="26550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5023" tIns="65023" rIns="65023" bIns="65023">
            <a:spAutoFit/>
          </a:bodyPr>
          <a:lstStyle/>
          <a:p>
            <a:pPr algn="l" defTabSz="650240">
              <a:defRPr sz="4100">
                <a:solidFill>
                  <a:srgbClr val="FFFFFF"/>
                </a:solidFill>
                <a:latin typeface="Times New Roman"/>
                <a:ea typeface="Times New Roman"/>
                <a:cs typeface="Times New Roman"/>
                <a:sym typeface="Times New Roman"/>
              </a:defRPr>
            </a:pPr>
            <a:r>
              <a:rPr dirty="0">
                <a:solidFill>
                  <a:schemeClr val="tx1"/>
                </a:solidFill>
              </a:rPr>
              <a:t>Surfaces of unfaithfulness in parameter space are Lebesgue measure 0. (pointwise consistency)</a:t>
            </a:r>
          </a:p>
          <a:p>
            <a:pPr algn="l" defTabSz="650240">
              <a:defRPr sz="4100">
                <a:solidFill>
                  <a:srgbClr val="FFFFFF"/>
                </a:solidFill>
                <a:latin typeface="Times New Roman"/>
                <a:ea typeface="Times New Roman"/>
                <a:cs typeface="Times New Roman"/>
                <a:sym typeface="Times New Roman"/>
              </a:defRPr>
            </a:pPr>
            <a:r>
              <a:rPr dirty="0">
                <a:solidFill>
                  <a:schemeClr val="tx1"/>
                </a:solidFill>
              </a:rPr>
              <a:t>But being “close to unfaithful” can have large Lebesgue measure </a:t>
            </a:r>
            <a:r>
              <a:rPr dirty="0">
                <a:solidFill>
                  <a:srgbClr val="FF0000"/>
                </a:solidFill>
              </a:rPr>
              <a:t>(</a:t>
            </a:r>
            <a:r>
              <a:rPr lang="en-US" dirty="0">
                <a:solidFill>
                  <a:srgbClr val="FF0000"/>
                </a:solidFill>
              </a:rPr>
              <a:t>no </a:t>
            </a:r>
            <a:r>
              <a:rPr dirty="0">
                <a:solidFill>
                  <a:schemeClr val="tx1"/>
                </a:solidFill>
              </a:rPr>
              <a:t>uniform consistency).</a:t>
            </a:r>
          </a:p>
        </p:txBody>
      </p:sp>
      <p:sp>
        <p:nvSpPr>
          <p:cNvPr id="537" name="4/7/22"/>
          <p:cNvSpPr txBox="1"/>
          <p:nvPr/>
        </p:nvSpPr>
        <p:spPr>
          <a:xfrm>
            <a:off x="1040383" y="9179193"/>
            <a:ext cx="2579287" cy="3892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5023" tIns="65023" rIns="65023" bIns="65023" anchor="b">
            <a:spAutoFit/>
          </a:bodyPr>
          <a:lstStyle>
            <a:lvl1pPr algn="l" defTabSz="1300480">
              <a:defRPr sz="1800">
                <a:solidFill>
                  <a:srgbClr val="FFFFFF"/>
                </a:solidFill>
                <a:latin typeface="Arial"/>
                <a:ea typeface="Arial"/>
                <a:cs typeface="Arial"/>
                <a:sym typeface="Arial"/>
              </a:defRPr>
            </a:lvl1pPr>
          </a:lstStyle>
          <a:p>
            <a:r>
              <a:t>4/7/22</a:t>
            </a:r>
          </a:p>
        </p:txBody>
      </p:sp>
      <p:sp>
        <p:nvSpPr>
          <p:cNvPr id="3" name="TextBox 2">
            <a:extLst>
              <a:ext uri="{FF2B5EF4-FFF2-40B4-BE49-F238E27FC236}">
                <a16:creationId xmlns:a16="http://schemas.microsoft.com/office/drawing/2014/main" id="{4E5C00E2-B4E1-7747-A93C-F31AC8AE79BF}"/>
              </a:ext>
            </a:extLst>
          </p:cNvPr>
          <p:cNvSpPr txBox="1"/>
          <p:nvPr/>
        </p:nvSpPr>
        <p:spPr>
          <a:xfrm flipH="1">
            <a:off x="13107457" y="5019476"/>
            <a:ext cx="3315884" cy="52732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dirty="0">
                <a:solidFill>
                  <a:srgbClr val="FF0000"/>
                </a:solidFill>
              </a:rPr>
              <a:t>Why does ”consistency” matter if we cannot know the point at which an estimator has converged?</a:t>
            </a:r>
            <a:endParaRPr kumimoji="0" lang="en-US" sz="4200" b="0" i="0" u="none" strike="noStrike" cap="none" spc="0" normalizeH="0" baseline="0" dirty="0">
              <a:ln>
                <a:noFill/>
              </a:ln>
              <a:solidFill>
                <a:srgbClr val="FF0000"/>
              </a:solidFill>
              <a:effectLst/>
              <a:uFillTx/>
              <a:sym typeface="Gill Sans"/>
            </a:endParaRPr>
          </a:p>
        </p:txBody>
      </p:sp>
    </p:spTree>
    <p:extLst>
      <p:ext uri="{BB962C8B-B14F-4D97-AF65-F5344CB8AC3E}">
        <p14:creationId xmlns:p14="http://schemas.microsoft.com/office/powerpoint/2010/main" val="377377455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hree Faces of Faithfulness"/>
          <p:cNvSpPr txBox="1">
            <a:spLocks noGrp="1"/>
          </p:cNvSpPr>
          <p:nvPr>
            <p:ph type="title"/>
          </p:nvPr>
        </p:nvSpPr>
        <p:spPr>
          <a:prstGeom prst="rect">
            <a:avLst/>
          </a:prstGeom>
          <a:effectLst/>
        </p:spPr>
        <p:txBody>
          <a:bodyPr lIns="65023" tIns="65023" rIns="65023" bIns="65023">
            <a:normAutofit/>
          </a:bodyPr>
          <a:lstStyle>
            <a:lvl1pPr algn="l" defTabSz="1300480">
              <a:lnSpc>
                <a:spcPct val="90000"/>
              </a:lnSpc>
              <a:defRPr sz="6200">
                <a:solidFill>
                  <a:srgbClr val="FFCC66"/>
                </a:solidFill>
                <a:latin typeface="Times New Roman"/>
                <a:ea typeface="Times New Roman"/>
                <a:cs typeface="Times New Roman"/>
                <a:sym typeface="Times New Roman"/>
              </a:defRPr>
            </a:lvl1pPr>
          </a:lstStyle>
          <a:p>
            <a:r>
              <a:rPr dirty="0">
                <a:solidFill>
                  <a:schemeClr val="tx1"/>
                </a:solidFill>
              </a:rPr>
              <a:t>Three Faces of Faithfulness</a:t>
            </a:r>
          </a:p>
        </p:txBody>
      </p:sp>
      <p:sp>
        <p:nvSpPr>
          <p:cNvPr id="539" name="Identifiability…"/>
          <p:cNvSpPr txBox="1">
            <a:spLocks noGrp="1"/>
          </p:cNvSpPr>
          <p:nvPr>
            <p:ph type="body" idx="1"/>
          </p:nvPr>
        </p:nvSpPr>
        <p:spPr>
          <a:prstGeom prst="rect">
            <a:avLst/>
          </a:prstGeom>
          <a:effectLst/>
        </p:spPr>
        <p:txBody>
          <a:bodyPr lIns="65023" tIns="65023" rIns="65023" bIns="65023" anchor="t">
            <a:normAutofit/>
          </a:bodyPr>
          <a:lstStyle/>
          <a:p>
            <a:pPr marL="485775" indent="-485775" defTabSz="1300480">
              <a:lnSpc>
                <a:spcPct val="90000"/>
              </a:lnSpc>
              <a:spcBef>
                <a:spcPts val="800"/>
              </a:spcBef>
              <a:buSzPct val="80000"/>
              <a:buChar char="●"/>
              <a:defRPr sz="3400">
                <a:solidFill>
                  <a:srgbClr val="FFFFFF"/>
                </a:solidFill>
                <a:latin typeface="Arial"/>
                <a:ea typeface="Arial"/>
                <a:cs typeface="Arial"/>
                <a:sym typeface="Arial"/>
              </a:defRPr>
            </a:pPr>
            <a:r>
              <a:rPr dirty="0">
                <a:solidFill>
                  <a:schemeClr val="tx1"/>
                </a:solidFill>
              </a:rPr>
              <a:t>I</a:t>
            </a:r>
            <a:r>
              <a:rPr dirty="0">
                <a:solidFill>
                  <a:schemeClr val="tx1"/>
                </a:solidFill>
                <a:latin typeface="Times New Roman"/>
                <a:ea typeface="Times New Roman"/>
                <a:cs typeface="Times New Roman"/>
                <a:sym typeface="Times New Roman"/>
              </a:rPr>
              <a:t>dentifiability</a:t>
            </a:r>
          </a:p>
          <a:p>
            <a:pPr marL="857250" lvl="1" indent="-400050" defTabSz="1300480">
              <a:spcBef>
                <a:spcPts val="0"/>
              </a:spcBef>
              <a:buSzPct val="80000"/>
              <a:buChar char="■"/>
              <a:defRPr sz="2800">
                <a:solidFill>
                  <a:srgbClr val="FFFFFF"/>
                </a:solidFill>
                <a:latin typeface="Times New Roman"/>
                <a:ea typeface="Times New Roman"/>
                <a:cs typeface="Times New Roman"/>
                <a:sym typeface="Times New Roman"/>
              </a:defRPr>
            </a:pPr>
            <a:r>
              <a:rPr dirty="0">
                <a:solidFill>
                  <a:schemeClr val="tx1"/>
                </a:solidFill>
              </a:rPr>
              <a:t>If </a:t>
            </a:r>
            <a:r>
              <a:rPr i="1" dirty="0">
                <a:solidFill>
                  <a:schemeClr val="tx1"/>
                </a:solidFill>
              </a:rPr>
              <a:t>A</a:t>
            </a:r>
            <a:r>
              <a:rPr dirty="0">
                <a:solidFill>
                  <a:schemeClr val="tx1"/>
                </a:solidFill>
              </a:rPr>
              <a:t> is independent of </a:t>
            </a:r>
            <a:r>
              <a:rPr i="1" dirty="0">
                <a:solidFill>
                  <a:schemeClr val="tx1"/>
                </a:solidFill>
              </a:rPr>
              <a:t>B</a:t>
            </a:r>
            <a:r>
              <a:rPr dirty="0">
                <a:solidFill>
                  <a:schemeClr val="tx1"/>
                </a:solidFill>
              </a:rPr>
              <a:t> then prefer  </a:t>
            </a:r>
            <a:r>
              <a:rPr i="1" dirty="0">
                <a:solidFill>
                  <a:schemeClr val="tx1"/>
                </a:solidFill>
              </a:rPr>
              <a:t>A</a:t>
            </a:r>
            <a:r>
              <a:rPr dirty="0">
                <a:solidFill>
                  <a:schemeClr val="tx1"/>
                </a:solidFill>
              </a:rPr>
              <a:t> → </a:t>
            </a:r>
            <a:r>
              <a:rPr i="1" dirty="0">
                <a:solidFill>
                  <a:schemeClr val="tx1"/>
                </a:solidFill>
              </a:rPr>
              <a:t>C</a:t>
            </a:r>
            <a:r>
              <a:rPr dirty="0">
                <a:solidFill>
                  <a:schemeClr val="tx1"/>
                </a:solidFill>
              </a:rPr>
              <a:t> ← </a:t>
            </a:r>
            <a:r>
              <a:rPr i="1" dirty="0">
                <a:solidFill>
                  <a:schemeClr val="tx1"/>
                </a:solidFill>
              </a:rPr>
              <a:t>B</a:t>
            </a:r>
            <a:r>
              <a:rPr dirty="0">
                <a:solidFill>
                  <a:schemeClr val="tx1"/>
                </a:solidFill>
              </a:rPr>
              <a:t> to </a:t>
            </a:r>
            <a:r>
              <a:rPr i="1" dirty="0">
                <a:solidFill>
                  <a:schemeClr val="tx1"/>
                </a:solidFill>
              </a:rPr>
              <a:t>A</a:t>
            </a:r>
            <a:r>
              <a:rPr dirty="0">
                <a:solidFill>
                  <a:schemeClr val="tx1"/>
                </a:solidFill>
              </a:rPr>
              <a:t> →  </a:t>
            </a:r>
            <a:r>
              <a:rPr i="1" dirty="0">
                <a:solidFill>
                  <a:schemeClr val="tx1"/>
                </a:solidFill>
              </a:rPr>
              <a:t>C</a:t>
            </a:r>
            <a:r>
              <a:rPr dirty="0">
                <a:solidFill>
                  <a:schemeClr val="tx1"/>
                </a:solidFill>
              </a:rPr>
              <a:t> →  </a:t>
            </a:r>
            <a:r>
              <a:rPr i="1" dirty="0">
                <a:solidFill>
                  <a:schemeClr val="tx1"/>
                </a:solidFill>
              </a:rPr>
              <a:t>B</a:t>
            </a:r>
            <a:r>
              <a:rPr dirty="0">
                <a:solidFill>
                  <a:schemeClr val="tx1"/>
                </a:solidFill>
              </a:rPr>
              <a:t> </a:t>
            </a:r>
          </a:p>
          <a:p>
            <a:pPr marL="857250" lvl="1" indent="-400050" defTabSz="1300480">
              <a:spcBef>
                <a:spcPts val="0"/>
              </a:spcBef>
              <a:buSzPct val="80000"/>
              <a:buChar char="■"/>
              <a:defRPr sz="2800">
                <a:solidFill>
                  <a:srgbClr val="FFFFFF"/>
                </a:solidFill>
                <a:latin typeface="Times New Roman"/>
                <a:ea typeface="Times New Roman"/>
                <a:cs typeface="Times New Roman"/>
                <a:sym typeface="Times New Roman"/>
              </a:defRPr>
            </a:pPr>
            <a:endParaRPr dirty="0">
              <a:solidFill>
                <a:schemeClr val="tx1"/>
              </a:solidFill>
            </a:endParaRPr>
          </a:p>
          <a:p>
            <a:pPr marL="485775" indent="-485775" defTabSz="1300480">
              <a:lnSpc>
                <a:spcPct val="90000"/>
              </a:lnSpc>
              <a:spcBef>
                <a:spcPts val="800"/>
              </a:spcBef>
              <a:buSzPct val="80000"/>
              <a:buChar char="●"/>
              <a:defRPr sz="3400">
                <a:solidFill>
                  <a:srgbClr val="FFFFFF"/>
                </a:solidFill>
                <a:latin typeface="Times New Roman"/>
                <a:ea typeface="Times New Roman"/>
                <a:cs typeface="Times New Roman"/>
                <a:sym typeface="Times New Roman"/>
              </a:defRPr>
            </a:pPr>
            <a:r>
              <a:rPr dirty="0">
                <a:solidFill>
                  <a:schemeClr val="tx1"/>
                </a:solidFill>
              </a:rPr>
              <a:t>Computational Efficiency</a:t>
            </a:r>
          </a:p>
          <a:p>
            <a:pPr marL="857250" lvl="1" indent="-400050" defTabSz="1300480">
              <a:spcBef>
                <a:spcPts val="0"/>
              </a:spcBef>
              <a:buSzPct val="80000"/>
              <a:buChar char="■"/>
              <a:defRPr sz="2800">
                <a:solidFill>
                  <a:srgbClr val="FFFFFF"/>
                </a:solidFill>
                <a:latin typeface="Times New Roman"/>
                <a:ea typeface="Times New Roman"/>
                <a:cs typeface="Times New Roman"/>
                <a:sym typeface="Times New Roman"/>
              </a:defRPr>
            </a:pPr>
            <a:r>
              <a:rPr dirty="0">
                <a:solidFill>
                  <a:schemeClr val="tx1"/>
                </a:solidFill>
              </a:rPr>
              <a:t>If </a:t>
            </a:r>
            <a:r>
              <a:rPr i="1" dirty="0">
                <a:solidFill>
                  <a:schemeClr val="tx1"/>
                </a:solidFill>
              </a:rPr>
              <a:t>A</a:t>
            </a:r>
            <a:r>
              <a:rPr dirty="0">
                <a:solidFill>
                  <a:schemeClr val="tx1"/>
                </a:solidFill>
              </a:rPr>
              <a:t> – </a:t>
            </a:r>
            <a:r>
              <a:rPr i="1" dirty="0">
                <a:solidFill>
                  <a:schemeClr val="tx1"/>
                </a:solidFill>
              </a:rPr>
              <a:t>C</a:t>
            </a:r>
            <a:r>
              <a:rPr dirty="0">
                <a:solidFill>
                  <a:schemeClr val="tx1"/>
                </a:solidFill>
              </a:rPr>
              <a:t> – </a:t>
            </a:r>
            <a:r>
              <a:rPr i="1" dirty="0">
                <a:solidFill>
                  <a:schemeClr val="tx1"/>
                </a:solidFill>
              </a:rPr>
              <a:t>B</a:t>
            </a:r>
            <a:r>
              <a:rPr dirty="0">
                <a:solidFill>
                  <a:schemeClr val="tx1"/>
                </a:solidFill>
              </a:rPr>
              <a:t> and </a:t>
            </a:r>
            <a:r>
              <a:rPr i="1" dirty="0">
                <a:solidFill>
                  <a:schemeClr val="tx1"/>
                </a:solidFill>
              </a:rPr>
              <a:t>A</a:t>
            </a:r>
            <a:r>
              <a:rPr dirty="0">
                <a:solidFill>
                  <a:schemeClr val="tx1"/>
                </a:solidFill>
              </a:rPr>
              <a:t> is independent of </a:t>
            </a:r>
            <a:r>
              <a:rPr i="1" dirty="0">
                <a:solidFill>
                  <a:schemeClr val="tx1"/>
                </a:solidFill>
              </a:rPr>
              <a:t>B</a:t>
            </a:r>
            <a:r>
              <a:rPr dirty="0">
                <a:solidFill>
                  <a:schemeClr val="tx1"/>
                </a:solidFill>
              </a:rPr>
              <a:t> then don’t need to check if </a:t>
            </a:r>
            <a:r>
              <a:rPr i="1" dirty="0">
                <a:solidFill>
                  <a:schemeClr val="tx1"/>
                </a:solidFill>
              </a:rPr>
              <a:t>A</a:t>
            </a:r>
            <a:r>
              <a:rPr dirty="0">
                <a:solidFill>
                  <a:schemeClr val="tx1"/>
                </a:solidFill>
              </a:rPr>
              <a:t> is independent of </a:t>
            </a:r>
            <a:r>
              <a:rPr i="1" dirty="0">
                <a:solidFill>
                  <a:schemeClr val="tx1"/>
                </a:solidFill>
              </a:rPr>
              <a:t>B </a:t>
            </a:r>
            <a:r>
              <a:rPr dirty="0">
                <a:solidFill>
                  <a:schemeClr val="tx1"/>
                </a:solidFill>
              </a:rPr>
              <a:t>conditional on </a:t>
            </a:r>
            <a:r>
              <a:rPr i="1" dirty="0">
                <a:solidFill>
                  <a:schemeClr val="tx1"/>
                </a:solidFill>
              </a:rPr>
              <a:t>C</a:t>
            </a:r>
            <a:r>
              <a:rPr dirty="0">
                <a:solidFill>
                  <a:schemeClr val="tx1"/>
                </a:solidFill>
              </a:rPr>
              <a:t>.</a:t>
            </a:r>
          </a:p>
          <a:p>
            <a:pPr marL="406400" lvl="1" indent="50800" defTabSz="1300480">
              <a:spcBef>
                <a:spcPts val="0"/>
              </a:spcBef>
              <a:buSzTx/>
              <a:buFont typeface="Wingdings"/>
              <a:buNone/>
              <a:defRPr sz="2800">
                <a:solidFill>
                  <a:srgbClr val="FFFFFF"/>
                </a:solidFill>
                <a:latin typeface="Times New Roman"/>
                <a:ea typeface="Times New Roman"/>
                <a:cs typeface="Times New Roman"/>
                <a:sym typeface="Times New Roman"/>
              </a:defRPr>
            </a:pPr>
            <a:endParaRPr dirty="0">
              <a:solidFill>
                <a:schemeClr val="tx1"/>
              </a:solidFill>
            </a:endParaRPr>
          </a:p>
          <a:p>
            <a:pPr marL="485775" indent="-485775" defTabSz="1300480">
              <a:lnSpc>
                <a:spcPct val="90000"/>
              </a:lnSpc>
              <a:spcBef>
                <a:spcPts val="800"/>
              </a:spcBef>
              <a:buSzPct val="80000"/>
              <a:buChar char="●"/>
              <a:defRPr sz="3400">
                <a:solidFill>
                  <a:srgbClr val="FFFFFF"/>
                </a:solidFill>
                <a:latin typeface="Times New Roman"/>
                <a:ea typeface="Times New Roman"/>
                <a:cs typeface="Times New Roman"/>
                <a:sym typeface="Times New Roman"/>
              </a:defRPr>
            </a:pPr>
            <a:r>
              <a:rPr dirty="0">
                <a:solidFill>
                  <a:schemeClr val="tx1"/>
                </a:solidFill>
              </a:rPr>
              <a:t>Statistical Efficiency</a:t>
            </a:r>
          </a:p>
          <a:p>
            <a:pPr marL="857250" lvl="1" indent="-400050" defTabSz="1300480">
              <a:spcBef>
                <a:spcPts val="0"/>
              </a:spcBef>
              <a:buSzPct val="80000"/>
              <a:buChar char="■"/>
              <a:defRPr sz="2800">
                <a:solidFill>
                  <a:srgbClr val="FFFFFF"/>
                </a:solidFill>
                <a:latin typeface="Times New Roman"/>
                <a:ea typeface="Times New Roman"/>
                <a:cs typeface="Times New Roman"/>
                <a:sym typeface="Times New Roman"/>
              </a:defRPr>
            </a:pPr>
            <a:r>
              <a:rPr dirty="0">
                <a:solidFill>
                  <a:schemeClr val="tx1"/>
                </a:solidFill>
              </a:rPr>
              <a:t>The Markov equivalence class can be found without testing independence conditional on a set with more than maximum degree of any variable in the true causal graph. </a:t>
            </a:r>
          </a:p>
        </p:txBody>
      </p:sp>
      <p:sp>
        <p:nvSpPr>
          <p:cNvPr id="54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650240">
              <a:defRPr sz="1600">
                <a:solidFill>
                  <a:srgbClr val="1B3861"/>
                </a:solidFill>
                <a:latin typeface="Trebuchet MS"/>
                <a:ea typeface="Trebuchet MS"/>
                <a:cs typeface="Trebuchet MS"/>
                <a:sym typeface="Trebuchet MS"/>
              </a:defRPr>
            </a:lvl1pPr>
          </a:lstStyle>
          <a:p>
            <a:fld id="{86CB4B4D-7CA3-9044-876B-883B54F8677D}" type="slidenum">
              <a:t>28</a:t>
            </a:fld>
            <a:endParaRPr/>
          </a:p>
        </p:txBody>
      </p:sp>
      <p:sp>
        <p:nvSpPr>
          <p:cNvPr id="541" name="Line"/>
          <p:cNvSpPr/>
          <p:nvPr/>
        </p:nvSpPr>
        <p:spPr>
          <a:xfrm>
            <a:off x="9281724" y="3577449"/>
            <a:ext cx="1790419" cy="307059"/>
          </a:xfrm>
          <a:custGeom>
            <a:avLst/>
            <a:gdLst/>
            <a:ahLst/>
            <a:cxnLst>
              <a:cxn ang="0">
                <a:pos x="wd2" y="hd2"/>
              </a:cxn>
              <a:cxn ang="5400000">
                <a:pos x="wd2" y="hd2"/>
              </a:cxn>
              <a:cxn ang="10800000">
                <a:pos x="wd2" y="hd2"/>
              </a:cxn>
              <a:cxn ang="16200000">
                <a:pos x="wd2" y="hd2"/>
              </a:cxn>
            </a:cxnLst>
            <a:rect l="0" t="0" r="r" b="b"/>
            <a:pathLst>
              <a:path w="21600" h="20938" extrusionOk="0">
                <a:moveTo>
                  <a:pt x="0" y="0"/>
                </a:moveTo>
                <a:cubicBezTo>
                  <a:pt x="2148" y="7568"/>
                  <a:pt x="4296" y="15137"/>
                  <a:pt x="6716" y="18368"/>
                </a:cubicBezTo>
                <a:cubicBezTo>
                  <a:pt x="9136" y="21600"/>
                  <a:pt x="12040" y="21600"/>
                  <a:pt x="14521" y="19389"/>
                </a:cubicBezTo>
                <a:cubicBezTo>
                  <a:pt x="17002" y="17178"/>
                  <a:pt x="21600" y="5102"/>
                  <a:pt x="21600" y="5102"/>
                </a:cubicBezTo>
              </a:path>
            </a:pathLst>
          </a:custGeom>
          <a:ln w="12700">
            <a:solidFill>
              <a:srgbClr val="FFFFFF"/>
            </a:solidFill>
            <a:miter/>
            <a:tailEnd type="triangle"/>
          </a:ln>
        </p:spPr>
        <p:txBody>
          <a:bodyPr lIns="65023" tIns="65023" rIns="65023" bIns="65023" anchor="ctr"/>
          <a:lstStyle/>
          <a:p>
            <a:pPr algn="l" defTabSz="1300480">
              <a:defRPr sz="3400">
                <a:solidFill>
                  <a:srgbClr val="FFFFFF"/>
                </a:solidFill>
                <a:latin typeface="Arial"/>
                <a:ea typeface="Arial"/>
                <a:cs typeface="Arial"/>
                <a:sym typeface="Arial"/>
              </a:defRPr>
            </a:pPr>
            <a:endParaRPr/>
          </a:p>
        </p:txBody>
      </p:sp>
      <p:sp>
        <p:nvSpPr>
          <p:cNvPr id="543" name="4/7/22"/>
          <p:cNvSpPr txBox="1"/>
          <p:nvPr/>
        </p:nvSpPr>
        <p:spPr>
          <a:xfrm>
            <a:off x="1040383" y="9179193"/>
            <a:ext cx="2579287" cy="3892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5023" tIns="65023" rIns="65023" bIns="65023" anchor="b">
            <a:spAutoFit/>
          </a:bodyPr>
          <a:lstStyle>
            <a:lvl1pPr algn="l" defTabSz="1300480">
              <a:defRPr sz="1800">
                <a:solidFill>
                  <a:srgbClr val="FFFFFF"/>
                </a:solidFill>
                <a:latin typeface="Arial"/>
                <a:ea typeface="Arial"/>
                <a:cs typeface="Arial"/>
                <a:sym typeface="Arial"/>
              </a:defRPr>
            </a:lvl1pPr>
          </a:lstStyle>
          <a:p>
            <a:r>
              <a:t>4/7/22</a:t>
            </a:r>
          </a:p>
        </p:txBody>
      </p:sp>
    </p:spTree>
    <p:extLst>
      <p:ext uri="{BB962C8B-B14F-4D97-AF65-F5344CB8AC3E}">
        <p14:creationId xmlns:p14="http://schemas.microsoft.com/office/powerpoint/2010/main" val="217308097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92" name="Dimensions of Problem"/>
          <p:cNvSpPr txBox="1">
            <a:spLocks noGrp="1"/>
          </p:cNvSpPr>
          <p:nvPr>
            <p:ph type="title"/>
          </p:nvPr>
        </p:nvSpPr>
        <p:spPr>
          <a:prstGeom prst="rect">
            <a:avLst/>
          </a:prstGeom>
        </p:spPr>
        <p:txBody>
          <a:bodyPr>
            <a:normAutofit fontScale="90000"/>
          </a:bodyPr>
          <a:lstStyle/>
          <a:p>
            <a:r>
              <a:rPr lang="en-US" sz="6000" dirty="0">
                <a:latin typeface="Baskerville"/>
                <a:ea typeface="Baskerville"/>
                <a:sym typeface="Baskerville"/>
              </a:rPr>
              <a:t>More Often Unmentioned Assumptions – None of the Following</a:t>
            </a:r>
            <a:endParaRPr sz="6000" dirty="0">
              <a:latin typeface="Baskerville"/>
              <a:ea typeface="Baskerville"/>
              <a:sym typeface="Baskerville"/>
            </a:endParaRPr>
          </a:p>
        </p:txBody>
      </p:sp>
      <p:sp>
        <p:nvSpPr>
          <p:cNvPr id="1293" name="Unmeasured Confounders…"/>
          <p:cNvSpPr txBox="1">
            <a:spLocks noGrp="1"/>
          </p:cNvSpPr>
          <p:nvPr>
            <p:ph type="body" idx="1"/>
          </p:nvPr>
        </p:nvSpPr>
        <p:spPr>
          <a:prstGeom prst="rect">
            <a:avLst/>
          </a:prstGeom>
        </p:spPr>
        <p:txBody>
          <a:bodyPr numCol="2">
            <a:normAutofit lnSpcReduction="10000"/>
          </a:bodyPr>
          <a:lstStyle/>
          <a:p>
            <a:pPr marL="693419" indent="-445769" defTabSz="455675">
              <a:spcBef>
                <a:spcPts val="1800"/>
              </a:spcBef>
              <a:defRPr sz="3275">
                <a:latin typeface="Times New Roman"/>
                <a:ea typeface="Times New Roman"/>
                <a:cs typeface="Times New Roman"/>
                <a:sym typeface="Times New Roman"/>
              </a:defRPr>
            </a:pPr>
            <a:r>
              <a:rPr lang="en-US" dirty="0"/>
              <a:t>Too many variables</a:t>
            </a:r>
          </a:p>
          <a:p>
            <a:pPr marL="693419" indent="-445769" defTabSz="455675">
              <a:spcBef>
                <a:spcPts val="1800"/>
              </a:spcBef>
              <a:defRPr sz="3275">
                <a:latin typeface="Times New Roman"/>
                <a:ea typeface="Times New Roman"/>
                <a:cs typeface="Times New Roman"/>
                <a:sym typeface="Times New Roman"/>
              </a:defRPr>
            </a:pPr>
            <a:r>
              <a:rPr lang="en-US" dirty="0"/>
              <a:t>Inadequate sample size</a:t>
            </a:r>
          </a:p>
          <a:p>
            <a:pPr marL="633454" indent="-385804" defTabSz="455675">
              <a:spcBef>
                <a:spcPts val="2900"/>
              </a:spcBef>
              <a:defRPr sz="3275">
                <a:latin typeface="Times New Roman"/>
                <a:ea typeface="Times New Roman"/>
                <a:cs typeface="Times New Roman"/>
                <a:sym typeface="Times New Roman"/>
              </a:defRPr>
            </a:pPr>
            <a:r>
              <a:rPr dirty="0"/>
              <a:t>Selection Bias</a:t>
            </a:r>
          </a:p>
          <a:p>
            <a:pPr marL="633454" indent="-385804" defTabSz="455675">
              <a:spcBef>
                <a:spcPts val="2900"/>
              </a:spcBef>
              <a:defRPr sz="3275">
                <a:latin typeface="Times New Roman"/>
                <a:ea typeface="Times New Roman"/>
                <a:cs typeface="Times New Roman"/>
                <a:sym typeface="Times New Roman"/>
              </a:defRPr>
            </a:pPr>
            <a:r>
              <a:rPr dirty="0"/>
              <a:t>Measurement error</a:t>
            </a:r>
          </a:p>
          <a:p>
            <a:pPr marL="633454" indent="-385804" defTabSz="455675">
              <a:spcBef>
                <a:spcPts val="2900"/>
              </a:spcBef>
              <a:defRPr sz="3275">
                <a:latin typeface="Times New Roman"/>
                <a:ea typeface="Times New Roman"/>
                <a:cs typeface="Times New Roman"/>
                <a:sym typeface="Times New Roman"/>
              </a:defRPr>
            </a:pPr>
            <a:r>
              <a:rPr dirty="0"/>
              <a:t>Missing data</a:t>
            </a:r>
          </a:p>
          <a:p>
            <a:pPr marL="633454" indent="-385804" defTabSz="455675">
              <a:spcBef>
                <a:spcPts val="2900"/>
              </a:spcBef>
              <a:defRPr sz="3275">
                <a:latin typeface="Times New Roman"/>
                <a:ea typeface="Times New Roman"/>
                <a:cs typeface="Times New Roman"/>
                <a:sym typeface="Times New Roman"/>
              </a:defRPr>
            </a:pPr>
            <a:r>
              <a:rPr dirty="0"/>
              <a:t>Multiple Data Sets from different contexts</a:t>
            </a:r>
          </a:p>
          <a:p>
            <a:pPr marL="693419" indent="-445769" defTabSz="455675">
              <a:spcBef>
                <a:spcPts val="1800"/>
              </a:spcBef>
              <a:defRPr sz="3275">
                <a:latin typeface="Times New Roman"/>
                <a:ea typeface="Times New Roman"/>
                <a:cs typeface="Times New Roman"/>
                <a:sym typeface="Times New Roman"/>
              </a:defRPr>
            </a:pPr>
            <a:r>
              <a:rPr dirty="0"/>
              <a:t>Aggregation of </a:t>
            </a:r>
            <a:r>
              <a:rPr lang="en-US" dirty="0"/>
              <a:t>Values</a:t>
            </a:r>
            <a:endParaRPr dirty="0"/>
          </a:p>
          <a:p>
            <a:pPr marL="693419" indent="-445769" defTabSz="455675">
              <a:spcBef>
                <a:spcPts val="1800"/>
              </a:spcBef>
              <a:defRPr sz="3275">
                <a:latin typeface="Times New Roman"/>
                <a:ea typeface="Times New Roman"/>
                <a:cs typeface="Times New Roman"/>
                <a:sym typeface="Times New Roman"/>
              </a:defRPr>
            </a:pPr>
            <a:r>
              <a:rPr lang="en-US" dirty="0"/>
              <a:t>Non-Gaussianity </a:t>
            </a:r>
          </a:p>
          <a:p>
            <a:pPr marL="693419" indent="-445769" defTabSz="455675">
              <a:spcBef>
                <a:spcPts val="1800"/>
              </a:spcBef>
              <a:defRPr sz="3275">
                <a:latin typeface="Times New Roman"/>
                <a:ea typeface="Times New Roman"/>
                <a:cs typeface="Times New Roman"/>
                <a:sym typeface="Times New Roman"/>
              </a:defRPr>
            </a:pPr>
            <a:r>
              <a:rPr dirty="0"/>
              <a:t>Non-linearity</a:t>
            </a:r>
          </a:p>
          <a:p>
            <a:pPr marL="693419" indent="-445769" defTabSz="455675">
              <a:spcBef>
                <a:spcPts val="1800"/>
              </a:spcBef>
              <a:defRPr sz="3275">
                <a:latin typeface="Times New Roman"/>
                <a:ea typeface="Times New Roman"/>
                <a:cs typeface="Times New Roman"/>
                <a:sym typeface="Times New Roman"/>
              </a:defRPr>
            </a:pPr>
            <a:r>
              <a:rPr dirty="0"/>
              <a:t>Non-stationarity</a:t>
            </a:r>
          </a:p>
          <a:p>
            <a:pPr marL="693419" indent="-445769" defTabSz="455675">
              <a:spcBef>
                <a:spcPts val="1800"/>
              </a:spcBef>
              <a:defRPr sz="3275">
                <a:latin typeface="Times New Roman"/>
                <a:ea typeface="Times New Roman"/>
                <a:cs typeface="Times New Roman"/>
                <a:sym typeface="Times New Roman"/>
              </a:defRPr>
            </a:pPr>
            <a:r>
              <a:rPr dirty="0"/>
              <a:t>Mixtures of distributions</a:t>
            </a:r>
            <a:endParaRPr lang="en-US" dirty="0"/>
          </a:p>
          <a:p>
            <a:pPr marL="693419" indent="-445769" defTabSz="455675">
              <a:spcBef>
                <a:spcPts val="1800"/>
              </a:spcBef>
              <a:defRPr sz="3275">
                <a:latin typeface="Times New Roman"/>
                <a:ea typeface="Times New Roman"/>
                <a:cs typeface="Times New Roman"/>
                <a:sym typeface="Times New Roman"/>
              </a:defRPr>
            </a:pPr>
            <a:r>
              <a:rPr lang="en-US" dirty="0"/>
              <a:t>Mixtures of structures</a:t>
            </a:r>
          </a:p>
          <a:p>
            <a:pPr marL="693419" indent="-445769" defTabSz="455675">
              <a:spcBef>
                <a:spcPts val="1800"/>
              </a:spcBef>
              <a:defRPr sz="3275">
                <a:latin typeface="Times New Roman"/>
                <a:ea typeface="Times New Roman"/>
                <a:cs typeface="Times New Roman"/>
                <a:sym typeface="Times New Roman"/>
              </a:defRPr>
            </a:pPr>
            <a:r>
              <a:rPr lang="en-US" dirty="0"/>
              <a:t>Non-causal relationships</a:t>
            </a:r>
          </a:p>
          <a:p>
            <a:pPr marL="693419" indent="-445769" defTabSz="455675">
              <a:spcBef>
                <a:spcPts val="1800"/>
              </a:spcBef>
              <a:defRPr sz="3275">
                <a:latin typeface="Times New Roman"/>
                <a:ea typeface="Times New Roman"/>
                <a:cs typeface="Times New Roman"/>
                <a:sym typeface="Times New Roman"/>
              </a:defRPr>
            </a:pPr>
            <a:r>
              <a:rPr lang="en-US" dirty="0"/>
              <a:t>Problems of randomized controlled experimentd</a:t>
            </a:r>
          </a:p>
        </p:txBody>
      </p:sp>
      <p:sp>
        <p:nvSpPr>
          <p:cNvPr id="1294" name="4/7/22"/>
          <p:cNvSpPr txBox="1"/>
          <p:nvPr/>
        </p:nvSpPr>
        <p:spPr>
          <a:xfrm>
            <a:off x="1040383" y="9179193"/>
            <a:ext cx="2579287" cy="3892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3" tIns="65023" rIns="65023" bIns="65023" anchor="b">
            <a:spAutoFit/>
          </a:bodyPr>
          <a:lstStyle>
            <a:lvl1pPr algn="l" defTabSz="1300480">
              <a:defRPr sz="1800">
                <a:solidFill>
                  <a:srgbClr val="FFFFFF"/>
                </a:solidFill>
                <a:latin typeface="Arial"/>
                <a:ea typeface="Arial"/>
                <a:cs typeface="Arial"/>
                <a:sym typeface="Arial"/>
              </a:defRPr>
            </a:lvl1pPr>
          </a:lstStyle>
          <a:p>
            <a:r>
              <a:t>4/7/22</a:t>
            </a:r>
          </a:p>
        </p:txBody>
      </p:sp>
    </p:spTree>
    <p:extLst>
      <p:ext uri="{BB962C8B-B14F-4D97-AF65-F5344CB8AC3E}">
        <p14:creationId xmlns:p14="http://schemas.microsoft.com/office/powerpoint/2010/main" val="3098570826"/>
      </p:ext>
    </p:extLst>
  </p:cSld>
  <p:clrMapOvr>
    <a:overrideClrMapping bg1="lt1" tx1="dk1" bg2="lt2" tx2="dk2" accent1="accent1" accent2="accent2" accent3="accent3" accent4="accent4" accent5="accent5" accent6="accent6" hlink="hlink" folHlink="folHlink"/>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92" name="Dimensions of Problem"/>
          <p:cNvSpPr txBox="1">
            <a:spLocks noGrp="1"/>
          </p:cNvSpPr>
          <p:nvPr>
            <p:ph type="title"/>
          </p:nvPr>
        </p:nvSpPr>
        <p:spPr>
          <a:prstGeom prst="rect">
            <a:avLst/>
          </a:prstGeom>
        </p:spPr>
        <p:txBody>
          <a:bodyPr>
            <a:normAutofit/>
          </a:bodyPr>
          <a:lstStyle/>
          <a:p>
            <a:r>
              <a:rPr lang="en-US" sz="6000" dirty="0">
                <a:latin typeface="Baskerville"/>
                <a:ea typeface="Baskerville"/>
                <a:sym typeface="Baskerville"/>
              </a:rPr>
              <a:t>Inferences of Effects</a:t>
            </a:r>
            <a:endParaRPr sz="6000" dirty="0">
              <a:latin typeface="Baskerville"/>
              <a:ea typeface="Baskerville"/>
              <a:sym typeface="Baskerville"/>
            </a:endParaRPr>
          </a:p>
        </p:txBody>
      </p:sp>
      <p:sp>
        <p:nvSpPr>
          <p:cNvPr id="1293" name="Unmeasured Confounders…"/>
          <p:cNvSpPr txBox="1">
            <a:spLocks noGrp="1"/>
          </p:cNvSpPr>
          <p:nvPr>
            <p:ph type="body" idx="1"/>
          </p:nvPr>
        </p:nvSpPr>
        <p:spPr>
          <a:prstGeom prst="rect">
            <a:avLst/>
          </a:prstGeom>
        </p:spPr>
        <p:txBody>
          <a:bodyPr numCol="1" spcCol="91440">
            <a:normAutofit/>
          </a:bodyPr>
          <a:lstStyle/>
          <a:p>
            <a:pPr marL="693419" indent="-445769" defTabSz="455675">
              <a:spcBef>
                <a:spcPts val="1800"/>
              </a:spcBef>
              <a:defRPr sz="3275">
                <a:latin typeface="Times New Roman"/>
                <a:ea typeface="Times New Roman"/>
                <a:cs typeface="Times New Roman"/>
                <a:sym typeface="Times New Roman"/>
              </a:defRPr>
            </a:pPr>
            <a:r>
              <a:rPr lang="en-US" sz="4400" dirty="0"/>
              <a:t>Rules equivalent to do-calculus with possible latents: SGS, 1993</a:t>
            </a:r>
          </a:p>
          <a:p>
            <a:pPr marL="693419" indent="-445769" defTabSz="455675">
              <a:spcBef>
                <a:spcPts val="1800"/>
              </a:spcBef>
              <a:defRPr sz="3275">
                <a:latin typeface="Times New Roman"/>
                <a:ea typeface="Times New Roman"/>
                <a:cs typeface="Times New Roman"/>
                <a:sym typeface="Times New Roman"/>
              </a:defRPr>
            </a:pPr>
            <a:r>
              <a:rPr lang="en-US" sz="4400" dirty="0"/>
              <a:t>Pearl: do-calculus, 1995</a:t>
            </a:r>
          </a:p>
        </p:txBody>
      </p:sp>
      <p:sp>
        <p:nvSpPr>
          <p:cNvPr id="1294" name="4/7/22"/>
          <p:cNvSpPr txBox="1"/>
          <p:nvPr/>
        </p:nvSpPr>
        <p:spPr>
          <a:xfrm>
            <a:off x="1040383" y="9179193"/>
            <a:ext cx="2579287" cy="3892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5023" tIns="65023" rIns="65023" bIns="65023" anchor="b">
            <a:spAutoFit/>
          </a:bodyPr>
          <a:lstStyle>
            <a:lvl1pPr algn="l" defTabSz="1300480">
              <a:defRPr sz="1800">
                <a:solidFill>
                  <a:srgbClr val="FFFFFF"/>
                </a:solidFill>
                <a:latin typeface="Arial"/>
                <a:ea typeface="Arial"/>
                <a:cs typeface="Arial"/>
                <a:sym typeface="Arial"/>
              </a:defRPr>
            </a:lvl1pPr>
          </a:lstStyle>
          <a:p>
            <a:r>
              <a:t>4/7/22</a:t>
            </a:r>
          </a:p>
        </p:txBody>
      </p:sp>
    </p:spTree>
    <p:extLst>
      <p:ext uri="{BB962C8B-B14F-4D97-AF65-F5344CB8AC3E}">
        <p14:creationId xmlns:p14="http://schemas.microsoft.com/office/powerpoint/2010/main" val="2216128925"/>
      </p:ext>
    </p:extLst>
  </p:cSld>
  <p:clrMapOvr>
    <a:overrideClrMapping bg1="lt1" tx1="dk1" bg2="lt2" tx2="dk2" accent1="accent1" accent2="accent2" accent3="accent3" accent4="accent4" accent5="accent5" accent6="accent6" hlink="hlink" folHlink="folHlink"/>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661B88-55EA-E5A7-0B62-BBCF6256A078}"/>
              </a:ext>
            </a:extLst>
          </p:cNvPr>
          <p:cNvSpPr>
            <a:spLocks noGrp="1"/>
          </p:cNvSpPr>
          <p:nvPr>
            <p:ph type="title"/>
          </p:nvPr>
        </p:nvSpPr>
        <p:spPr/>
        <p:txBody>
          <a:bodyPr/>
          <a:lstStyle/>
          <a:p>
            <a:r>
              <a:rPr lang="en-US" sz="6000" dirty="0">
                <a:latin typeface="Baskerville"/>
                <a:ea typeface="Baskerville"/>
                <a:sym typeface="Baskerville"/>
              </a:rPr>
              <a:t>Search</a:t>
            </a:r>
          </a:p>
        </p:txBody>
      </p:sp>
    </p:spTree>
    <p:extLst>
      <p:ext uri="{BB962C8B-B14F-4D97-AF65-F5344CB8AC3E}">
        <p14:creationId xmlns:p14="http://schemas.microsoft.com/office/powerpoint/2010/main" val="18784652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BD3-DF62-DBB2-13DF-2E3CF5B59397}"/>
              </a:ext>
            </a:extLst>
          </p:cNvPr>
          <p:cNvSpPr>
            <a:spLocks noGrp="1"/>
          </p:cNvSpPr>
          <p:nvPr>
            <p:ph type="title"/>
          </p:nvPr>
        </p:nvSpPr>
        <p:spPr>
          <a:xfrm>
            <a:off x="442452" y="191655"/>
            <a:ext cx="11734800" cy="2438400"/>
          </a:xfrm>
        </p:spPr>
        <p:txBody>
          <a:bodyPr>
            <a:normAutofit fontScale="90000"/>
          </a:bodyPr>
          <a:lstStyle/>
          <a:p>
            <a:pPr marL="693419" indent="-445769" defTabSz="455675">
              <a:spcBef>
                <a:spcPts val="1800"/>
              </a:spcBef>
              <a:defRPr sz="3275">
                <a:latin typeface="Times New Roman"/>
                <a:ea typeface="Times New Roman"/>
                <a:cs typeface="Times New Roman"/>
                <a:sym typeface="Times New Roman"/>
              </a:defRPr>
            </a:pPr>
            <a:br>
              <a:rPr lang="en-US" sz="6000" dirty="0">
                <a:latin typeface="Baskerville" panose="02020502070401020303" pitchFamily="18" charset="0"/>
                <a:ea typeface="Baskerville" panose="02020502070401020303" pitchFamily="18" charset="0"/>
                <a:cs typeface="Times New Roman" panose="02020603050405020304" pitchFamily="18" charset="0"/>
                <a:sym typeface="Baskerville"/>
              </a:rPr>
            </a:br>
            <a:r>
              <a:rPr lang="en-US" sz="6000" dirty="0">
                <a:latin typeface="Baskerville" panose="02020502070401020303" pitchFamily="18" charset="0"/>
                <a:ea typeface="Baskerville" panose="02020502070401020303" pitchFamily="18" charset="0"/>
                <a:cs typeface="Times New Roman" panose="02020603050405020304" pitchFamily="18" charset="0"/>
                <a:sym typeface="Baskerville"/>
              </a:rPr>
              <a:t>Causal Structure Learning and Causal Representation Learning</a:t>
            </a:r>
          </a:p>
        </p:txBody>
      </p:sp>
      <p:sp>
        <p:nvSpPr>
          <p:cNvPr id="3" name="Text Placeholder 2">
            <a:extLst>
              <a:ext uri="{FF2B5EF4-FFF2-40B4-BE49-F238E27FC236}">
                <a16:creationId xmlns:a16="http://schemas.microsoft.com/office/drawing/2014/main" id="{C7A843D8-DC01-1ED5-6307-C287C515E4FC}"/>
              </a:ext>
            </a:extLst>
          </p:cNvPr>
          <p:cNvSpPr>
            <a:spLocks noGrp="1"/>
          </p:cNvSpPr>
          <p:nvPr>
            <p:ph type="body" idx="1"/>
          </p:nvPr>
        </p:nvSpPr>
        <p:spPr>
          <a:xfrm>
            <a:off x="827548" y="2630055"/>
            <a:ext cx="10464800" cy="5715000"/>
          </a:xfrm>
        </p:spPr>
        <p:txBody>
          <a:bodyPr numCol="2">
            <a:normAutofit fontScale="62500" lnSpcReduction="20000"/>
          </a:bodyPr>
          <a:lstStyle/>
          <a:p>
            <a:r>
              <a:rPr lang="en-US" sz="5100" dirty="0">
                <a:latin typeface="Times New Roman" panose="02020603050405020304" pitchFamily="18" charset="0"/>
                <a:cs typeface="Times New Roman" panose="02020603050405020304" pitchFamily="18" charset="0"/>
              </a:rPr>
              <a:t>Inputs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Data (observational or experimental or combination)</a:t>
            </a:r>
          </a:p>
          <a:p>
            <a:pPr lvl="1"/>
            <a:r>
              <a:rPr lang="en-US" dirty="0">
                <a:latin typeface="Times New Roman" panose="02020603050405020304" pitchFamily="18" charset="0"/>
                <a:cs typeface="Times New Roman" panose="02020603050405020304" pitchFamily="18" charset="0"/>
              </a:rPr>
              <a:t>Optional Domain Knowledge </a:t>
            </a:r>
          </a:p>
          <a:p>
            <a:pPr lvl="2"/>
            <a:r>
              <a:rPr lang="en-US" dirty="0">
                <a:latin typeface="Times New Roman" panose="02020603050405020304" pitchFamily="18" charset="0"/>
                <a:cs typeface="Times New Roman" panose="02020603050405020304" pitchFamily="18" charset="0"/>
              </a:rPr>
              <a:t>Temporal order</a:t>
            </a:r>
          </a:p>
          <a:p>
            <a:pPr lvl="2"/>
            <a:r>
              <a:rPr lang="en-US" dirty="0">
                <a:latin typeface="Times New Roman" panose="02020603050405020304" pitchFamily="18" charset="0"/>
                <a:cs typeface="Times New Roman" panose="02020603050405020304" pitchFamily="18" charset="0"/>
              </a:rPr>
              <a:t>Known causes</a:t>
            </a:r>
          </a:p>
          <a:p>
            <a:pPr lvl="2"/>
            <a:r>
              <a:rPr lang="en-US" dirty="0">
                <a:latin typeface="Times New Roman" panose="02020603050405020304" pitchFamily="18" charset="0"/>
                <a:cs typeface="Times New Roman" panose="02020603050405020304" pitchFamily="18" charset="0"/>
              </a:rPr>
              <a:t>Known non-causes</a:t>
            </a:r>
          </a:p>
          <a:p>
            <a:pPr lvl="2"/>
            <a:r>
              <a:rPr lang="en-US" dirty="0">
                <a:latin typeface="Times New Roman" panose="02020603050405020304" pitchFamily="18" charset="0"/>
                <a:cs typeface="Times New Roman" panose="02020603050405020304" pitchFamily="18" charset="0"/>
              </a:rPr>
              <a:t>etc. </a:t>
            </a:r>
          </a:p>
          <a:p>
            <a:pPr lvl="1"/>
            <a:r>
              <a:rPr lang="en-US" sz="5100" dirty="0">
                <a:latin typeface="Times New Roman" panose="02020603050405020304" pitchFamily="18" charset="0"/>
                <a:cs typeface="Times New Roman" panose="02020603050405020304" pitchFamily="18" charset="0"/>
              </a:rPr>
              <a:t>Assumptions</a:t>
            </a:r>
            <a:endParaRPr lang="en-US" dirty="0">
              <a:latin typeface="Times New Roman" panose="02020603050405020304" pitchFamily="18" charset="0"/>
              <a:cs typeface="Times New Roman" panose="02020603050405020304" pitchFamily="18" charset="0"/>
            </a:endParaRPr>
          </a:p>
          <a:p>
            <a:pPr lvl="2"/>
            <a:r>
              <a:rPr lang="en-US" dirty="0">
                <a:latin typeface="Times New Roman" panose="02020603050405020304" pitchFamily="18" charset="0"/>
                <a:cs typeface="Times New Roman" panose="02020603050405020304" pitchFamily="18" charset="0"/>
              </a:rPr>
              <a:t>Causal Markov Assumption</a:t>
            </a:r>
          </a:p>
          <a:p>
            <a:pPr lvl="2"/>
            <a:r>
              <a:rPr lang="en-US" dirty="0">
                <a:latin typeface="Times New Roman" panose="02020603050405020304" pitchFamily="18" charset="0"/>
                <a:cs typeface="Times New Roman" panose="02020603050405020304" pitchFamily="18" charset="0"/>
              </a:rPr>
              <a:t>Simplicity Assumption</a:t>
            </a:r>
          </a:p>
          <a:p>
            <a:pPr lvl="1"/>
            <a:r>
              <a:rPr lang="en-US" sz="5100" dirty="0">
                <a:latin typeface="Times New Roman" panose="02020603050405020304" pitchFamily="18" charset="0"/>
                <a:cs typeface="Times New Roman" panose="02020603050405020304" pitchFamily="18" charset="0"/>
              </a:rPr>
              <a:t>Outputs</a:t>
            </a:r>
          </a:p>
          <a:p>
            <a:pPr lvl="2"/>
            <a:r>
              <a:rPr lang="en-US" dirty="0">
                <a:latin typeface="Times New Roman" panose="02020603050405020304" pitchFamily="18" charset="0"/>
                <a:cs typeface="Times New Roman" panose="02020603050405020304" pitchFamily="18" charset="0"/>
              </a:rPr>
              <a:t>Set of causal graphs, or</a:t>
            </a:r>
          </a:p>
          <a:p>
            <a:pPr lvl="2"/>
            <a:r>
              <a:rPr lang="en-US" dirty="0">
                <a:latin typeface="Times New Roman" panose="02020603050405020304" pitchFamily="18" charset="0"/>
                <a:cs typeface="Times New Roman" panose="02020603050405020304" pitchFamily="18" charset="0"/>
              </a:rPr>
              <a:t>Probability distribution over causal graphs, or</a:t>
            </a:r>
          </a:p>
          <a:p>
            <a:pPr lvl="2"/>
            <a:r>
              <a:rPr lang="en-US"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5119987C-3FBA-BCE8-F9D7-DC757BE51031}"/>
              </a:ext>
            </a:extLst>
          </p:cNvPr>
          <p:cNvSpPr>
            <a:spLocks noGrp="1"/>
          </p:cNvSpPr>
          <p:nvPr>
            <p:ph type="sldNum" sz="quarter" idx="2"/>
          </p:nvPr>
        </p:nvSpPr>
        <p:spPr/>
        <p:txBody>
          <a:bodyPr/>
          <a:lstStyle/>
          <a:p>
            <a:fld id="{86CB4B4D-7CA3-9044-876B-883B54F8677D}" type="slidenum">
              <a:rPr lang="en-US"/>
              <a:t>32</a:t>
            </a:fld>
            <a:endParaRPr lang="en-US"/>
          </a:p>
        </p:txBody>
      </p:sp>
    </p:spTree>
    <p:extLst>
      <p:ext uri="{BB962C8B-B14F-4D97-AF65-F5344CB8AC3E}">
        <p14:creationId xmlns:p14="http://schemas.microsoft.com/office/powerpoint/2010/main" val="2003819553"/>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BD3-DF62-DBB2-13DF-2E3CF5B59397}"/>
              </a:ext>
            </a:extLst>
          </p:cNvPr>
          <p:cNvSpPr>
            <a:spLocks noGrp="1"/>
          </p:cNvSpPr>
          <p:nvPr>
            <p:ph type="title"/>
          </p:nvPr>
        </p:nvSpPr>
        <p:spPr>
          <a:xfrm>
            <a:off x="442452" y="191655"/>
            <a:ext cx="11734800" cy="2438400"/>
          </a:xfrm>
        </p:spPr>
        <p:txBody>
          <a:bodyPr>
            <a:normAutofit/>
          </a:bodyPr>
          <a:lstStyle/>
          <a:p>
            <a:pPr marL="693419" indent="-445769" defTabSz="455675">
              <a:spcBef>
                <a:spcPts val="1800"/>
              </a:spcBef>
              <a:defRPr sz="3275">
                <a:latin typeface="Times New Roman"/>
                <a:ea typeface="Times New Roman"/>
                <a:cs typeface="Times New Roman"/>
                <a:sym typeface="Times New Roman"/>
              </a:defRPr>
            </a:pPr>
            <a:br>
              <a:rPr lang="en-US" sz="6000" dirty="0">
                <a:latin typeface="Baskerville" panose="02020502070401020303" pitchFamily="18" charset="0"/>
                <a:ea typeface="Baskerville" panose="02020502070401020303" pitchFamily="18" charset="0"/>
                <a:cs typeface="Times New Roman" panose="02020603050405020304" pitchFamily="18" charset="0"/>
                <a:sym typeface="Baskerville"/>
              </a:rPr>
            </a:br>
            <a:r>
              <a:rPr lang="en-US" sz="6000" dirty="0">
                <a:latin typeface="Baskerville" panose="02020502070401020303" pitchFamily="18" charset="0"/>
                <a:ea typeface="Baskerville" panose="02020502070401020303" pitchFamily="18" charset="0"/>
                <a:cs typeface="Times New Roman" panose="02020603050405020304" pitchFamily="18" charset="0"/>
                <a:sym typeface="Baskerville"/>
              </a:rPr>
              <a:t>Two Kinds of Search</a:t>
            </a:r>
          </a:p>
        </p:txBody>
      </p:sp>
      <p:sp>
        <p:nvSpPr>
          <p:cNvPr id="3" name="Text Placeholder 2">
            <a:extLst>
              <a:ext uri="{FF2B5EF4-FFF2-40B4-BE49-F238E27FC236}">
                <a16:creationId xmlns:a16="http://schemas.microsoft.com/office/drawing/2014/main" id="{C7A843D8-DC01-1ED5-6307-C287C515E4FC}"/>
              </a:ext>
            </a:extLst>
          </p:cNvPr>
          <p:cNvSpPr>
            <a:spLocks noGrp="1"/>
          </p:cNvSpPr>
          <p:nvPr>
            <p:ph type="body" idx="1"/>
          </p:nvPr>
        </p:nvSpPr>
        <p:spPr>
          <a:xfrm>
            <a:off x="827548" y="2630055"/>
            <a:ext cx="10464800" cy="5715000"/>
          </a:xfrm>
        </p:spPr>
        <p:txBody>
          <a:bodyPr numCol="1">
            <a:normAutofit/>
          </a:bodyPr>
          <a:lstStyle/>
          <a:p>
            <a:r>
              <a:rPr lang="en-US" dirty="0">
                <a:latin typeface="Times New Roman" panose="02020603050405020304" pitchFamily="18" charset="0"/>
                <a:cs typeface="Times New Roman" panose="02020603050405020304" pitchFamily="18" charset="0"/>
              </a:rPr>
              <a:t>Causal structure learning – Predict the effects of interventions among variables that have been measured.</a:t>
            </a:r>
          </a:p>
          <a:p>
            <a:r>
              <a:rPr lang="en-US" dirty="0">
                <a:latin typeface="Times New Roman" panose="02020603050405020304" pitchFamily="18" charset="0"/>
                <a:cs typeface="Times New Roman" panose="02020603050405020304" pitchFamily="18" charset="0"/>
              </a:rPr>
              <a:t>Causal Representation Learning – Find causal relations between variables that have not been directly measured: e.g. personality traits.</a:t>
            </a:r>
          </a:p>
        </p:txBody>
      </p:sp>
      <p:sp>
        <p:nvSpPr>
          <p:cNvPr id="4" name="Slide Number Placeholder 3">
            <a:extLst>
              <a:ext uri="{FF2B5EF4-FFF2-40B4-BE49-F238E27FC236}">
                <a16:creationId xmlns:a16="http://schemas.microsoft.com/office/drawing/2014/main" id="{5119987C-3FBA-BCE8-F9D7-DC757BE51031}"/>
              </a:ext>
            </a:extLst>
          </p:cNvPr>
          <p:cNvSpPr>
            <a:spLocks noGrp="1"/>
          </p:cNvSpPr>
          <p:nvPr>
            <p:ph type="sldNum" sz="quarter" idx="2"/>
          </p:nvPr>
        </p:nvSpPr>
        <p:spPr/>
        <p:txBody>
          <a:bodyPr/>
          <a:lstStyle/>
          <a:p>
            <a:fld id="{86CB4B4D-7CA3-9044-876B-883B54F8677D}" type="slidenum">
              <a:rPr lang="en-US"/>
              <a:t>33</a:t>
            </a:fld>
            <a:endParaRPr lang="en-US"/>
          </a:p>
        </p:txBody>
      </p:sp>
    </p:spTree>
    <p:extLst>
      <p:ext uri="{BB962C8B-B14F-4D97-AF65-F5344CB8AC3E}">
        <p14:creationId xmlns:p14="http://schemas.microsoft.com/office/powerpoint/2010/main" val="301190083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BD3-DF62-DBB2-13DF-2E3CF5B59397}"/>
              </a:ext>
            </a:extLst>
          </p:cNvPr>
          <p:cNvSpPr>
            <a:spLocks noGrp="1"/>
          </p:cNvSpPr>
          <p:nvPr>
            <p:ph type="title"/>
          </p:nvPr>
        </p:nvSpPr>
        <p:spPr>
          <a:xfrm>
            <a:off x="442452" y="191655"/>
            <a:ext cx="11734800" cy="2438400"/>
          </a:xfrm>
        </p:spPr>
        <p:txBody>
          <a:bodyPr>
            <a:normAutofit/>
          </a:bodyPr>
          <a:lstStyle/>
          <a:p>
            <a:pPr marL="693419" indent="-445769" defTabSz="455675">
              <a:spcBef>
                <a:spcPts val="1800"/>
              </a:spcBef>
              <a:defRPr sz="3275">
                <a:latin typeface="Times New Roman"/>
                <a:ea typeface="Times New Roman"/>
                <a:cs typeface="Times New Roman"/>
                <a:sym typeface="Times New Roman"/>
              </a:defRPr>
            </a:pPr>
            <a:br>
              <a:rPr lang="en-US" sz="6000" dirty="0">
                <a:latin typeface="Baskerville" panose="02020502070401020303" pitchFamily="18" charset="0"/>
                <a:ea typeface="Baskerville" panose="02020502070401020303" pitchFamily="18" charset="0"/>
                <a:cs typeface="Times New Roman" panose="02020603050405020304" pitchFamily="18" charset="0"/>
                <a:sym typeface="Baskerville"/>
              </a:rPr>
            </a:br>
            <a:r>
              <a:rPr lang="en-US" sz="7200" dirty="0">
                <a:latin typeface="Times New Roman" panose="02020603050405020304" pitchFamily="18" charset="0"/>
                <a:cs typeface="Times New Roman" panose="02020603050405020304" pitchFamily="18" charset="0"/>
              </a:rPr>
              <a:t>Causal structure learning</a:t>
            </a:r>
            <a:endParaRPr lang="en-US" sz="6000" dirty="0">
              <a:latin typeface="Baskerville" panose="02020502070401020303" pitchFamily="18" charset="0"/>
              <a:ea typeface="Baskerville" panose="02020502070401020303" pitchFamily="18" charset="0"/>
              <a:cs typeface="Times New Roman" panose="02020603050405020304" pitchFamily="18" charset="0"/>
              <a:sym typeface="Baskerville"/>
            </a:endParaRPr>
          </a:p>
        </p:txBody>
      </p:sp>
      <p:sp>
        <p:nvSpPr>
          <p:cNvPr id="3" name="Text Placeholder 2">
            <a:extLst>
              <a:ext uri="{FF2B5EF4-FFF2-40B4-BE49-F238E27FC236}">
                <a16:creationId xmlns:a16="http://schemas.microsoft.com/office/drawing/2014/main" id="{C7A843D8-DC01-1ED5-6307-C287C515E4FC}"/>
              </a:ext>
            </a:extLst>
          </p:cNvPr>
          <p:cNvSpPr>
            <a:spLocks noGrp="1"/>
          </p:cNvSpPr>
          <p:nvPr>
            <p:ph type="body" idx="1"/>
          </p:nvPr>
        </p:nvSpPr>
        <p:spPr>
          <a:xfrm>
            <a:off x="827548" y="2630055"/>
            <a:ext cx="10464800" cy="5715000"/>
          </a:xfrm>
        </p:spPr>
        <p:txBody>
          <a:bodyPr numCol="1">
            <a:normAutofit/>
          </a:bodyPr>
          <a:lstStyle/>
          <a:p>
            <a:pPr marL="31750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119987C-3FBA-BCE8-F9D7-DC757BE51031}"/>
              </a:ext>
            </a:extLst>
          </p:cNvPr>
          <p:cNvSpPr>
            <a:spLocks noGrp="1"/>
          </p:cNvSpPr>
          <p:nvPr>
            <p:ph type="sldNum" sz="quarter" idx="2"/>
          </p:nvPr>
        </p:nvSpPr>
        <p:spPr/>
        <p:txBody>
          <a:bodyPr/>
          <a:lstStyle/>
          <a:p>
            <a:fld id="{86CB4B4D-7CA3-9044-876B-883B54F8677D}" type="slidenum">
              <a:rPr lang="en-US"/>
              <a:t>34</a:t>
            </a:fld>
            <a:endParaRPr lang="en-US"/>
          </a:p>
        </p:txBody>
      </p:sp>
    </p:spTree>
    <p:extLst>
      <p:ext uri="{BB962C8B-B14F-4D97-AF65-F5344CB8AC3E}">
        <p14:creationId xmlns:p14="http://schemas.microsoft.com/office/powerpoint/2010/main" val="3483174935"/>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9CC3A-418C-46ED-3CB6-51CD24315A7C}"/>
              </a:ext>
            </a:extLst>
          </p:cNvPr>
          <p:cNvSpPr>
            <a:spLocks noGrp="1"/>
          </p:cNvSpPr>
          <p:nvPr>
            <p:ph type="title"/>
          </p:nvPr>
        </p:nvSpPr>
        <p:spPr/>
        <p:txBody>
          <a:bodyPr/>
          <a:lstStyle/>
          <a:p>
            <a:r>
              <a:rPr lang="en-US" sz="6000" dirty="0">
                <a:latin typeface="Baskerville"/>
                <a:ea typeface="Baskerville"/>
                <a:sym typeface="Baskerville"/>
              </a:rPr>
              <a:t>The Alarm Network</a:t>
            </a:r>
          </a:p>
        </p:txBody>
      </p:sp>
      <p:sp>
        <p:nvSpPr>
          <p:cNvPr id="3" name="Text Placeholder 2">
            <a:extLst>
              <a:ext uri="{FF2B5EF4-FFF2-40B4-BE49-F238E27FC236}">
                <a16:creationId xmlns:a16="http://schemas.microsoft.com/office/drawing/2014/main" id="{99AD1F29-0953-B74C-A916-8227497BCF87}"/>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D5DF64CC-3674-BCA3-4E75-9BF443C955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150" y="2846131"/>
            <a:ext cx="10469589" cy="5559937"/>
          </a:xfrm>
          <a:prstGeom prst="rect">
            <a:avLst/>
          </a:prstGeom>
        </p:spPr>
      </p:pic>
    </p:spTree>
    <p:extLst>
      <p:ext uri="{BB962C8B-B14F-4D97-AF65-F5344CB8AC3E}">
        <p14:creationId xmlns:p14="http://schemas.microsoft.com/office/powerpoint/2010/main" val="2812459058"/>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BD3-DF62-DBB2-13DF-2E3CF5B59397}"/>
              </a:ext>
            </a:extLst>
          </p:cNvPr>
          <p:cNvSpPr>
            <a:spLocks noGrp="1"/>
          </p:cNvSpPr>
          <p:nvPr>
            <p:ph type="title"/>
          </p:nvPr>
        </p:nvSpPr>
        <p:spPr/>
        <p:txBody>
          <a:bodyPr>
            <a:normAutofit/>
          </a:bodyPr>
          <a:lstStyle/>
          <a:p>
            <a:r>
              <a:rPr lang="en-US" sz="6000" dirty="0">
                <a:latin typeface="Baskerville"/>
                <a:ea typeface="Baskerville"/>
                <a:sym typeface="Baskerville"/>
              </a:rPr>
              <a:t>The Alarm Network</a:t>
            </a:r>
          </a:p>
        </p:txBody>
      </p:sp>
      <p:sp>
        <p:nvSpPr>
          <p:cNvPr id="3" name="Text Placeholder 2">
            <a:extLst>
              <a:ext uri="{FF2B5EF4-FFF2-40B4-BE49-F238E27FC236}">
                <a16:creationId xmlns:a16="http://schemas.microsoft.com/office/drawing/2014/main" id="{C7A843D8-DC01-1ED5-6307-C287C515E4FC}"/>
              </a:ext>
            </a:extLst>
          </p:cNvPr>
          <p:cNvSpPr>
            <a:spLocks noGrp="1"/>
          </p:cNvSpPr>
          <p:nvPr>
            <p:ph type="body" idx="1"/>
          </p:nvPr>
        </p:nvSpPr>
        <p:spPr>
          <a:xfrm>
            <a:off x="827548" y="2355645"/>
            <a:ext cx="10464800" cy="5715000"/>
          </a:xfrm>
        </p:spPr>
        <p:txBody>
          <a:bodyPr numCol="1">
            <a:normAutofit/>
          </a:bodyPr>
          <a:lstStyle/>
          <a:p>
            <a:r>
              <a:rPr lang="en-US" dirty="0">
                <a:latin typeface="Times New Roman" panose="02020603050405020304" pitchFamily="18" charset="0"/>
                <a:cs typeface="Times New Roman" panose="02020603050405020304" pitchFamily="18" charset="0"/>
              </a:rPr>
              <a:t>Causal graph of intensive care alarms</a:t>
            </a:r>
          </a:p>
          <a:p>
            <a:r>
              <a:rPr lang="en-US" dirty="0">
                <a:latin typeface="Times New Roman" panose="02020603050405020304" pitchFamily="18" charset="0"/>
                <a:cs typeface="Times New Roman" panose="02020603050405020304" pitchFamily="18" charset="0"/>
              </a:rPr>
              <a:t>Simulated data</a:t>
            </a:r>
          </a:p>
          <a:p>
            <a:r>
              <a:rPr lang="en-US" dirty="0">
                <a:latin typeface="Times New Roman" panose="02020603050405020304" pitchFamily="18" charset="0"/>
                <a:cs typeface="Times New Roman" panose="02020603050405020304" pitchFamily="18" charset="0"/>
              </a:rPr>
              <a:t>Number of variables – 37 between 2 and 4 values</a:t>
            </a:r>
          </a:p>
          <a:p>
            <a:r>
              <a:rPr lang="en-US" dirty="0">
                <a:latin typeface="Times New Roman" panose="02020603050405020304" pitchFamily="18" charset="0"/>
                <a:cs typeface="Times New Roman" panose="02020603050405020304" pitchFamily="18" charset="0"/>
              </a:rPr>
              <a:t>Number of edges – 46</a:t>
            </a:r>
          </a:p>
        </p:txBody>
      </p:sp>
    </p:spTree>
    <p:extLst>
      <p:ext uri="{BB962C8B-B14F-4D97-AF65-F5344CB8AC3E}">
        <p14:creationId xmlns:p14="http://schemas.microsoft.com/office/powerpoint/2010/main" val="213413626"/>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BD3-DF62-DBB2-13DF-2E3CF5B59397}"/>
              </a:ext>
            </a:extLst>
          </p:cNvPr>
          <p:cNvSpPr>
            <a:spLocks noGrp="1"/>
          </p:cNvSpPr>
          <p:nvPr>
            <p:ph type="title"/>
          </p:nvPr>
        </p:nvSpPr>
        <p:spPr/>
        <p:txBody>
          <a:bodyPr>
            <a:normAutofit/>
          </a:bodyPr>
          <a:lstStyle/>
          <a:p>
            <a:r>
              <a:rPr lang="en-US" sz="6000" dirty="0">
                <a:latin typeface="Baskerville"/>
                <a:ea typeface="Baskerville"/>
                <a:sym typeface="Baskerville"/>
              </a:rPr>
              <a:t>The Alarm Network - Search Problems</a:t>
            </a:r>
          </a:p>
        </p:txBody>
      </p:sp>
      <p:sp>
        <p:nvSpPr>
          <p:cNvPr id="3" name="Text Placeholder 2">
            <a:extLst>
              <a:ext uri="{FF2B5EF4-FFF2-40B4-BE49-F238E27FC236}">
                <a16:creationId xmlns:a16="http://schemas.microsoft.com/office/drawing/2014/main" id="{C7A843D8-DC01-1ED5-6307-C287C515E4FC}"/>
              </a:ext>
            </a:extLst>
          </p:cNvPr>
          <p:cNvSpPr>
            <a:spLocks noGrp="1"/>
          </p:cNvSpPr>
          <p:nvPr>
            <p:ph type="body" idx="1"/>
          </p:nvPr>
        </p:nvSpPr>
        <p:spPr>
          <a:xfrm>
            <a:off x="827548" y="2355645"/>
            <a:ext cx="10464800" cy="5715000"/>
          </a:xfrm>
        </p:spPr>
        <p:txBody>
          <a:bodyPr numCol="1">
            <a:normAutofit fontScale="92500" lnSpcReduction="10000"/>
          </a:bodyPr>
          <a:lstStyle/>
          <a:p>
            <a:r>
              <a:rPr lang="en-US" dirty="0">
                <a:latin typeface="Times New Roman" panose="02020603050405020304" pitchFamily="18" charset="0"/>
                <a:cs typeface="Times New Roman" panose="02020603050405020304" pitchFamily="18" charset="0"/>
              </a:rPr>
              <a:t>Suppose that we have data better than any real data set – no measurement error, no missing values, etc. and a large sample (10,000)</a:t>
            </a:r>
          </a:p>
          <a:p>
            <a:r>
              <a:rPr lang="en-US" dirty="0">
                <a:latin typeface="Times New Roman" panose="02020603050405020304" pitchFamily="18" charset="0"/>
                <a:cs typeface="Times New Roman" panose="02020603050405020304" pitchFamily="18" charset="0"/>
              </a:rPr>
              <a:t>State space size -1.73329e+16</a:t>
            </a:r>
          </a:p>
          <a:p>
            <a:r>
              <a:rPr lang="en-US" dirty="0">
                <a:latin typeface="Times New Roman" panose="02020603050405020304" pitchFamily="18" charset="0"/>
                <a:cs typeface="Times New Roman" panose="02020603050405020304" pitchFamily="18" charset="0"/>
              </a:rPr>
              <a:t>Number of DAG models  3.008648e+237</a:t>
            </a:r>
          </a:p>
          <a:p>
            <a:r>
              <a:rPr lang="en-US" dirty="0">
                <a:latin typeface="Times New Roman" panose="02020603050405020304" pitchFamily="18" charset="0"/>
                <a:cs typeface="Times New Roman" panose="02020603050405020304" pitchFamily="18" charset="0"/>
              </a:rPr>
              <a:t>Non-identiability: There are multiple DAGs that represent the exact same set of distributions. </a:t>
            </a:r>
          </a:p>
        </p:txBody>
      </p:sp>
    </p:spTree>
    <p:extLst>
      <p:ext uri="{BB962C8B-B14F-4D97-AF65-F5344CB8AC3E}">
        <p14:creationId xmlns:p14="http://schemas.microsoft.com/office/powerpoint/2010/main" val="124718280"/>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01407-9508-D585-22D2-52B3F012A49A}"/>
              </a:ext>
            </a:extLst>
          </p:cNvPr>
          <p:cNvSpPr>
            <a:spLocks noGrp="1"/>
          </p:cNvSpPr>
          <p:nvPr>
            <p:ph type="title"/>
          </p:nvPr>
        </p:nvSpPr>
        <p:spPr/>
        <p:txBody>
          <a:bodyPr>
            <a:noAutofit/>
          </a:bodyPr>
          <a:lstStyle/>
          <a:p>
            <a:r>
              <a:rPr lang="en-US" sz="6000" dirty="0">
                <a:latin typeface="Times New Roman" panose="02020603050405020304" pitchFamily="18" charset="0"/>
                <a:cs typeface="Times New Roman" panose="02020603050405020304" pitchFamily="18" charset="0"/>
              </a:rPr>
              <a:t>Bradford Hill Criteria for Causation (1965)</a:t>
            </a:r>
          </a:p>
        </p:txBody>
      </p:sp>
      <p:sp>
        <p:nvSpPr>
          <p:cNvPr id="3" name="Text Placeholder 2">
            <a:extLst>
              <a:ext uri="{FF2B5EF4-FFF2-40B4-BE49-F238E27FC236}">
                <a16:creationId xmlns:a16="http://schemas.microsoft.com/office/drawing/2014/main" id="{F14D4A57-3CDC-17BC-C012-EBF114000515}"/>
              </a:ext>
            </a:extLst>
          </p:cNvPr>
          <p:cNvSpPr>
            <a:spLocks noGrp="1"/>
          </p:cNvSpPr>
          <p:nvPr>
            <p:ph type="body" idx="1"/>
          </p:nvPr>
        </p:nvSpPr>
        <p:spPr/>
        <p:txBody>
          <a:bodyPr numCol="2">
            <a:normAutofit/>
          </a:bodyPr>
          <a:lstStyle/>
          <a:p>
            <a:r>
              <a:rPr lang="en-US" dirty="0">
                <a:latin typeface="Times New Roman" panose="02020603050405020304" pitchFamily="18" charset="0"/>
                <a:cs typeface="Times New Roman" panose="02020603050405020304" pitchFamily="18" charset="0"/>
              </a:rPr>
              <a:t>strength of association</a:t>
            </a:r>
          </a:p>
          <a:p>
            <a:r>
              <a:rPr lang="en-US" dirty="0">
                <a:solidFill>
                  <a:schemeClr val="tx1"/>
                </a:solidFill>
                <a:latin typeface="Times New Roman" panose="02020603050405020304" pitchFamily="18" charset="0"/>
                <a:cs typeface="Times New Roman" panose="02020603050405020304" pitchFamily="18" charset="0"/>
              </a:rPr>
              <a:t>consistency</a:t>
            </a:r>
          </a:p>
          <a:p>
            <a:r>
              <a:rPr lang="en-US" dirty="0">
                <a:latin typeface="Times New Roman" panose="02020603050405020304" pitchFamily="18" charset="0"/>
                <a:cs typeface="Times New Roman" panose="02020603050405020304" pitchFamily="18" charset="0"/>
              </a:rPr>
              <a:t>specificity</a:t>
            </a:r>
          </a:p>
          <a:p>
            <a:r>
              <a:rPr lang="en-US" dirty="0">
                <a:latin typeface="Times New Roman" panose="02020603050405020304" pitchFamily="18" charset="0"/>
                <a:cs typeface="Times New Roman" panose="02020603050405020304" pitchFamily="18" charset="0"/>
              </a:rPr>
              <a:t>temporality</a:t>
            </a:r>
          </a:p>
          <a:p>
            <a:r>
              <a:rPr lang="en-US" dirty="0">
                <a:latin typeface="Times New Roman" panose="02020603050405020304" pitchFamily="18" charset="0"/>
                <a:cs typeface="Times New Roman" panose="02020603050405020304" pitchFamily="18" charset="0"/>
              </a:rPr>
              <a:t>biological gradient</a:t>
            </a:r>
          </a:p>
          <a:p>
            <a:r>
              <a:rPr lang="en-US" dirty="0">
                <a:latin typeface="Times New Roman" panose="02020603050405020304" pitchFamily="18" charset="0"/>
                <a:cs typeface="Times New Roman" panose="02020603050405020304" pitchFamily="18" charset="0"/>
              </a:rPr>
              <a:t>plausibility</a:t>
            </a:r>
          </a:p>
          <a:p>
            <a:r>
              <a:rPr lang="en-US" dirty="0">
                <a:latin typeface="Times New Roman" panose="02020603050405020304" pitchFamily="18" charset="0"/>
                <a:cs typeface="Times New Roman" panose="02020603050405020304" pitchFamily="18" charset="0"/>
              </a:rPr>
              <a:t>coherence</a:t>
            </a:r>
          </a:p>
          <a:p>
            <a:r>
              <a:rPr lang="en-US" dirty="0">
                <a:latin typeface="Times New Roman" panose="02020603050405020304" pitchFamily="18" charset="0"/>
                <a:cs typeface="Times New Roman" panose="02020603050405020304" pitchFamily="18" charset="0"/>
              </a:rPr>
              <a:t>experiment</a:t>
            </a:r>
          </a:p>
          <a:p>
            <a:r>
              <a:rPr lang="en-US" dirty="0">
                <a:latin typeface="Times New Roman" panose="02020603050405020304" pitchFamily="18" charset="0"/>
                <a:cs typeface="Times New Roman" panose="02020603050405020304" pitchFamily="18" charset="0"/>
              </a:rPr>
              <a:t>analogy</a:t>
            </a:r>
          </a:p>
          <a:p>
            <a:endParaRPr lang="en-US" dirty="0"/>
          </a:p>
        </p:txBody>
      </p:sp>
    </p:spTree>
    <p:extLst>
      <p:ext uri="{BB962C8B-B14F-4D97-AF65-F5344CB8AC3E}">
        <p14:creationId xmlns:p14="http://schemas.microsoft.com/office/powerpoint/2010/main" val="2208389536"/>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01407-9508-D585-22D2-52B3F012A49A}"/>
              </a:ext>
            </a:extLst>
          </p:cNvPr>
          <p:cNvSpPr>
            <a:spLocks noGrp="1"/>
          </p:cNvSpPr>
          <p:nvPr>
            <p:ph type="title"/>
          </p:nvPr>
        </p:nvSpPr>
        <p:spPr/>
        <p:txBody>
          <a:bodyPr>
            <a:noAutofit/>
          </a:bodyPr>
          <a:lstStyle/>
          <a:p>
            <a:r>
              <a:rPr lang="en-US" sz="6000" dirty="0">
                <a:latin typeface="Times New Roman" panose="02020603050405020304" pitchFamily="18" charset="0"/>
                <a:cs typeface="Times New Roman" panose="02020603050405020304" pitchFamily="18" charset="0"/>
              </a:rPr>
              <a:t>Searches People Used</a:t>
            </a:r>
          </a:p>
        </p:txBody>
      </p:sp>
      <p:sp>
        <p:nvSpPr>
          <p:cNvPr id="3" name="Text Placeholder 2">
            <a:extLst>
              <a:ext uri="{FF2B5EF4-FFF2-40B4-BE49-F238E27FC236}">
                <a16:creationId xmlns:a16="http://schemas.microsoft.com/office/drawing/2014/main" id="{F14D4A57-3CDC-17BC-C012-EBF114000515}"/>
              </a:ext>
            </a:extLst>
          </p:cNvPr>
          <p:cNvSpPr>
            <a:spLocks noGrp="1"/>
          </p:cNvSpPr>
          <p:nvPr>
            <p:ph type="body" idx="1"/>
          </p:nvPr>
        </p:nvSpPr>
        <p:spPr>
          <a:xfrm>
            <a:off x="1270000" y="2768600"/>
            <a:ext cx="11162890" cy="5715000"/>
          </a:xfrm>
        </p:spPr>
        <p:txBody>
          <a:bodyPr numCol="1">
            <a:normAutofit fontScale="92500" lnSpcReduction="10000"/>
          </a:bodyPr>
          <a:lstStyle/>
          <a:p>
            <a:r>
              <a:rPr lang="en-US" dirty="0">
                <a:latin typeface="Times New Roman" panose="02020603050405020304" pitchFamily="18" charset="0"/>
                <a:cs typeface="Times New Roman" panose="02020603050405020304" pitchFamily="18" charset="0"/>
              </a:rPr>
              <a:t>Factor Analysis</a:t>
            </a:r>
          </a:p>
          <a:p>
            <a:pPr lvl="1"/>
            <a:r>
              <a:rPr lang="en-US" dirty="0">
                <a:latin typeface="Times New Roman" panose="02020603050405020304" pitchFamily="18" charset="0"/>
                <a:cs typeface="Times New Roman" panose="02020603050405020304" pitchFamily="18" charset="0"/>
              </a:rPr>
              <a:t>Interpretation 1 – compact representation of distribution</a:t>
            </a:r>
          </a:p>
          <a:p>
            <a:pPr lvl="1"/>
            <a:r>
              <a:rPr lang="en-US" dirty="0">
                <a:latin typeface="Times New Roman" panose="02020603050405020304" pitchFamily="18" charset="0"/>
                <a:cs typeface="Times New Roman" panose="02020603050405020304" pitchFamily="18" charset="0"/>
              </a:rPr>
              <a:t>Interpretation II – causal</a:t>
            </a:r>
          </a:p>
          <a:p>
            <a:pPr lvl="2"/>
            <a:r>
              <a:rPr lang="en-US" dirty="0">
                <a:latin typeface="Times New Roman" panose="02020603050405020304" pitchFamily="18" charset="0"/>
                <a:cs typeface="Times New Roman" panose="02020603050405020304" pitchFamily="18" charset="0"/>
              </a:rPr>
              <a:t>But assumed no causal relations among measured</a:t>
            </a:r>
          </a:p>
          <a:p>
            <a:pPr lvl="2"/>
            <a:r>
              <a:rPr lang="en-US" dirty="0">
                <a:latin typeface="Times New Roman" panose="02020603050405020304" pitchFamily="18" charset="0"/>
                <a:cs typeface="Times New Roman" panose="02020603050405020304" pitchFamily="18" charset="0"/>
              </a:rPr>
              <a:t>Rotations meant causal relations among </a:t>
            </a:r>
            <a:r>
              <a:rPr lang="en-US" dirty="0" err="1">
                <a:latin typeface="Times New Roman" panose="02020603050405020304" pitchFamily="18" charset="0"/>
                <a:cs typeface="Times New Roman" panose="02020603050405020304" pitchFamily="18" charset="0"/>
              </a:rPr>
              <a:t>latents</a:t>
            </a:r>
            <a:r>
              <a:rPr lang="en-US" dirty="0">
                <a:latin typeface="Times New Roman" panose="02020603050405020304" pitchFamily="18" charset="0"/>
                <a:cs typeface="Times New Roman" panose="02020603050405020304" pitchFamily="18" charset="0"/>
              </a:rPr>
              <a:t> underdetermined</a:t>
            </a:r>
          </a:p>
          <a:p>
            <a:endParaRPr lang="en-US" dirty="0"/>
          </a:p>
        </p:txBody>
      </p:sp>
    </p:spTree>
    <p:extLst>
      <p:ext uri="{BB962C8B-B14F-4D97-AF65-F5344CB8AC3E}">
        <p14:creationId xmlns:p14="http://schemas.microsoft.com/office/powerpoint/2010/main" val="1103425044"/>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01407-9508-D585-22D2-52B3F012A49A}"/>
              </a:ext>
            </a:extLst>
          </p:cNvPr>
          <p:cNvSpPr>
            <a:spLocks noGrp="1"/>
          </p:cNvSpPr>
          <p:nvPr>
            <p:ph type="title"/>
          </p:nvPr>
        </p:nvSpPr>
        <p:spPr>
          <a:xfrm>
            <a:off x="1418969" y="-321187"/>
            <a:ext cx="10464800" cy="2438400"/>
          </a:xfrm>
        </p:spPr>
        <p:txBody>
          <a:bodyPr>
            <a:noAutofit/>
          </a:bodyPr>
          <a:lstStyle/>
          <a:p>
            <a:r>
              <a:rPr lang="en-US" sz="6000" dirty="0">
                <a:latin typeface="Times New Roman" panose="02020603050405020304" pitchFamily="18" charset="0"/>
                <a:cs typeface="Times New Roman" panose="02020603050405020304" pitchFamily="18" charset="0"/>
              </a:rPr>
              <a:t>Searches People Used</a:t>
            </a:r>
          </a:p>
        </p:txBody>
      </p:sp>
      <p:sp>
        <p:nvSpPr>
          <p:cNvPr id="3" name="Text Placeholder 2">
            <a:extLst>
              <a:ext uri="{FF2B5EF4-FFF2-40B4-BE49-F238E27FC236}">
                <a16:creationId xmlns:a16="http://schemas.microsoft.com/office/drawing/2014/main" id="{F14D4A57-3CDC-17BC-C012-EBF114000515}"/>
              </a:ext>
            </a:extLst>
          </p:cNvPr>
          <p:cNvSpPr>
            <a:spLocks noGrp="1"/>
          </p:cNvSpPr>
          <p:nvPr>
            <p:ph type="body" idx="1"/>
          </p:nvPr>
        </p:nvSpPr>
        <p:spPr>
          <a:xfrm>
            <a:off x="1418969" y="1560159"/>
            <a:ext cx="11162890" cy="6552381"/>
          </a:xfrm>
        </p:spPr>
        <p:txBody>
          <a:bodyPr numCol="1">
            <a:normAutofit fontScale="62500" lnSpcReduction="20000"/>
          </a:bodyPr>
          <a:lstStyle/>
          <a:p>
            <a:r>
              <a:rPr lang="en-US" sz="5800" dirty="0">
                <a:latin typeface="Times New Roman" panose="02020603050405020304" pitchFamily="18" charset="0"/>
                <a:cs typeface="Times New Roman" panose="02020603050405020304" pitchFamily="18" charset="0"/>
              </a:rPr>
              <a:t>Regression</a:t>
            </a:r>
          </a:p>
          <a:p>
            <a:pPr lvl="1"/>
            <a:r>
              <a:rPr lang="en-US" sz="4400" dirty="0">
                <a:latin typeface="Times New Roman" panose="02020603050405020304" pitchFamily="18" charset="0"/>
                <a:cs typeface="Times New Roman" panose="02020603050405020304" pitchFamily="18" charset="0"/>
              </a:rPr>
              <a:t>Assumed regression coefficient was causal coefficient if regressed on right variables</a:t>
            </a:r>
          </a:p>
          <a:p>
            <a:pPr lvl="1"/>
            <a:r>
              <a:rPr lang="en-US" sz="4400" dirty="0">
                <a:latin typeface="Times New Roman" panose="02020603050405020304" pitchFamily="18" charset="0"/>
                <a:cs typeface="Times New Roman" panose="02020603050405020304" pitchFamily="18" charset="0"/>
              </a:rPr>
              <a:t>Advice was to regress on as many variables prior to the regressor as possible</a:t>
            </a:r>
          </a:p>
          <a:p>
            <a:pPr lvl="1"/>
            <a:r>
              <a:rPr lang="en-US" sz="4400" dirty="0">
                <a:latin typeface="Times New Roman" panose="02020603050405020304" pitchFamily="18" charset="0"/>
                <a:cs typeface="Times New Roman" panose="02020603050405020304" pitchFamily="18" charset="0"/>
              </a:rPr>
              <a:t>But this did not take care of unmeasured confounders</a:t>
            </a:r>
          </a:p>
          <a:p>
            <a:pPr lvl="1"/>
            <a:r>
              <a:rPr lang="en-US" sz="4400" dirty="0">
                <a:latin typeface="Times New Roman" panose="02020603050405020304" pitchFamily="18" charset="0"/>
                <a:cs typeface="Times New Roman" panose="02020603050405020304" pitchFamily="18" charset="0"/>
              </a:rPr>
              <a:t>Also regressing on too many variables can make estimates of structural coefficients worse when there are latent confounders</a:t>
            </a:r>
          </a:p>
          <a:p>
            <a:pPr marL="762000" lvl="1" indent="0">
              <a:buNone/>
            </a:pPr>
            <a:r>
              <a:rPr lang="en-US" dirty="0">
                <a:latin typeface="Times New Roman" panose="02020603050405020304" pitchFamily="18" charset="0"/>
                <a:cs typeface="Times New Roman" panose="02020603050405020304" pitchFamily="18" charset="0"/>
              </a:rPr>
              <a:t>       L1       L2</a:t>
            </a:r>
          </a:p>
          <a:p>
            <a:pPr marL="762000" lvl="1" indent="0">
              <a:buNone/>
            </a:pPr>
            <a:r>
              <a:rPr lang="en-US" dirty="0">
                <a:latin typeface="Times New Roman" panose="02020603050405020304" pitchFamily="18" charset="0"/>
                <a:cs typeface="Times New Roman" panose="02020603050405020304" pitchFamily="18" charset="0"/>
              </a:rPr>
              <a:t>         </a:t>
            </a:r>
          </a:p>
          <a:p>
            <a:pPr marL="762000" lvl="1" indent="0">
              <a:buNone/>
            </a:pPr>
            <a:r>
              <a:rPr lang="en-US" dirty="0">
                <a:latin typeface="Times New Roman" panose="02020603050405020304" pitchFamily="18" charset="0"/>
                <a:cs typeface="Times New Roman" panose="02020603050405020304" pitchFamily="18" charset="0"/>
              </a:rPr>
              <a:t>     X    Y       Z</a:t>
            </a:r>
          </a:p>
        </p:txBody>
      </p:sp>
      <p:cxnSp>
        <p:nvCxnSpPr>
          <p:cNvPr id="5" name="Straight Arrow Connector 4">
            <a:extLst>
              <a:ext uri="{FF2B5EF4-FFF2-40B4-BE49-F238E27FC236}">
                <a16:creationId xmlns:a16="http://schemas.microsoft.com/office/drawing/2014/main" id="{D260AB53-AD56-E44F-ABEB-1F35D14AF7E0}"/>
              </a:ext>
            </a:extLst>
          </p:cNvPr>
          <p:cNvCxnSpPr>
            <a:cxnSpLocks/>
          </p:cNvCxnSpPr>
          <p:nvPr/>
        </p:nvCxnSpPr>
        <p:spPr>
          <a:xfrm flipH="1">
            <a:off x="2659115" y="6504040"/>
            <a:ext cx="280732" cy="988142"/>
          </a:xfrm>
          <a:prstGeom prst="straightConnector1">
            <a:avLst/>
          </a:prstGeom>
          <a:noFill/>
          <a:ln w="412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 name="Straight Arrow Connector 5">
            <a:extLst>
              <a:ext uri="{FF2B5EF4-FFF2-40B4-BE49-F238E27FC236}">
                <a16:creationId xmlns:a16="http://schemas.microsoft.com/office/drawing/2014/main" id="{B31CC01D-74C9-504B-A97C-70B14268C063}"/>
              </a:ext>
            </a:extLst>
          </p:cNvPr>
          <p:cNvCxnSpPr/>
          <p:nvPr/>
        </p:nvCxnSpPr>
        <p:spPr>
          <a:xfrm flipH="1">
            <a:off x="3419167" y="6515102"/>
            <a:ext cx="398207" cy="988142"/>
          </a:xfrm>
          <a:prstGeom prst="straightConnector1">
            <a:avLst/>
          </a:prstGeom>
          <a:noFill/>
          <a:ln w="412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 name="Straight Arrow Connector 6">
            <a:extLst>
              <a:ext uri="{FF2B5EF4-FFF2-40B4-BE49-F238E27FC236}">
                <a16:creationId xmlns:a16="http://schemas.microsoft.com/office/drawing/2014/main" id="{AA4B3374-B125-D94C-AF8B-80B0935FEB48}"/>
              </a:ext>
            </a:extLst>
          </p:cNvPr>
          <p:cNvCxnSpPr>
            <a:cxnSpLocks/>
          </p:cNvCxnSpPr>
          <p:nvPr/>
        </p:nvCxnSpPr>
        <p:spPr>
          <a:xfrm>
            <a:off x="3817374" y="6515102"/>
            <a:ext cx="297937" cy="977080"/>
          </a:xfrm>
          <a:prstGeom prst="straightConnector1">
            <a:avLst/>
          </a:prstGeom>
          <a:noFill/>
          <a:ln w="412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9" name="Straight Arrow Connector 8">
            <a:extLst>
              <a:ext uri="{FF2B5EF4-FFF2-40B4-BE49-F238E27FC236}">
                <a16:creationId xmlns:a16="http://schemas.microsoft.com/office/drawing/2014/main" id="{ACD7D1A9-B9D5-7746-8E32-08198A550D2F}"/>
              </a:ext>
            </a:extLst>
          </p:cNvPr>
          <p:cNvCxnSpPr>
            <a:cxnSpLocks/>
          </p:cNvCxnSpPr>
          <p:nvPr/>
        </p:nvCxnSpPr>
        <p:spPr>
          <a:xfrm>
            <a:off x="2957052" y="6504040"/>
            <a:ext cx="381001" cy="999204"/>
          </a:xfrm>
          <a:prstGeom prst="straightConnector1">
            <a:avLst/>
          </a:prstGeom>
          <a:noFill/>
          <a:ln w="41275"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162D35CC-D0D8-8C43-BFCD-BD7950C23E01}"/>
              </a:ext>
            </a:extLst>
          </p:cNvPr>
          <p:cNvSpPr txBox="1"/>
          <p:nvPr/>
        </p:nvSpPr>
        <p:spPr>
          <a:xfrm>
            <a:off x="4640671" y="6100810"/>
            <a:ext cx="7941188" cy="2072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r>
              <a:rPr lang="en-US" sz="3200" dirty="0">
                <a:latin typeface="Times New Roman" panose="02020603050405020304" pitchFamily="18" charset="0"/>
                <a:cs typeface="Times New Roman" panose="02020603050405020304" pitchFamily="18" charset="0"/>
              </a:rPr>
              <a:t>If regress Z on X then regression coefficient = structural coefficient , but if regress Z on X and Y, then regression coefficient ≠ structural coefficient</a:t>
            </a:r>
            <a:endParaRPr kumimoji="0" lang="en-US" sz="3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Gill Sans"/>
            </a:endParaRPr>
          </a:p>
        </p:txBody>
      </p:sp>
    </p:spTree>
    <p:extLst>
      <p:ext uri="{BB962C8B-B14F-4D97-AF65-F5344CB8AC3E}">
        <p14:creationId xmlns:p14="http://schemas.microsoft.com/office/powerpoint/2010/main" val="787920231"/>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01407-9508-D585-22D2-52B3F012A49A}"/>
              </a:ext>
            </a:extLst>
          </p:cNvPr>
          <p:cNvSpPr>
            <a:spLocks noGrp="1"/>
          </p:cNvSpPr>
          <p:nvPr>
            <p:ph type="title"/>
          </p:nvPr>
        </p:nvSpPr>
        <p:spPr>
          <a:xfrm>
            <a:off x="1418969" y="-321187"/>
            <a:ext cx="10464800" cy="2438400"/>
          </a:xfrm>
        </p:spPr>
        <p:txBody>
          <a:bodyPr>
            <a:noAutofit/>
          </a:bodyPr>
          <a:lstStyle/>
          <a:p>
            <a:r>
              <a:rPr lang="en-US" sz="6000" dirty="0">
                <a:latin typeface="Times New Roman" panose="02020603050405020304" pitchFamily="18" charset="0"/>
                <a:cs typeface="Times New Roman" panose="02020603050405020304" pitchFamily="18" charset="0"/>
              </a:rPr>
              <a:t>Searches People Used</a:t>
            </a:r>
          </a:p>
        </p:txBody>
      </p:sp>
      <p:sp>
        <p:nvSpPr>
          <p:cNvPr id="3" name="Text Placeholder 2">
            <a:extLst>
              <a:ext uri="{FF2B5EF4-FFF2-40B4-BE49-F238E27FC236}">
                <a16:creationId xmlns:a16="http://schemas.microsoft.com/office/drawing/2014/main" id="{F14D4A57-3CDC-17BC-C012-EBF114000515}"/>
              </a:ext>
            </a:extLst>
          </p:cNvPr>
          <p:cNvSpPr>
            <a:spLocks noGrp="1"/>
          </p:cNvSpPr>
          <p:nvPr>
            <p:ph type="body" idx="1"/>
          </p:nvPr>
        </p:nvSpPr>
        <p:spPr>
          <a:xfrm>
            <a:off x="357627" y="1294887"/>
            <a:ext cx="11162890" cy="6552381"/>
          </a:xfrm>
        </p:spPr>
        <p:txBody>
          <a:bodyPr numCol="1">
            <a:normAutofit lnSpcReduction="10000"/>
          </a:bodyPr>
          <a:lstStyle/>
          <a:p>
            <a:r>
              <a:rPr lang="en-US" dirty="0">
                <a:latin typeface="Times New Roman" panose="02020603050405020304" pitchFamily="18" charset="0"/>
                <a:cs typeface="Times New Roman" panose="02020603050405020304" pitchFamily="18" charset="0"/>
              </a:rPr>
              <a:t>A variety of heuristic searches. </a:t>
            </a:r>
          </a:p>
          <a:p>
            <a:pPr lvl="1"/>
            <a:r>
              <a:rPr lang="en-US" sz="3600" dirty="0">
                <a:latin typeface="Times New Roman" panose="02020603050405020304" pitchFamily="18" charset="0"/>
                <a:cs typeface="Times New Roman" panose="02020603050405020304" pitchFamily="18" charset="0"/>
              </a:rPr>
              <a:t>LISREL “modification indices”. These started from a given model, and then modified the model to improve it. These did not work well in practice. The further the original model was from the truth, the worse it performed.</a:t>
            </a:r>
          </a:p>
          <a:p>
            <a:pPr lvl="1"/>
            <a:r>
              <a:rPr lang="en-US" sz="3600" dirty="0">
                <a:latin typeface="Times New Roman" panose="02020603050405020304" pitchFamily="18" charset="0"/>
                <a:cs typeface="Times New Roman" panose="02020603050405020304" pitchFamily="18" charset="0"/>
              </a:rPr>
              <a:t>Granger causality – assumed linearity, no latent confounders, no “instantaneous” causality. </a:t>
            </a:r>
          </a:p>
          <a:p>
            <a:pPr lvl="1"/>
            <a:r>
              <a:rPr lang="en-US" sz="3600" dirty="0">
                <a:latin typeface="Times New Roman" panose="02020603050405020304" pitchFamily="18" charset="0"/>
                <a:cs typeface="Times New Roman" panose="02020603050405020304" pitchFamily="18" charset="0"/>
              </a:rPr>
              <a:t>Various kinds of stepwise regression for selecting variables. </a:t>
            </a:r>
          </a:p>
        </p:txBody>
      </p:sp>
      <p:sp>
        <p:nvSpPr>
          <p:cNvPr id="4" name="TextBox 3">
            <a:extLst>
              <a:ext uri="{FF2B5EF4-FFF2-40B4-BE49-F238E27FC236}">
                <a16:creationId xmlns:a16="http://schemas.microsoft.com/office/drawing/2014/main" id="{0E051995-BC5C-4C4B-A0E0-F8D6DC50CB76}"/>
              </a:ext>
            </a:extLst>
          </p:cNvPr>
          <p:cNvSpPr txBox="1"/>
          <p:nvPr/>
        </p:nvSpPr>
        <p:spPr>
          <a:xfrm>
            <a:off x="1698171" y="7847268"/>
            <a:ext cx="9503228"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r>
              <a:rPr lang="en-US" sz="2000" i="1" dirty="0">
                <a:latin typeface="Times New Roman" panose="02020603050405020304" pitchFamily="18" charset="0"/>
                <a:cs typeface="Times New Roman" panose="02020603050405020304" pitchFamily="18" charset="0"/>
              </a:rPr>
              <a:t>(P. </a:t>
            </a:r>
            <a:r>
              <a:rPr lang="en-US" sz="2000" i="1" dirty="0" err="1">
                <a:latin typeface="Times New Roman" panose="02020603050405020304" pitchFamily="18" charset="0"/>
                <a:cs typeface="Times New Roman" panose="02020603050405020304" pitchFamily="18" charset="0"/>
              </a:rPr>
              <a:t>Spirtes</a:t>
            </a:r>
            <a:r>
              <a:rPr lang="en-US" sz="2000" i="1" dirty="0">
                <a:latin typeface="Times New Roman" panose="02020603050405020304" pitchFamily="18" charset="0"/>
                <a:cs typeface="Times New Roman" panose="02020603050405020304" pitchFamily="18" charset="0"/>
              </a:rPr>
              <a:t>, R. </a:t>
            </a:r>
            <a:r>
              <a:rPr lang="en-US" sz="2000" i="1" dirty="0" err="1">
                <a:latin typeface="Times New Roman" panose="02020603050405020304" pitchFamily="18" charset="0"/>
                <a:cs typeface="Times New Roman" panose="02020603050405020304" pitchFamily="18" charset="0"/>
              </a:rPr>
              <a:t>Scheines</a:t>
            </a:r>
            <a:r>
              <a:rPr lang="en-US" sz="2000" i="1" dirty="0">
                <a:latin typeface="Times New Roman" panose="02020603050405020304" pitchFamily="18" charset="0"/>
                <a:cs typeface="Times New Roman" panose="02020603050405020304" pitchFamily="18" charset="0"/>
              </a:rPr>
              <a:t>, and C. </a:t>
            </a:r>
            <a:r>
              <a:rPr lang="en-US" sz="2000" i="1" dirty="0" err="1">
                <a:latin typeface="Times New Roman" panose="02020603050405020304" pitchFamily="18" charset="0"/>
                <a:cs typeface="Times New Roman" panose="02020603050405020304" pitchFamily="18" charset="0"/>
              </a:rPr>
              <a:t>Glymour</a:t>
            </a:r>
            <a:r>
              <a:rPr lang="en-US" sz="2000" i="1" dirty="0">
                <a:latin typeface="Times New Roman" panose="02020603050405020304" pitchFamily="18" charset="0"/>
                <a:cs typeface="Times New Roman" panose="02020603050405020304" pitchFamily="18" charset="0"/>
              </a:rPr>
              <a:t>) "Simulation Studies of the Reliability of Computer Aided Specification Using the TETRAD II, EQS, and LISREL VI Programs", Sociological Methods and Research, vol. 18, no. 1, August, 1990, pp. 3-66. </a:t>
            </a:r>
            <a:endParaRPr kumimoji="0" lang="en-US" sz="2000" b="0" i="1"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Gill Sans"/>
            </a:endParaRPr>
          </a:p>
        </p:txBody>
      </p:sp>
    </p:spTree>
    <p:extLst>
      <p:ext uri="{BB962C8B-B14F-4D97-AF65-F5344CB8AC3E}">
        <p14:creationId xmlns:p14="http://schemas.microsoft.com/office/powerpoint/2010/main" val="2301131038"/>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813D8-F67C-7F6D-41AF-40F920208182}"/>
              </a:ext>
            </a:extLst>
          </p:cNvPr>
          <p:cNvSpPr>
            <a:spLocks noGrp="1"/>
          </p:cNvSpPr>
          <p:nvPr>
            <p:ph type="title"/>
          </p:nvPr>
        </p:nvSpPr>
        <p:spPr/>
        <p:txBody>
          <a:bodyPr>
            <a:normAutofit/>
          </a:bodyPr>
          <a:lstStyle/>
          <a:p>
            <a:r>
              <a:rPr lang="en-US" sz="6000" dirty="0">
                <a:latin typeface="Baskerville"/>
                <a:ea typeface="Baskerville"/>
                <a:sym typeface="Baskerville"/>
              </a:rPr>
              <a:t>Arguments Against Automated Search</a:t>
            </a:r>
          </a:p>
        </p:txBody>
      </p:sp>
      <p:sp>
        <p:nvSpPr>
          <p:cNvPr id="3" name="Content Placeholder 2">
            <a:extLst>
              <a:ext uri="{FF2B5EF4-FFF2-40B4-BE49-F238E27FC236}">
                <a16:creationId xmlns:a16="http://schemas.microsoft.com/office/drawing/2014/main" id="{62043930-8BE6-92F6-4A9D-C961715DF1FC}"/>
              </a:ext>
            </a:extLst>
          </p:cNvPr>
          <p:cNvSpPr>
            <a:spLocks noGrp="1"/>
          </p:cNvSpPr>
          <p:nvPr>
            <p:ph type="body" idx="1"/>
          </p:nvPr>
        </p:nvSpPr>
        <p:spPr>
          <a:xfrm>
            <a:off x="-223520" y="3399774"/>
            <a:ext cx="10464800" cy="5715000"/>
          </a:xfrm>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US" dirty="0"/>
          </a:p>
        </p:txBody>
      </p:sp>
      <p:sp>
        <p:nvSpPr>
          <p:cNvPr id="8" name="Text Placeholder 2">
            <a:extLst>
              <a:ext uri="{FF2B5EF4-FFF2-40B4-BE49-F238E27FC236}">
                <a16:creationId xmlns:a16="http://schemas.microsoft.com/office/drawing/2014/main" id="{B1E64CD7-C3C4-0643-B356-92A3B871F3A7}"/>
              </a:ext>
            </a:extLst>
          </p:cNvPr>
          <p:cNvSpPr txBox="1">
            <a:spLocks/>
          </p:cNvSpPr>
          <p:nvPr/>
        </p:nvSpPr>
        <p:spPr>
          <a:xfrm>
            <a:off x="571910" y="2562393"/>
            <a:ext cx="11162890" cy="6552381"/>
          </a:xfrm>
          <a:prstGeom prst="rect">
            <a:avLst/>
          </a:prstGeom>
          <a:ln w="12700">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numCol="1" anchor="ctr">
            <a:normAutofit/>
          </a:bodyPr>
          <a:lstStyle>
            <a:lvl1pPr marL="889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1pPr>
            <a:lvl2pPr marL="13335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2pPr>
            <a:lvl3pPr marL="1778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3pPr>
            <a:lvl4pPr marL="22225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4pPr>
            <a:lvl5pPr marL="2667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5pPr>
            <a:lvl6pPr marL="30945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6pPr>
            <a:lvl7pPr marL="34501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7pPr>
            <a:lvl8pPr marL="38057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8pPr>
            <a:lvl9pPr marL="41613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9pPr>
          </a:lstStyle>
          <a:p>
            <a:pPr hangingPunct="1"/>
            <a:r>
              <a:rPr lang="en-US" dirty="0">
                <a:latin typeface="Times New Roman" panose="02020603050405020304" pitchFamily="18" charset="0"/>
                <a:cs typeface="Times New Roman" panose="02020603050405020304" pitchFamily="18" charset="0"/>
              </a:rPr>
              <a:t>Are there causes?</a:t>
            </a:r>
          </a:p>
          <a:p>
            <a:pPr lvl="1" hangingPunct="1"/>
            <a:r>
              <a:rPr lang="en-US" sz="3200" dirty="0">
                <a:latin typeface="Times New Roman" panose="02020603050405020304" pitchFamily="18" charset="0"/>
                <a:cs typeface="Times New Roman" panose="02020603050405020304" pitchFamily="18" charset="0"/>
              </a:rPr>
              <a:t>Shipley – “The Phenomenalist school of Pearson disliked Wright’s notion that one should distinguish "causes" from correlations. The Realist school of Fisher disliked Wright’s notion that one could study causes by looking at correlations. Professional statisticians therefore ignored it</a:t>
            </a:r>
            <a:r>
              <a:rPr lang="en-US" sz="3200" dirty="0">
                <a:solidFill>
                  <a:srgbClr val="FF0000"/>
                </a:solidFill>
                <a:latin typeface="Times New Roman" panose="02020603050405020304" pitchFamily="18" charset="0"/>
                <a:cs typeface="Times New Roman" panose="02020603050405020304" pitchFamily="18" charset="0"/>
              </a:rPr>
              <a:t>”</a:t>
            </a:r>
          </a:p>
          <a:p>
            <a:pPr hangingPunct="1"/>
            <a:endParaRPr lang="en-US" sz="3200" dirty="0">
              <a:latin typeface="Times New Roman" panose="02020603050405020304" pitchFamily="18" charset="0"/>
              <a:cs typeface="Times New Roman" panose="02020603050405020304" pitchFamily="18" charset="0"/>
            </a:endParaRPr>
          </a:p>
          <a:p>
            <a:pPr hangingPunct="1"/>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0284119"/>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753" y="-103690"/>
            <a:ext cx="12060308" cy="2438400"/>
          </a:xfrm>
        </p:spPr>
        <p:txBody>
          <a:bodyPr>
            <a:noAutofit/>
          </a:bodyPr>
          <a:lstStyle/>
          <a:p>
            <a:r>
              <a:rPr lang="en-US" sz="5400" dirty="0">
                <a:latin typeface="Baskerville"/>
                <a:ea typeface="Baskerville"/>
                <a:sym typeface="Baskerville"/>
              </a:rPr>
              <a:t>Fisher: No Experiment =&gt; No Probability Distribution =&gt; No Causal Inference</a:t>
            </a:r>
          </a:p>
        </p:txBody>
      </p:sp>
      <p:sp>
        <p:nvSpPr>
          <p:cNvPr id="4" name="Slide Number Placeholder 3"/>
          <p:cNvSpPr>
            <a:spLocks noGrp="1"/>
          </p:cNvSpPr>
          <p:nvPr>
            <p:ph type="sldNum" sz="quarter" idx="2"/>
          </p:nvPr>
        </p:nvSpPr>
        <p:spPr/>
        <p:txBody>
          <a:bodyPr/>
          <a:lstStyle/>
          <a:p>
            <a:pPr defTabSz="650230" hangingPunct="1"/>
            <a:fld id="{DCBC594B-8861-467E-BFBF-2F1AE180E161}" type="slidenum">
              <a:rPr lang="en-US" kern="1200">
                <a:solidFill>
                  <a:srgbClr val="1B3861"/>
                </a:solidFill>
                <a:latin typeface="Trebuchet MS"/>
              </a:rPr>
              <a:pPr defTabSz="650230" hangingPunct="1"/>
              <a:t>43</a:t>
            </a:fld>
            <a:endParaRPr lang="en-US" kern="1200">
              <a:solidFill>
                <a:srgbClr val="1B3861"/>
              </a:solidFill>
              <a:latin typeface="Trebuchet MS"/>
            </a:endParaRPr>
          </a:p>
        </p:txBody>
      </p:sp>
      <p:pic>
        <p:nvPicPr>
          <p:cNvPr id="21506" name="Picture 2" descr="http://tbn2.google.com/images?q=tbn:rU2OHoYEnQs5XM:http://www.economics.soton.ac.uk/staff/aldrich/fisherguide/Doc1_files/image001.gif">
            <a:hlinkClick r:id="rId2"/>
          </p:cNvPr>
          <p:cNvPicPr>
            <a:picLocks noChangeAspect="1" noChangeArrowheads="1"/>
          </p:cNvPicPr>
          <p:nvPr/>
        </p:nvPicPr>
        <p:blipFill>
          <a:blip r:embed="rId3"/>
          <a:srcRect/>
          <a:stretch>
            <a:fillRect/>
          </a:stretch>
        </p:blipFill>
        <p:spPr bwMode="auto">
          <a:xfrm>
            <a:off x="498784" y="3321724"/>
            <a:ext cx="4549100" cy="4660053"/>
          </a:xfrm>
          <a:prstGeom prst="rect">
            <a:avLst/>
          </a:prstGeom>
          <a:noFill/>
        </p:spPr>
      </p:pic>
      <p:sp>
        <p:nvSpPr>
          <p:cNvPr id="5" name="Content Placeholder 2">
            <a:extLst>
              <a:ext uri="{FF2B5EF4-FFF2-40B4-BE49-F238E27FC236}">
                <a16:creationId xmlns:a16="http://schemas.microsoft.com/office/drawing/2014/main" id="{17E755B9-6500-C847-9505-4B3F653F1B01}"/>
              </a:ext>
            </a:extLst>
          </p:cNvPr>
          <p:cNvSpPr txBox="1"/>
          <p:nvPr/>
        </p:nvSpPr>
        <p:spPr>
          <a:xfrm>
            <a:off x="5749125" y="2667530"/>
            <a:ext cx="7255675" cy="6948072"/>
          </a:xfrm>
          <a:prstGeom prst="rect">
            <a:avLst/>
          </a:prstGeom>
          <a:ln w="12700">
            <a:miter lim="400000"/>
          </a:ln>
          <a:effectLst>
            <a:outerShdw blurRad="63500" dist="50800" dir="2700000" rotWithShape="0">
              <a:srgbClr val="000000">
                <a:alpha val="4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3" tIns="65023" rIns="65023" bIns="65023">
            <a:normAutofit/>
          </a:bodyPr>
          <a:lstStyle/>
          <a:p>
            <a:pPr algn="l" defTabSz="1300480">
              <a:spcBef>
                <a:spcPts val="2800"/>
              </a:spcBef>
              <a:defRPr sz="4400" i="1">
                <a:solidFill>
                  <a:srgbClr val="FFFFFF"/>
                </a:solidFill>
                <a:latin typeface="Trebuchet MS"/>
                <a:ea typeface="Trebuchet MS"/>
                <a:cs typeface="Trebuchet MS"/>
                <a:sym typeface="Trebuchet MS"/>
              </a:defRPr>
            </a:pPr>
            <a:r>
              <a:rPr lang="en-US" dirty="0">
                <a:solidFill>
                  <a:schemeClr val="tx1"/>
                </a:solidFill>
              </a:rPr>
              <a:t>        </a:t>
            </a:r>
            <a:r>
              <a:rPr lang="en-US" dirty="0">
                <a:solidFill>
                  <a:schemeClr val="tx1"/>
                </a:solidFill>
                <a:latin typeface="Times New Roman" panose="02020603050405020304" pitchFamily="18" charset="0"/>
                <a:cs typeface="Times New Roman" panose="02020603050405020304" pitchFamily="18" charset="0"/>
              </a:rPr>
              <a:t>Early Lung Cancer</a:t>
            </a:r>
            <a:r>
              <a:rPr i="0" dirty="0">
                <a:solidFill>
                  <a:schemeClr val="tx1"/>
                </a:solidFill>
                <a:latin typeface="Times New Roman" panose="02020603050405020304" pitchFamily="18" charset="0"/>
                <a:cs typeface="Times New Roman" panose="02020603050405020304" pitchFamily="18" charset="0"/>
              </a:rPr>
              <a:t>			</a:t>
            </a:r>
            <a:endParaRPr sz="3000" dirty="0">
              <a:solidFill>
                <a:schemeClr val="tx1"/>
              </a:solidFill>
              <a:latin typeface="Times New Roman" panose="02020603050405020304" pitchFamily="18" charset="0"/>
              <a:cs typeface="Times New Roman" panose="02020603050405020304" pitchFamily="18" charset="0"/>
            </a:endParaRPr>
          </a:p>
          <a:p>
            <a:pPr algn="l" defTabSz="1300480">
              <a:spcBef>
                <a:spcPts val="3500"/>
              </a:spcBef>
              <a:defRPr sz="4400" i="1">
                <a:solidFill>
                  <a:srgbClr val="FFFFFF"/>
                </a:solidFill>
                <a:latin typeface="Trebuchet MS"/>
                <a:ea typeface="Trebuchet MS"/>
                <a:cs typeface="Trebuchet MS"/>
                <a:sym typeface="Trebuchet MS"/>
              </a:defRPr>
            </a:pPr>
            <a:endParaRPr sz="3000" dirty="0">
              <a:solidFill>
                <a:schemeClr val="tx1"/>
              </a:solidFill>
              <a:latin typeface="Times New Roman" panose="02020603050405020304" pitchFamily="18" charset="0"/>
              <a:cs typeface="Times New Roman" panose="02020603050405020304" pitchFamily="18" charset="0"/>
            </a:endParaRPr>
          </a:p>
          <a:p>
            <a:pPr algn="l" defTabSz="1300480">
              <a:spcBef>
                <a:spcPts val="3500"/>
              </a:spcBef>
              <a:defRPr sz="4400" i="1">
                <a:solidFill>
                  <a:srgbClr val="FFFFFF"/>
                </a:solidFill>
                <a:latin typeface="Trebuchet MS"/>
                <a:ea typeface="Trebuchet MS"/>
                <a:cs typeface="Trebuchet MS"/>
                <a:sym typeface="Trebuchet MS"/>
              </a:defRPr>
            </a:pPr>
            <a:r>
              <a:rPr lang="en-US" dirty="0">
                <a:solidFill>
                  <a:schemeClr val="tx1"/>
                </a:solidFill>
                <a:latin typeface="Times New Roman" panose="02020603050405020304" pitchFamily="18" charset="0"/>
                <a:cs typeface="Times New Roman" panose="02020603050405020304" pitchFamily="18" charset="0"/>
              </a:rPr>
              <a:t>Lung irritation</a:t>
            </a:r>
            <a:r>
              <a:rPr i="0" dirty="0">
                <a:solidFill>
                  <a:schemeClr val="tx1"/>
                </a:solidFill>
                <a:latin typeface="Times New Roman" panose="02020603050405020304" pitchFamily="18" charset="0"/>
                <a:cs typeface="Times New Roman" panose="02020603050405020304" pitchFamily="18" charset="0"/>
              </a:rPr>
              <a:t> 		</a:t>
            </a:r>
            <a:endParaRPr lang="en-US" i="0" dirty="0">
              <a:solidFill>
                <a:schemeClr val="tx1"/>
              </a:solidFill>
              <a:latin typeface="Times New Roman" panose="02020603050405020304" pitchFamily="18" charset="0"/>
              <a:cs typeface="Times New Roman" panose="02020603050405020304" pitchFamily="18" charset="0"/>
            </a:endParaRPr>
          </a:p>
          <a:p>
            <a:pPr algn="l" defTabSz="1300480">
              <a:spcBef>
                <a:spcPts val="3500"/>
              </a:spcBef>
              <a:defRPr sz="4400" i="1">
                <a:solidFill>
                  <a:srgbClr val="FFFFFF"/>
                </a:solidFill>
                <a:latin typeface="Trebuchet MS"/>
                <a:ea typeface="Trebuchet MS"/>
                <a:cs typeface="Trebuchet MS"/>
                <a:sym typeface="Trebuchet MS"/>
              </a:defRPr>
            </a:pPr>
            <a:r>
              <a:rPr lang="en-US" dirty="0">
                <a:solidFill>
                  <a:schemeClr val="tx1"/>
                </a:solidFill>
                <a:latin typeface="Times New Roman" panose="02020603050405020304" pitchFamily="18" charset="0"/>
                <a:cs typeface="Times New Roman" panose="02020603050405020304" pitchFamily="18" charset="0"/>
              </a:rPr>
              <a:t>                    Lung Cancer</a:t>
            </a:r>
            <a:r>
              <a:rPr i="0" dirty="0">
                <a:solidFill>
                  <a:schemeClr val="tx1"/>
                </a:solidFill>
                <a:latin typeface="Times New Roman" panose="02020603050405020304" pitchFamily="18" charset="0"/>
                <a:cs typeface="Times New Roman" panose="02020603050405020304" pitchFamily="18" charset="0"/>
              </a:rPr>
              <a:t>    	</a:t>
            </a:r>
            <a:endParaRPr lang="en-US" sz="3000" i="0" baseline="-19818" dirty="0">
              <a:solidFill>
                <a:schemeClr val="tx1"/>
              </a:solidFill>
              <a:latin typeface="Times New Roman" panose="02020603050405020304" pitchFamily="18" charset="0"/>
              <a:cs typeface="Times New Roman" panose="02020603050405020304" pitchFamily="18" charset="0"/>
            </a:endParaRPr>
          </a:p>
          <a:p>
            <a:pPr algn="l" defTabSz="1300480">
              <a:spcBef>
                <a:spcPts val="3500"/>
              </a:spcBef>
              <a:defRPr sz="4400" i="1">
                <a:solidFill>
                  <a:srgbClr val="FFFFFF"/>
                </a:solidFill>
                <a:latin typeface="Trebuchet MS"/>
                <a:ea typeface="Trebuchet MS"/>
                <a:cs typeface="Trebuchet MS"/>
                <a:sym typeface="Trebuchet MS"/>
              </a:defRPr>
            </a:pPr>
            <a:r>
              <a:rPr sz="3000" dirty="0">
                <a:solidFill>
                  <a:schemeClr val="tx1"/>
                </a:solidFill>
                <a:latin typeface="Times New Roman" panose="02020603050405020304" pitchFamily="18" charset="0"/>
                <a:cs typeface="Times New Roman" panose="02020603050405020304" pitchFamily="18" charset="0"/>
              </a:rPr>
              <a:t>      </a:t>
            </a:r>
            <a:r>
              <a:rPr lang="en-US" i="1" dirty="0">
                <a:solidFill>
                  <a:schemeClr val="tx1"/>
                </a:solidFill>
                <a:latin typeface="Times New Roman" panose="02020603050405020304" pitchFamily="18" charset="0"/>
                <a:cs typeface="Times New Roman" panose="02020603050405020304" pitchFamily="18" charset="0"/>
              </a:rPr>
              <a:t>Smoking</a:t>
            </a:r>
            <a:endParaRPr sz="3000" dirty="0">
              <a:solidFill>
                <a:schemeClr val="tx1"/>
              </a:solidFill>
              <a:latin typeface="Times New Roman" panose="02020603050405020304" pitchFamily="18" charset="0"/>
              <a:cs typeface="Times New Roman" panose="02020603050405020304" pitchFamily="18" charset="0"/>
            </a:endParaRPr>
          </a:p>
        </p:txBody>
      </p:sp>
      <p:sp>
        <p:nvSpPr>
          <p:cNvPr id="10" name="Straight Connector 7">
            <a:extLst>
              <a:ext uri="{FF2B5EF4-FFF2-40B4-BE49-F238E27FC236}">
                <a16:creationId xmlns:a16="http://schemas.microsoft.com/office/drawing/2014/main" id="{5466FE46-85DC-5D4C-9930-E9C00CCF5EE1}"/>
              </a:ext>
            </a:extLst>
          </p:cNvPr>
          <p:cNvSpPr/>
          <p:nvPr/>
        </p:nvSpPr>
        <p:spPr>
          <a:xfrm flipH="1">
            <a:off x="6734907" y="3445412"/>
            <a:ext cx="2549770" cy="1951893"/>
          </a:xfrm>
          <a:prstGeom prst="line">
            <a:avLst/>
          </a:prstGeom>
          <a:ln w="53975">
            <a:solidFill>
              <a:schemeClr val="tx1"/>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11" name="Straight Connector 7">
            <a:extLst>
              <a:ext uri="{FF2B5EF4-FFF2-40B4-BE49-F238E27FC236}">
                <a16:creationId xmlns:a16="http://schemas.microsoft.com/office/drawing/2014/main" id="{DE246B22-1116-FF48-82A6-CF8BB7C096CD}"/>
              </a:ext>
            </a:extLst>
          </p:cNvPr>
          <p:cNvSpPr/>
          <p:nvPr/>
        </p:nvSpPr>
        <p:spPr>
          <a:xfrm>
            <a:off x="9284678" y="3445412"/>
            <a:ext cx="1617784" cy="3130062"/>
          </a:xfrm>
          <a:prstGeom prst="line">
            <a:avLst/>
          </a:prstGeom>
          <a:ln w="53975">
            <a:solidFill>
              <a:schemeClr val="tx1"/>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12" name="Straight Connector 7">
            <a:extLst>
              <a:ext uri="{FF2B5EF4-FFF2-40B4-BE49-F238E27FC236}">
                <a16:creationId xmlns:a16="http://schemas.microsoft.com/office/drawing/2014/main" id="{584CF199-43BC-094F-8ED2-3517B8AFAE90}"/>
              </a:ext>
            </a:extLst>
          </p:cNvPr>
          <p:cNvSpPr/>
          <p:nvPr/>
        </p:nvSpPr>
        <p:spPr>
          <a:xfrm flipH="1">
            <a:off x="7357034" y="6033327"/>
            <a:ext cx="54013" cy="1812816"/>
          </a:xfrm>
          <a:prstGeom prst="line">
            <a:avLst/>
          </a:prstGeom>
          <a:ln w="53975">
            <a:solidFill>
              <a:schemeClr val="tx1"/>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6" name="TextBox 5">
            <a:extLst>
              <a:ext uri="{FF2B5EF4-FFF2-40B4-BE49-F238E27FC236}">
                <a16:creationId xmlns:a16="http://schemas.microsoft.com/office/drawing/2014/main" id="{98B36F2F-6C3F-DB43-B45B-256D66FF16CC}"/>
              </a:ext>
            </a:extLst>
          </p:cNvPr>
          <p:cNvSpPr txBox="1"/>
          <p:nvPr/>
        </p:nvSpPr>
        <p:spPr>
          <a:xfrm>
            <a:off x="498784" y="7981529"/>
            <a:ext cx="4549100" cy="13952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4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Gill Sans"/>
              </a:rPr>
              <a:t>Does Smoking cause Lung Cancer?</a:t>
            </a:r>
          </a:p>
        </p:txBody>
      </p:sp>
    </p:spTree>
    <p:extLst>
      <p:ext uri="{BB962C8B-B14F-4D97-AF65-F5344CB8AC3E}">
        <p14:creationId xmlns:p14="http://schemas.microsoft.com/office/powerpoint/2010/main" val="3411056253"/>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A3FE-6996-5F4C-A097-27CC65E15D5D}"/>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E2A27A72-7EB7-C24A-AF23-7183F486B8A1}"/>
              </a:ext>
            </a:extLst>
          </p:cNvPr>
          <p:cNvSpPr>
            <a:spLocks noGrp="1"/>
          </p:cNvSpPr>
          <p:nvPr>
            <p:ph type="body" idx="1"/>
          </p:nvPr>
        </p:nvSpPr>
        <p:spPr/>
        <p:txBody>
          <a:bodyPr/>
          <a:lstStyle/>
          <a:p>
            <a:endParaRPr lang="en-US"/>
          </a:p>
        </p:txBody>
      </p:sp>
      <p:pic>
        <p:nvPicPr>
          <p:cNvPr id="5" name="Content Placeholder 4">
            <a:extLst>
              <a:ext uri="{FF2B5EF4-FFF2-40B4-BE49-F238E27FC236}">
                <a16:creationId xmlns:a16="http://schemas.microsoft.com/office/drawing/2014/main" id="{4507D22C-98E7-4B57-7C9A-7179C8CEF4DC}"/>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0" y="0"/>
            <a:ext cx="12933363" cy="8586788"/>
          </a:xfrm>
        </p:spPr>
      </p:pic>
    </p:spTree>
    <p:extLst>
      <p:ext uri="{BB962C8B-B14F-4D97-AF65-F5344CB8AC3E}">
        <p14:creationId xmlns:p14="http://schemas.microsoft.com/office/powerpoint/2010/main" val="3700992862"/>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813D8-F67C-7F6D-41AF-40F920208182}"/>
              </a:ext>
            </a:extLst>
          </p:cNvPr>
          <p:cNvSpPr>
            <a:spLocks noGrp="1"/>
          </p:cNvSpPr>
          <p:nvPr>
            <p:ph type="title"/>
          </p:nvPr>
        </p:nvSpPr>
        <p:spPr/>
        <p:txBody>
          <a:bodyPr>
            <a:normAutofit/>
          </a:bodyPr>
          <a:lstStyle/>
          <a:p>
            <a:r>
              <a:rPr lang="en-US" sz="6000" dirty="0">
                <a:latin typeface="Baskerville"/>
                <a:ea typeface="Baskerville"/>
                <a:sym typeface="Baskerville"/>
              </a:rPr>
              <a:t>Arguments Against Automated Search</a:t>
            </a:r>
          </a:p>
        </p:txBody>
      </p:sp>
      <p:sp>
        <p:nvSpPr>
          <p:cNvPr id="3" name="Content Placeholder 2">
            <a:extLst>
              <a:ext uri="{FF2B5EF4-FFF2-40B4-BE49-F238E27FC236}">
                <a16:creationId xmlns:a16="http://schemas.microsoft.com/office/drawing/2014/main" id="{62043930-8BE6-92F6-4A9D-C961715DF1FC}"/>
              </a:ext>
            </a:extLst>
          </p:cNvPr>
          <p:cNvSpPr>
            <a:spLocks noGrp="1"/>
          </p:cNvSpPr>
          <p:nvPr>
            <p:ph type="body" idx="1"/>
          </p:nvPr>
        </p:nvSpPr>
        <p:spPr>
          <a:xfrm>
            <a:off x="-223520" y="3399774"/>
            <a:ext cx="10464800" cy="5715000"/>
          </a:xfrm>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US" dirty="0"/>
          </a:p>
        </p:txBody>
      </p:sp>
      <p:sp>
        <p:nvSpPr>
          <p:cNvPr id="8" name="Text Placeholder 2">
            <a:extLst>
              <a:ext uri="{FF2B5EF4-FFF2-40B4-BE49-F238E27FC236}">
                <a16:creationId xmlns:a16="http://schemas.microsoft.com/office/drawing/2014/main" id="{B1E64CD7-C3C4-0643-B356-92A3B871F3A7}"/>
              </a:ext>
            </a:extLst>
          </p:cNvPr>
          <p:cNvSpPr txBox="1">
            <a:spLocks/>
          </p:cNvSpPr>
          <p:nvPr/>
        </p:nvSpPr>
        <p:spPr>
          <a:xfrm>
            <a:off x="571910" y="2562393"/>
            <a:ext cx="11162890" cy="6552381"/>
          </a:xfrm>
          <a:prstGeom prst="rect">
            <a:avLst/>
          </a:prstGeom>
          <a:ln w="12700">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numCol="1" anchor="ctr">
            <a:normAutofit/>
          </a:bodyPr>
          <a:lstStyle>
            <a:lvl1pPr marL="889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1pPr>
            <a:lvl2pPr marL="13335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2pPr>
            <a:lvl3pPr marL="1778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3pPr>
            <a:lvl4pPr marL="22225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4pPr>
            <a:lvl5pPr marL="2667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5pPr>
            <a:lvl6pPr marL="30945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6pPr>
            <a:lvl7pPr marL="34501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7pPr>
            <a:lvl8pPr marL="38057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8pPr>
            <a:lvl9pPr marL="41613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9pPr>
          </a:lstStyle>
          <a:p>
            <a:pPr hangingPunct="1"/>
            <a:r>
              <a:rPr lang="en-US" sz="4400" dirty="0">
                <a:latin typeface="Times New Roman" panose="02020603050405020304" pitchFamily="18" charset="0"/>
                <a:cs typeface="Times New Roman" panose="02020603050405020304" pitchFamily="18" charset="0"/>
              </a:rPr>
              <a:t>We don’t have any formal model of causality.</a:t>
            </a:r>
          </a:p>
          <a:p>
            <a:pPr lvl="1" hangingPunct="1"/>
            <a:r>
              <a:rPr lang="en-US" sz="3200" dirty="0" err="1">
                <a:latin typeface="Times New Roman" panose="02020603050405020304" pitchFamily="18" charset="0"/>
                <a:cs typeface="Times New Roman" panose="02020603050405020304" pitchFamily="18" charset="0"/>
              </a:rPr>
              <a:t>Geweke</a:t>
            </a:r>
            <a:r>
              <a:rPr lang="en-US" sz="3200" dirty="0">
                <a:latin typeface="Times New Roman" panose="02020603050405020304" pitchFamily="18" charset="0"/>
                <a:cs typeface="Times New Roman" panose="02020603050405020304" pitchFamily="18" charset="0"/>
              </a:rPr>
              <a:t> – “Many econometricians are apt to be uncomfortable when thinking about the concept "causality" (in part, because they usually do so under some duress). On the one hand, the concept is a primitive notion which is indispensable when thinking about economic phenomena, econometric models, and the relation between the two. On the other, the idea is notoriously difficult to formalize, as casual reading in the philosophy of science will attest</a:t>
            </a:r>
          </a:p>
          <a:p>
            <a:pPr hangingPunct="1"/>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956867"/>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813D8-F67C-7F6D-41AF-40F920208182}"/>
              </a:ext>
            </a:extLst>
          </p:cNvPr>
          <p:cNvSpPr>
            <a:spLocks noGrp="1"/>
          </p:cNvSpPr>
          <p:nvPr>
            <p:ph type="title"/>
          </p:nvPr>
        </p:nvSpPr>
        <p:spPr/>
        <p:txBody>
          <a:bodyPr>
            <a:normAutofit/>
          </a:bodyPr>
          <a:lstStyle/>
          <a:p>
            <a:r>
              <a:rPr lang="en-US" sz="6000" dirty="0">
                <a:latin typeface="Baskerville"/>
                <a:ea typeface="Baskerville"/>
                <a:sym typeface="Baskerville"/>
              </a:rPr>
              <a:t>Arguments Against Automated Search</a:t>
            </a:r>
          </a:p>
        </p:txBody>
      </p:sp>
      <p:sp>
        <p:nvSpPr>
          <p:cNvPr id="3" name="Content Placeholder 2">
            <a:extLst>
              <a:ext uri="{FF2B5EF4-FFF2-40B4-BE49-F238E27FC236}">
                <a16:creationId xmlns:a16="http://schemas.microsoft.com/office/drawing/2014/main" id="{62043930-8BE6-92F6-4A9D-C961715DF1FC}"/>
              </a:ext>
            </a:extLst>
          </p:cNvPr>
          <p:cNvSpPr>
            <a:spLocks noGrp="1"/>
          </p:cNvSpPr>
          <p:nvPr>
            <p:ph type="body" idx="1"/>
          </p:nvPr>
        </p:nvSpPr>
        <p:spPr>
          <a:xfrm>
            <a:off x="-223520" y="3399774"/>
            <a:ext cx="10464800" cy="5715000"/>
          </a:xfrm>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US" dirty="0"/>
          </a:p>
        </p:txBody>
      </p:sp>
      <p:sp>
        <p:nvSpPr>
          <p:cNvPr id="8" name="Text Placeholder 2">
            <a:extLst>
              <a:ext uri="{FF2B5EF4-FFF2-40B4-BE49-F238E27FC236}">
                <a16:creationId xmlns:a16="http://schemas.microsoft.com/office/drawing/2014/main" id="{B1E64CD7-C3C4-0643-B356-92A3B871F3A7}"/>
              </a:ext>
            </a:extLst>
          </p:cNvPr>
          <p:cNvSpPr txBox="1">
            <a:spLocks/>
          </p:cNvSpPr>
          <p:nvPr/>
        </p:nvSpPr>
        <p:spPr>
          <a:xfrm>
            <a:off x="571910" y="2562393"/>
            <a:ext cx="11162890" cy="6552381"/>
          </a:xfrm>
          <a:prstGeom prst="rect">
            <a:avLst/>
          </a:prstGeom>
          <a:ln w="12700">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numCol="1" anchor="ctr">
            <a:normAutofit/>
          </a:bodyPr>
          <a:lstStyle>
            <a:lvl1pPr marL="889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1pPr>
            <a:lvl2pPr marL="13335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2pPr>
            <a:lvl3pPr marL="1778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3pPr>
            <a:lvl4pPr marL="22225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4pPr>
            <a:lvl5pPr marL="2667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5pPr>
            <a:lvl6pPr marL="30945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6pPr>
            <a:lvl7pPr marL="34501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7pPr>
            <a:lvl8pPr marL="38057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8pPr>
            <a:lvl9pPr marL="41613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9pPr>
          </a:lstStyle>
          <a:p>
            <a:pPr hangingPunct="1"/>
            <a:r>
              <a:rPr lang="en-US" sz="4400" dirty="0">
                <a:latin typeface="Times New Roman" panose="02020603050405020304" pitchFamily="18" charset="0"/>
                <a:cs typeface="Times New Roman" panose="02020603050405020304" pitchFamily="18" charset="0"/>
              </a:rPr>
              <a:t>We don’t have any automated searches that work.</a:t>
            </a:r>
            <a:endParaRPr lang="en-US" sz="3200" dirty="0">
              <a:latin typeface="Times New Roman" panose="02020603050405020304" pitchFamily="18" charset="0"/>
              <a:cs typeface="Times New Roman" panose="02020603050405020304" pitchFamily="18" charset="0"/>
            </a:endParaRPr>
          </a:p>
          <a:p>
            <a:pPr lvl="1" hangingPunct="1"/>
            <a:r>
              <a:rPr lang="en-US" sz="3200" dirty="0">
                <a:latin typeface="Times New Roman" panose="02020603050405020304" pitchFamily="18" charset="0"/>
                <a:cs typeface="Times New Roman" panose="02020603050405020304" pitchFamily="18" charset="0"/>
              </a:rPr>
              <a:t>This is not an argument that there aren’t any that work. </a:t>
            </a:r>
          </a:p>
          <a:p>
            <a:pPr hangingPunct="1"/>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5394106"/>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813D8-F67C-7F6D-41AF-40F920208182}"/>
              </a:ext>
            </a:extLst>
          </p:cNvPr>
          <p:cNvSpPr>
            <a:spLocks noGrp="1"/>
          </p:cNvSpPr>
          <p:nvPr>
            <p:ph type="title"/>
          </p:nvPr>
        </p:nvSpPr>
        <p:spPr/>
        <p:txBody>
          <a:bodyPr>
            <a:normAutofit/>
          </a:bodyPr>
          <a:lstStyle/>
          <a:p>
            <a:r>
              <a:rPr lang="en-US" sz="6000" dirty="0">
                <a:latin typeface="Baskerville"/>
                <a:ea typeface="Baskerville"/>
                <a:sym typeface="Baskerville"/>
              </a:rPr>
              <a:t>Arguments Against Automated Search</a:t>
            </a:r>
          </a:p>
        </p:txBody>
      </p:sp>
      <p:sp>
        <p:nvSpPr>
          <p:cNvPr id="3" name="Content Placeholder 2">
            <a:extLst>
              <a:ext uri="{FF2B5EF4-FFF2-40B4-BE49-F238E27FC236}">
                <a16:creationId xmlns:a16="http://schemas.microsoft.com/office/drawing/2014/main" id="{62043930-8BE6-92F6-4A9D-C961715DF1FC}"/>
              </a:ext>
            </a:extLst>
          </p:cNvPr>
          <p:cNvSpPr>
            <a:spLocks noGrp="1"/>
          </p:cNvSpPr>
          <p:nvPr>
            <p:ph type="body" idx="1"/>
          </p:nvPr>
        </p:nvSpPr>
        <p:spPr>
          <a:xfrm>
            <a:off x="524532" y="3487697"/>
            <a:ext cx="10464800" cy="5715000"/>
          </a:xfrm>
        </p:spPr>
        <p:txBody>
          <a:bodyPr>
            <a:normAutofit fontScale="77500" lnSpcReduction="20000"/>
          </a:bodyPr>
          <a:lstStyle/>
          <a:p>
            <a:r>
              <a:rPr lang="en-US" dirty="0">
                <a:latin typeface="Times New Roman" panose="02020603050405020304" pitchFamily="18" charset="0"/>
                <a:cs typeface="Times New Roman" panose="02020603050405020304" pitchFamily="18" charset="0"/>
              </a:rPr>
              <a:t>(Younger, 1978; Rawlings, 1988): "relationship"--that is, some statistical dependency--between sample values of variables X and Y may be observed</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when X causes Y,</a:t>
            </a:r>
          </a:p>
          <a:p>
            <a:pPr marL="0" indent="0">
              <a:buNone/>
            </a:pPr>
            <a:r>
              <a:rPr lang="en-US" dirty="0">
                <a:latin typeface="Times New Roman" panose="02020603050405020304" pitchFamily="18" charset="0"/>
                <a:cs typeface="Times New Roman" panose="02020603050405020304" pitchFamily="18" charset="0"/>
              </a:rPr>
              <a:t>       (ii) when Y causes X,</a:t>
            </a:r>
          </a:p>
          <a:p>
            <a:pPr marL="0" indent="0">
              <a:buNone/>
            </a:pPr>
            <a:r>
              <a:rPr lang="en-US" dirty="0">
                <a:latin typeface="Times New Roman" panose="02020603050405020304" pitchFamily="18" charset="0"/>
                <a:cs typeface="Times New Roman" panose="02020603050405020304" pitchFamily="18" charset="0"/>
              </a:rPr>
              <a:t>       (iii) when each causes the other,</a:t>
            </a:r>
          </a:p>
          <a:p>
            <a:pPr marL="0" indent="0">
              <a:buNone/>
            </a:pPr>
            <a:r>
              <a:rPr lang="en-US" dirty="0">
                <a:latin typeface="Times New Roman" panose="02020603050405020304" pitchFamily="18" charset="0"/>
                <a:cs typeface="Times New Roman" panose="02020603050405020304" pitchFamily="18" charset="0"/>
              </a:rPr>
              <a:t>       (iv) when some third variable causes both, </a:t>
            </a:r>
          </a:p>
          <a:p>
            <a:pPr marL="0" indent="0">
              <a:buNone/>
            </a:pPr>
            <a:r>
              <a:rPr lang="en-US" dirty="0">
                <a:latin typeface="Times New Roman" panose="02020603050405020304" pitchFamily="18" charset="0"/>
                <a:cs typeface="Times New Roman" panose="02020603050405020304" pitchFamily="18" charset="0"/>
              </a:rPr>
              <a:t>       (v) when the sample is not representative, or</a:t>
            </a:r>
          </a:p>
          <a:p>
            <a:pPr marL="0" indent="0">
              <a:buNone/>
            </a:pPr>
            <a:r>
              <a:rPr lang="en-US" dirty="0">
                <a:latin typeface="Times New Roman" panose="02020603050405020304" pitchFamily="18" charset="0"/>
                <a:cs typeface="Times New Roman" panose="02020603050405020304" pitchFamily="18" charset="0"/>
              </a:rPr>
              <a:t>       (vi) when the values of X and Y form time series  </a:t>
            </a:r>
          </a:p>
          <a:p>
            <a:pPr marL="0" indent="0">
              <a:buNone/>
            </a:pPr>
            <a:endParaRPr lang="en-US" dirty="0">
              <a:latin typeface="Times New Roman" panose="02020603050405020304" pitchFamily="18" charset="0"/>
              <a:cs typeface="Times New Roman" panose="02020603050405020304" pitchFamily="18" charset="0"/>
            </a:endParaRPr>
          </a:p>
          <a:p>
            <a:endParaRPr lang="en-US" dirty="0"/>
          </a:p>
        </p:txBody>
      </p:sp>
      <p:sp>
        <p:nvSpPr>
          <p:cNvPr id="4" name="TextBox 3">
            <a:extLst>
              <a:ext uri="{FF2B5EF4-FFF2-40B4-BE49-F238E27FC236}">
                <a16:creationId xmlns:a16="http://schemas.microsoft.com/office/drawing/2014/main" id="{E55A50FA-517F-AC6E-72DA-B775B6336D2E}"/>
              </a:ext>
            </a:extLst>
          </p:cNvPr>
          <p:cNvSpPr txBox="1"/>
          <p:nvPr/>
        </p:nvSpPr>
        <p:spPr>
          <a:xfrm>
            <a:off x="4713484" y="4191299"/>
            <a:ext cx="6137042" cy="1200329"/>
          </a:xfrm>
          <a:prstGeom prst="rect">
            <a:avLst/>
          </a:prstGeom>
          <a:noFill/>
        </p:spPr>
        <p:txBody>
          <a:bodyPr wrap="square" rtlCol="0">
            <a:spAutoFit/>
          </a:bodyPr>
          <a:lstStyle/>
          <a:p>
            <a:r>
              <a:rPr lang="en-US" sz="7200" dirty="0">
                <a:solidFill>
                  <a:schemeClr val="accent5"/>
                </a:solidFill>
              </a:rPr>
              <a:t>} </a:t>
            </a:r>
            <a:r>
              <a:rPr lang="en-US" sz="3200" dirty="0">
                <a:solidFill>
                  <a:schemeClr val="accent5"/>
                </a:solidFill>
                <a:latin typeface="Times New Roman" panose="02020603050405020304" pitchFamily="18" charset="0"/>
                <a:cs typeface="Times New Roman" panose="02020603050405020304" pitchFamily="18" charset="0"/>
              </a:rPr>
              <a:t>direction unknown</a:t>
            </a:r>
            <a:endParaRPr lang="en-US" sz="2400" dirty="0">
              <a:solidFill>
                <a:schemeClr val="accent5"/>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DE4BCA9-3E63-20EE-E54C-84B96365E923}"/>
              </a:ext>
            </a:extLst>
          </p:cNvPr>
          <p:cNvSpPr txBox="1"/>
          <p:nvPr/>
        </p:nvSpPr>
        <p:spPr>
          <a:xfrm>
            <a:off x="5756932" y="5593977"/>
            <a:ext cx="6137042" cy="584775"/>
          </a:xfrm>
          <a:prstGeom prst="rect">
            <a:avLst/>
          </a:prstGeom>
          <a:noFill/>
        </p:spPr>
        <p:txBody>
          <a:bodyPr wrap="square" rtlCol="0">
            <a:spAutoFit/>
          </a:bodyPr>
          <a:lstStyle/>
          <a:p>
            <a:r>
              <a:rPr lang="en-US" sz="3200" dirty="0">
                <a:solidFill>
                  <a:schemeClr val="accent5"/>
                </a:solidFill>
                <a:latin typeface="Times New Roman" panose="02020603050405020304" pitchFamily="18" charset="0"/>
                <a:cs typeface="Times New Roman" panose="02020603050405020304" pitchFamily="18" charset="0"/>
              </a:rPr>
              <a:t>feedback</a:t>
            </a:r>
          </a:p>
        </p:txBody>
      </p:sp>
      <p:sp>
        <p:nvSpPr>
          <p:cNvPr id="6" name="TextBox 5">
            <a:extLst>
              <a:ext uri="{FF2B5EF4-FFF2-40B4-BE49-F238E27FC236}">
                <a16:creationId xmlns:a16="http://schemas.microsoft.com/office/drawing/2014/main" id="{63DA6783-AAC7-25FE-0656-E9FA6EC73FB6}"/>
              </a:ext>
            </a:extLst>
          </p:cNvPr>
          <p:cNvSpPr txBox="1"/>
          <p:nvPr/>
        </p:nvSpPr>
        <p:spPr>
          <a:xfrm>
            <a:off x="8195815" y="6345197"/>
            <a:ext cx="6137042" cy="584775"/>
          </a:xfrm>
          <a:prstGeom prst="rect">
            <a:avLst/>
          </a:prstGeom>
          <a:noFill/>
        </p:spPr>
        <p:txBody>
          <a:bodyPr wrap="square" rtlCol="0">
            <a:spAutoFit/>
          </a:bodyPr>
          <a:lstStyle/>
          <a:p>
            <a:r>
              <a:rPr lang="en-US" sz="3200" dirty="0">
                <a:solidFill>
                  <a:schemeClr val="accent5"/>
                </a:solidFill>
                <a:latin typeface="Times New Roman" panose="02020603050405020304" pitchFamily="18" charset="0"/>
                <a:cs typeface="Times New Roman" panose="02020603050405020304" pitchFamily="18" charset="0"/>
              </a:rPr>
              <a:t>confounding</a:t>
            </a:r>
          </a:p>
        </p:txBody>
      </p:sp>
      <p:sp>
        <p:nvSpPr>
          <p:cNvPr id="7" name="TextBox 6">
            <a:extLst>
              <a:ext uri="{FF2B5EF4-FFF2-40B4-BE49-F238E27FC236}">
                <a16:creationId xmlns:a16="http://schemas.microsoft.com/office/drawing/2014/main" id="{68465089-72AD-896A-1FE1-A2A05D215A5A}"/>
              </a:ext>
            </a:extLst>
          </p:cNvPr>
          <p:cNvSpPr txBox="1"/>
          <p:nvPr/>
        </p:nvSpPr>
        <p:spPr>
          <a:xfrm>
            <a:off x="8195815" y="7844298"/>
            <a:ext cx="6137042" cy="584775"/>
          </a:xfrm>
          <a:prstGeom prst="rect">
            <a:avLst/>
          </a:prstGeom>
          <a:noFill/>
        </p:spPr>
        <p:txBody>
          <a:bodyPr wrap="square" rtlCol="0">
            <a:spAutoFit/>
          </a:bodyPr>
          <a:lstStyle/>
          <a:p>
            <a:r>
              <a:rPr lang="en-US" sz="3200" dirty="0">
                <a:solidFill>
                  <a:schemeClr val="accent5"/>
                </a:solidFill>
                <a:latin typeface="Times New Roman" panose="02020603050405020304" pitchFamily="18" charset="0"/>
                <a:cs typeface="Times New Roman" panose="02020603050405020304" pitchFamily="18" charset="0"/>
              </a:rPr>
              <a:t>non-</a:t>
            </a:r>
            <a:r>
              <a:rPr lang="en-US" sz="3200" dirty="0" err="1">
                <a:solidFill>
                  <a:schemeClr val="accent5"/>
                </a:solidFill>
                <a:latin typeface="Times New Roman" panose="02020603050405020304" pitchFamily="18" charset="0"/>
                <a:cs typeface="Times New Roman" panose="02020603050405020304" pitchFamily="18" charset="0"/>
              </a:rPr>
              <a:t>i.i.d</a:t>
            </a:r>
            <a:r>
              <a:rPr lang="en-US" sz="3200" dirty="0">
                <a:solidFill>
                  <a:schemeClr val="accent5"/>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09843125"/>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813D8-F67C-7F6D-41AF-40F920208182}"/>
              </a:ext>
            </a:extLst>
          </p:cNvPr>
          <p:cNvSpPr>
            <a:spLocks noGrp="1"/>
          </p:cNvSpPr>
          <p:nvPr>
            <p:ph type="title"/>
          </p:nvPr>
        </p:nvSpPr>
        <p:spPr/>
        <p:txBody>
          <a:bodyPr>
            <a:normAutofit/>
          </a:bodyPr>
          <a:lstStyle/>
          <a:p>
            <a:r>
              <a:rPr lang="en-US" sz="6000" dirty="0">
                <a:latin typeface="Baskerville"/>
                <a:ea typeface="Baskerville"/>
                <a:sym typeface="Baskerville"/>
              </a:rPr>
              <a:t>Arguments Against Automated Search</a:t>
            </a:r>
          </a:p>
        </p:txBody>
      </p:sp>
      <p:sp>
        <p:nvSpPr>
          <p:cNvPr id="3" name="Content Placeholder 2">
            <a:extLst>
              <a:ext uri="{FF2B5EF4-FFF2-40B4-BE49-F238E27FC236}">
                <a16:creationId xmlns:a16="http://schemas.microsoft.com/office/drawing/2014/main" id="{62043930-8BE6-92F6-4A9D-C961715DF1FC}"/>
              </a:ext>
            </a:extLst>
          </p:cNvPr>
          <p:cNvSpPr>
            <a:spLocks noGrp="1"/>
          </p:cNvSpPr>
          <p:nvPr>
            <p:ph type="body" idx="1"/>
          </p:nvPr>
        </p:nvSpPr>
        <p:spPr>
          <a:xfrm>
            <a:off x="-223520" y="3399774"/>
            <a:ext cx="10464800" cy="5715000"/>
          </a:xfrm>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US" dirty="0"/>
          </a:p>
        </p:txBody>
      </p:sp>
      <p:sp>
        <p:nvSpPr>
          <p:cNvPr id="8" name="Text Placeholder 2">
            <a:extLst>
              <a:ext uri="{FF2B5EF4-FFF2-40B4-BE49-F238E27FC236}">
                <a16:creationId xmlns:a16="http://schemas.microsoft.com/office/drawing/2014/main" id="{B1E64CD7-C3C4-0643-B356-92A3B871F3A7}"/>
              </a:ext>
            </a:extLst>
          </p:cNvPr>
          <p:cNvSpPr txBox="1">
            <a:spLocks/>
          </p:cNvSpPr>
          <p:nvPr/>
        </p:nvSpPr>
        <p:spPr>
          <a:xfrm>
            <a:off x="571910" y="2562393"/>
            <a:ext cx="11162890" cy="6552381"/>
          </a:xfrm>
          <a:prstGeom prst="rect">
            <a:avLst/>
          </a:prstGeom>
          <a:ln w="12700">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numCol="1" anchor="ctr">
            <a:normAutofit fontScale="92500"/>
          </a:bodyPr>
          <a:lstStyle>
            <a:lvl1pPr marL="889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1pPr>
            <a:lvl2pPr marL="13335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2pPr>
            <a:lvl3pPr marL="1778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3pPr>
            <a:lvl4pPr marL="22225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4pPr>
            <a:lvl5pPr marL="2667000" marR="0" indent="-571500" algn="l" defTabSz="584200" latinLnBrk="0">
              <a:lnSpc>
                <a:spcPct val="100000"/>
              </a:lnSpc>
              <a:spcBef>
                <a:spcPts val="2400"/>
              </a:spcBef>
              <a:spcAft>
                <a:spcPts val="0"/>
              </a:spcAft>
              <a:buClrTx/>
              <a:buSzPct val="171000"/>
              <a:buFontTx/>
              <a:buChar char="•"/>
              <a:tabLst/>
              <a:defRPr sz="4200" b="0" i="0" u="none" strike="noStrike" cap="none" spc="0" baseline="0">
                <a:solidFill>
                  <a:srgbClr val="000000"/>
                </a:solidFill>
                <a:uFillTx/>
                <a:latin typeface="+mn-lt"/>
                <a:ea typeface="+mn-ea"/>
                <a:cs typeface="+mn-cs"/>
                <a:sym typeface="Gill Sans"/>
              </a:defRPr>
            </a:lvl5pPr>
            <a:lvl6pPr marL="30945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6pPr>
            <a:lvl7pPr marL="34501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7pPr>
            <a:lvl8pPr marL="38057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8pPr>
            <a:lvl9pPr marL="4161383" marR="0" indent="-376783" algn="l" defTabSz="457200" latinLnBrk="0">
              <a:lnSpc>
                <a:spcPct val="100000"/>
              </a:lnSpc>
              <a:spcBef>
                <a:spcPts val="3300"/>
              </a:spcBef>
              <a:spcAft>
                <a:spcPts val="0"/>
              </a:spcAft>
              <a:buClrTx/>
              <a:buSzPct val="125000"/>
              <a:buFontTx/>
              <a:buChar char="•"/>
              <a:tabLst/>
              <a:defRPr sz="3800" b="0" i="0" u="none" strike="noStrike" cap="none" spc="0" baseline="0">
                <a:solidFill>
                  <a:srgbClr val="56533A"/>
                </a:solidFill>
                <a:uFillTx/>
                <a:latin typeface="Hoefler Text"/>
                <a:ea typeface="Hoefler Text"/>
                <a:cs typeface="Hoefler Text"/>
                <a:sym typeface="Hoefler Text"/>
              </a:defRPr>
            </a:lvl9pPr>
          </a:lstStyle>
          <a:p>
            <a:pPr hangingPunct="1"/>
            <a:r>
              <a:rPr lang="en-US" sz="4400" dirty="0">
                <a:latin typeface="Times New Roman" panose="02020603050405020304" pitchFamily="18" charset="0"/>
                <a:cs typeface="Times New Roman" panose="02020603050405020304" pitchFamily="18" charset="0"/>
              </a:rPr>
              <a:t>In the worst case, it is impossible to distinguish causal directions from each or from confounding using just associations.</a:t>
            </a:r>
          </a:p>
          <a:p>
            <a:pPr lvl="1" hangingPunct="1"/>
            <a:r>
              <a:rPr lang="en-US" sz="3200" dirty="0">
                <a:latin typeface="Times New Roman" panose="02020603050405020304" pitchFamily="18" charset="0"/>
                <a:cs typeface="Times New Roman" panose="02020603050405020304" pitchFamily="18" charset="0"/>
              </a:rPr>
              <a:t>“Correlation is not causation”.</a:t>
            </a:r>
          </a:p>
          <a:p>
            <a:pPr lvl="1" hangingPunct="1"/>
            <a:r>
              <a:rPr lang="en-US" sz="3200" dirty="0">
                <a:latin typeface="Times New Roman" panose="02020603050405020304" pitchFamily="18" charset="0"/>
                <a:cs typeface="Times New Roman" panose="02020603050405020304" pitchFamily="18" charset="0"/>
              </a:rPr>
              <a:t>This is a worst case argument – it depends upon what assumptions are made, which distributions exist, which variables are measured, and which causal graphs are true.</a:t>
            </a:r>
          </a:p>
          <a:p>
            <a:pPr lvl="1" hangingPunct="1"/>
            <a:r>
              <a:rPr lang="en-US" sz="3200" dirty="0">
                <a:latin typeface="Times New Roman" panose="02020603050405020304" pitchFamily="18" charset="0"/>
                <a:cs typeface="Times New Roman" panose="02020603050405020304" pitchFamily="18" charset="0"/>
              </a:rPr>
              <a:t>But the worst case is not every case – what can we distinguish?</a:t>
            </a:r>
          </a:p>
          <a:p>
            <a:pPr lvl="1" hangingPunct="1"/>
            <a:r>
              <a:rPr lang="en-US" sz="3200" dirty="0">
                <a:latin typeface="Times New Roman" panose="02020603050405020304" pitchFamily="18" charset="0"/>
                <a:cs typeface="Times New Roman" panose="02020603050405020304" pitchFamily="18" charset="0"/>
              </a:rPr>
              <a:t>You don’t have to just use associations – there is more information in probability distributions than just associations. </a:t>
            </a:r>
          </a:p>
          <a:p>
            <a:pPr hangingPunct="1"/>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497426"/>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94079" y="482598"/>
            <a:ext cx="11216642" cy="1413935"/>
          </a:xfrm>
        </p:spPr>
        <p:txBody>
          <a:bodyPr/>
          <a:lstStyle/>
          <a:p>
            <a:r>
              <a:rPr lang="en-US" dirty="0"/>
              <a:t>Skepticism, 1980-</a:t>
            </a:r>
          </a:p>
        </p:txBody>
      </p:sp>
      <p:sp>
        <p:nvSpPr>
          <p:cNvPr id="3" name="Content Placeholder 2"/>
          <p:cNvSpPr>
            <a:spLocks noGrp="1"/>
          </p:cNvSpPr>
          <p:nvPr>
            <p:ph type="body" idx="1"/>
          </p:nvPr>
        </p:nvSpPr>
        <p:spPr>
          <a:xfrm>
            <a:off x="2384213" y="2275840"/>
            <a:ext cx="10295467" cy="7152640"/>
          </a:xfrm>
        </p:spPr>
        <p:txBody>
          <a:bodyPr>
            <a:normAutofit/>
          </a:bodyPr>
          <a:lstStyle/>
          <a:p>
            <a:r>
              <a:rPr lang="en-US" i="1" dirty="0"/>
              <a:t>Terry Speed</a:t>
            </a:r>
            <a:r>
              <a:rPr lang="en-US" dirty="0"/>
              <a:t>: There may be better search methods than regression, but only regression should be used.</a:t>
            </a:r>
          </a:p>
          <a:p>
            <a:r>
              <a:rPr lang="en-US" i="1" dirty="0"/>
              <a:t>Donald Rubin</a:t>
            </a:r>
            <a:r>
              <a:rPr lang="en-US" dirty="0"/>
              <a:t>:  Causal models  should contain counterfactual variables. Effects depend counterfactually on causes, not vice-versa. So you cannot even know the appropriate variables unless you already know a lot about the causal relations. So search is impossible.</a:t>
            </a:r>
          </a:p>
          <a:p>
            <a:r>
              <a:rPr lang="en-US" i="1" dirty="0"/>
              <a:t>Judea Pearl</a:t>
            </a:r>
            <a:r>
              <a:rPr lang="en-US" dirty="0"/>
              <a:t>: Any associations could be due to </a:t>
            </a:r>
            <a:r>
              <a:rPr lang="en-US" dirty="0" err="1"/>
              <a:t>unrecorded</a:t>
            </a:r>
            <a:r>
              <a:rPr lang="en-US" dirty="0"/>
              <a:t>, unknown causes, so directed graphs cannot be used to estimate causal relations.</a:t>
            </a:r>
          </a:p>
          <a:p>
            <a:endParaRPr lang="en-US" dirty="0"/>
          </a:p>
          <a:p>
            <a:endParaRPr lang="en-US" dirty="0"/>
          </a:p>
        </p:txBody>
      </p:sp>
      <p:sp>
        <p:nvSpPr>
          <p:cNvPr id="4" name="Slide Number Placeholder 3"/>
          <p:cNvSpPr>
            <a:spLocks noGrp="1"/>
          </p:cNvSpPr>
          <p:nvPr>
            <p:ph type="sldNum" sz="quarter" idx="2"/>
          </p:nvPr>
        </p:nvSpPr>
        <p:spPr>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DFE2DA5-3564-374C-99A2-8B1EDDCFABC2}" type="slidenum">
              <a:rPr lang="en-US" smtClean="0"/>
              <a:pPr/>
              <a:t>49</a:t>
            </a:fld>
            <a:endParaRPr lang="en-US"/>
          </a:p>
        </p:txBody>
      </p:sp>
      <p:pic>
        <p:nvPicPr>
          <p:cNvPr id="84994" name="Picture 2" descr="See full size image">
            <a:hlinkClick r:id="rId4"/>
          </p:cNvPr>
          <p:cNvPicPr>
            <a:picLocks noChangeAspect="1" noChangeArrowheads="1"/>
          </p:cNvPicPr>
          <p:nvPr/>
        </p:nvPicPr>
        <p:blipFill>
          <a:blip r:embed="rId5"/>
          <a:srcRect/>
          <a:stretch>
            <a:fillRect/>
          </a:stretch>
        </p:blipFill>
        <p:spPr bwMode="auto">
          <a:xfrm>
            <a:off x="866987" y="2077156"/>
            <a:ext cx="1273387" cy="1886498"/>
          </a:xfrm>
          <a:prstGeom prst="rect">
            <a:avLst/>
          </a:prstGeom>
          <a:noFill/>
        </p:spPr>
      </p:pic>
      <p:pic>
        <p:nvPicPr>
          <p:cNvPr id="84996" name="Picture 4" descr="http://tbn1.google.com/images?q=tbn:PXSZ3Mu3vbnTpM:http://www.statlit.org/images/2007RubinDonaldISI.jpg">
            <a:hlinkClick r:id="rId6"/>
          </p:cNvPr>
          <p:cNvPicPr>
            <a:picLocks noChangeAspect="1" noChangeArrowheads="1"/>
          </p:cNvPicPr>
          <p:nvPr/>
        </p:nvPicPr>
        <p:blipFill>
          <a:blip r:embed="rId7"/>
          <a:srcRect/>
          <a:stretch>
            <a:fillRect/>
          </a:stretch>
        </p:blipFill>
        <p:spPr bwMode="auto">
          <a:xfrm>
            <a:off x="866986" y="4226560"/>
            <a:ext cx="1204654" cy="1733973"/>
          </a:xfrm>
          <a:prstGeom prst="rect">
            <a:avLst/>
          </a:prstGeom>
          <a:noFill/>
        </p:spPr>
      </p:pic>
      <p:pic>
        <p:nvPicPr>
          <p:cNvPr id="84998" name="Picture 6" descr="http://tbn3.google.com/images?q=tbn:RI8_xLhaTQePFM:http://www.engineer.ucla.edu/magazine/images/JPearl.jpg">
            <a:hlinkClick r:id="rId8"/>
          </p:cNvPr>
          <p:cNvPicPr>
            <a:picLocks noChangeAspect="1" noChangeArrowheads="1"/>
          </p:cNvPicPr>
          <p:nvPr/>
        </p:nvPicPr>
        <p:blipFill>
          <a:blip r:embed="rId9"/>
          <a:srcRect/>
          <a:stretch>
            <a:fillRect/>
          </a:stretch>
        </p:blipFill>
        <p:spPr bwMode="auto">
          <a:xfrm>
            <a:off x="758614" y="6719147"/>
            <a:ext cx="1615322" cy="2059093"/>
          </a:xfrm>
          <a:prstGeom prst="rect">
            <a:avLst/>
          </a:prstGeom>
          <a:noFill/>
        </p:spPr>
      </p:pic>
    </p:spTree>
    <p:extLst>
      <p:ext uri="{BB962C8B-B14F-4D97-AF65-F5344CB8AC3E}">
        <p14:creationId xmlns:p14="http://schemas.microsoft.com/office/powerpoint/2010/main" val="519189475"/>
      </p:ext>
    </p:extLst>
  </p:cSld>
  <p:clrMapOvr>
    <a:overrideClrMapping bg1="lt1" tx1="dk1" bg2="lt2" tx2="dk2" accent1="accent1" accent2="accent2" accent3="accent3" accent4="accent4" accent5="accent5" accent6="accent6" hlink="hlink" folHlink="folHlink"/>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 name="Dimensions of Problem"/>
          <p:cNvSpPr txBox="1">
            <a:spLocks noGrp="1"/>
          </p:cNvSpPr>
          <p:nvPr>
            <p:ph type="title"/>
          </p:nvPr>
        </p:nvSpPr>
        <p:spPr>
          <a:prstGeom prst="rect">
            <a:avLst/>
          </a:prstGeom>
        </p:spPr>
        <p:txBody>
          <a:bodyPr>
            <a:normAutofit/>
          </a:bodyPr>
          <a:lstStyle/>
          <a:p>
            <a:r>
              <a:rPr lang="en-US" sz="6000" dirty="0">
                <a:latin typeface="Baskerville"/>
                <a:ea typeface="Baskerville"/>
                <a:sym typeface="Baskerville"/>
              </a:rPr>
              <a:t>More </a:t>
            </a:r>
            <a:r>
              <a:rPr sz="6000" dirty="0">
                <a:latin typeface="Baskerville"/>
                <a:ea typeface="Baskerville"/>
                <a:sym typeface="Baskerville"/>
              </a:rPr>
              <a:t>Problem</a:t>
            </a:r>
            <a:r>
              <a:rPr lang="en-US" sz="6000" dirty="0">
                <a:latin typeface="Baskerville"/>
                <a:ea typeface="Baskerville"/>
                <a:sym typeface="Baskerville"/>
              </a:rPr>
              <a:t>s</a:t>
            </a:r>
            <a:endParaRPr sz="6000" dirty="0">
              <a:latin typeface="Baskerville"/>
              <a:ea typeface="Baskerville"/>
              <a:sym typeface="Baskerville"/>
            </a:endParaRPr>
          </a:p>
        </p:txBody>
      </p:sp>
      <p:sp>
        <p:nvSpPr>
          <p:cNvPr id="1293" name="Unmeasured Confounders…"/>
          <p:cNvSpPr txBox="1">
            <a:spLocks noGrp="1"/>
          </p:cNvSpPr>
          <p:nvPr>
            <p:ph type="body" idx="1"/>
          </p:nvPr>
        </p:nvSpPr>
        <p:spPr>
          <a:prstGeom prst="rect">
            <a:avLst/>
          </a:prstGeom>
        </p:spPr>
        <p:txBody>
          <a:bodyPr numCol="2">
            <a:normAutofit fontScale="85000" lnSpcReduction="20000"/>
          </a:bodyPr>
          <a:lstStyle/>
          <a:p>
            <a:pPr marL="693419" indent="-445769" defTabSz="455675">
              <a:spcBef>
                <a:spcPts val="1800"/>
              </a:spcBef>
              <a:defRPr sz="3275">
                <a:latin typeface="Times New Roman"/>
                <a:ea typeface="Times New Roman"/>
                <a:cs typeface="Times New Roman"/>
                <a:sym typeface="Times New Roman"/>
              </a:defRPr>
            </a:pPr>
            <a:r>
              <a:rPr lang="en-US" b="1" dirty="0"/>
              <a:t>Number of models</a:t>
            </a:r>
          </a:p>
          <a:p>
            <a:pPr marL="693419" indent="-445769" defTabSz="455675">
              <a:spcBef>
                <a:spcPts val="1800"/>
              </a:spcBef>
              <a:defRPr sz="3275">
                <a:latin typeface="Times New Roman"/>
                <a:ea typeface="Times New Roman"/>
                <a:cs typeface="Times New Roman"/>
                <a:sym typeface="Times New Roman"/>
              </a:defRPr>
            </a:pPr>
            <a:r>
              <a:rPr lang="en-US" b="1" dirty="0"/>
              <a:t>Inadequate sample size</a:t>
            </a:r>
          </a:p>
          <a:p>
            <a:pPr marL="633454" indent="-385804" defTabSz="455675">
              <a:spcBef>
                <a:spcPts val="2900"/>
              </a:spcBef>
              <a:defRPr sz="3275">
                <a:latin typeface="Times New Roman"/>
                <a:ea typeface="Times New Roman"/>
                <a:cs typeface="Times New Roman"/>
                <a:sym typeface="Times New Roman"/>
              </a:defRPr>
            </a:pPr>
            <a:r>
              <a:rPr dirty="0"/>
              <a:t>Selection Bias</a:t>
            </a:r>
          </a:p>
          <a:p>
            <a:pPr marL="633454" indent="-385804" defTabSz="455675">
              <a:spcBef>
                <a:spcPts val="2900"/>
              </a:spcBef>
              <a:defRPr sz="3275">
                <a:latin typeface="Times New Roman"/>
                <a:ea typeface="Times New Roman"/>
                <a:cs typeface="Times New Roman"/>
                <a:sym typeface="Times New Roman"/>
              </a:defRPr>
            </a:pPr>
            <a:r>
              <a:rPr dirty="0"/>
              <a:t>Measurement error</a:t>
            </a:r>
          </a:p>
          <a:p>
            <a:pPr marL="633454" indent="-385804" defTabSz="455675">
              <a:spcBef>
                <a:spcPts val="2900"/>
              </a:spcBef>
              <a:defRPr sz="3275">
                <a:latin typeface="Times New Roman"/>
                <a:ea typeface="Times New Roman"/>
                <a:cs typeface="Times New Roman"/>
                <a:sym typeface="Times New Roman"/>
              </a:defRPr>
            </a:pPr>
            <a:r>
              <a:rPr dirty="0"/>
              <a:t>Missing data</a:t>
            </a:r>
          </a:p>
          <a:p>
            <a:pPr marL="633454" indent="-385804" defTabSz="455675">
              <a:spcBef>
                <a:spcPts val="2900"/>
              </a:spcBef>
              <a:defRPr sz="3275">
                <a:latin typeface="Times New Roman"/>
                <a:ea typeface="Times New Roman"/>
                <a:cs typeface="Times New Roman"/>
                <a:sym typeface="Times New Roman"/>
              </a:defRPr>
            </a:pPr>
            <a:r>
              <a:rPr dirty="0"/>
              <a:t>Multiple Data Sets from different contexts</a:t>
            </a:r>
          </a:p>
          <a:p>
            <a:pPr marL="693419" indent="-445769" defTabSz="455675">
              <a:spcBef>
                <a:spcPts val="1800"/>
              </a:spcBef>
              <a:defRPr sz="3275">
                <a:latin typeface="Times New Roman"/>
                <a:ea typeface="Times New Roman"/>
                <a:cs typeface="Times New Roman"/>
                <a:sym typeface="Times New Roman"/>
              </a:defRPr>
            </a:pPr>
            <a:r>
              <a:rPr dirty="0"/>
              <a:t>Aggregation of </a:t>
            </a:r>
            <a:r>
              <a:rPr lang="en-US" dirty="0"/>
              <a:t>Values</a:t>
            </a:r>
            <a:endParaRPr dirty="0"/>
          </a:p>
          <a:p>
            <a:pPr marL="693419" indent="-445769" defTabSz="455675">
              <a:spcBef>
                <a:spcPts val="1800"/>
              </a:spcBef>
              <a:defRPr sz="3275">
                <a:latin typeface="Times New Roman"/>
                <a:ea typeface="Times New Roman"/>
                <a:cs typeface="Times New Roman"/>
                <a:sym typeface="Times New Roman"/>
              </a:defRPr>
            </a:pPr>
            <a:r>
              <a:rPr dirty="0"/>
              <a:t>Non-linearity</a:t>
            </a:r>
          </a:p>
          <a:p>
            <a:pPr marL="693419" indent="-445769" defTabSz="455675">
              <a:spcBef>
                <a:spcPts val="1800"/>
              </a:spcBef>
              <a:defRPr sz="3275">
                <a:latin typeface="Times New Roman"/>
                <a:ea typeface="Times New Roman"/>
                <a:cs typeface="Times New Roman"/>
                <a:sym typeface="Times New Roman"/>
              </a:defRPr>
            </a:pPr>
            <a:r>
              <a:rPr dirty="0"/>
              <a:t>Non-stationarity</a:t>
            </a:r>
          </a:p>
          <a:p>
            <a:pPr marL="693419" indent="-445769" defTabSz="455675">
              <a:spcBef>
                <a:spcPts val="1800"/>
              </a:spcBef>
              <a:defRPr sz="3275">
                <a:latin typeface="Times New Roman"/>
                <a:ea typeface="Times New Roman"/>
                <a:cs typeface="Times New Roman"/>
                <a:sym typeface="Times New Roman"/>
              </a:defRPr>
            </a:pPr>
            <a:r>
              <a:rPr dirty="0"/>
              <a:t>Causal interactions among units</a:t>
            </a:r>
          </a:p>
          <a:p>
            <a:pPr marL="693419" indent="-445769" defTabSz="455675">
              <a:spcBef>
                <a:spcPts val="1800"/>
              </a:spcBef>
              <a:defRPr sz="3275">
                <a:latin typeface="Times New Roman"/>
                <a:ea typeface="Times New Roman"/>
                <a:cs typeface="Times New Roman"/>
                <a:sym typeface="Times New Roman"/>
              </a:defRPr>
            </a:pPr>
            <a:r>
              <a:rPr dirty="0"/>
              <a:t>Mixtures of distributions</a:t>
            </a:r>
            <a:endParaRPr lang="en-US" dirty="0"/>
          </a:p>
          <a:p>
            <a:pPr marL="693419" indent="-445769" defTabSz="455675">
              <a:spcBef>
                <a:spcPts val="1800"/>
              </a:spcBef>
              <a:defRPr sz="3275">
                <a:latin typeface="Times New Roman"/>
                <a:ea typeface="Times New Roman"/>
                <a:cs typeface="Times New Roman"/>
                <a:sym typeface="Times New Roman"/>
              </a:defRPr>
            </a:pPr>
            <a:r>
              <a:rPr lang="en-US" dirty="0"/>
              <a:t>Mixtures of structures</a:t>
            </a:r>
          </a:p>
          <a:p>
            <a:pPr marL="693419" indent="-445769" defTabSz="455675">
              <a:spcBef>
                <a:spcPts val="1800"/>
              </a:spcBef>
              <a:defRPr sz="3275">
                <a:latin typeface="Times New Roman"/>
                <a:ea typeface="Times New Roman"/>
                <a:cs typeface="Times New Roman"/>
                <a:sym typeface="Times New Roman"/>
              </a:defRPr>
            </a:pPr>
            <a:r>
              <a:rPr lang="en-US" dirty="0"/>
              <a:t>Violations of SUTVA</a:t>
            </a:r>
          </a:p>
          <a:p>
            <a:pPr marL="693419" indent="-445769" defTabSz="455675">
              <a:spcBef>
                <a:spcPts val="1800"/>
              </a:spcBef>
              <a:defRPr sz="3275">
                <a:latin typeface="Times New Roman"/>
                <a:ea typeface="Times New Roman"/>
                <a:cs typeface="Times New Roman"/>
                <a:sym typeface="Times New Roman"/>
              </a:defRPr>
            </a:pPr>
            <a:r>
              <a:rPr lang="en-US" dirty="0"/>
              <a:t>Non-causal relationships</a:t>
            </a:r>
          </a:p>
          <a:p>
            <a:pPr marL="2025650" lvl="4" indent="0" defTabSz="455675">
              <a:spcBef>
                <a:spcPts val="1800"/>
              </a:spcBef>
              <a:buNone/>
              <a:defRPr sz="3275">
                <a:latin typeface="Times New Roman"/>
                <a:ea typeface="Times New Roman"/>
                <a:cs typeface="Times New Roman"/>
                <a:sym typeface="Times New Roman"/>
              </a:defRPr>
            </a:pPr>
            <a:r>
              <a:rPr lang="en-US" dirty="0"/>
              <a:t>. </a:t>
            </a:r>
          </a:p>
          <a:p>
            <a:pPr marL="2025650" lvl="4" indent="0" defTabSz="455675">
              <a:spcBef>
                <a:spcPts val="1800"/>
              </a:spcBef>
              <a:buNone/>
              <a:defRPr sz="3275">
                <a:latin typeface="Times New Roman"/>
                <a:ea typeface="Times New Roman"/>
                <a:cs typeface="Times New Roman"/>
                <a:sym typeface="Times New Roman"/>
              </a:defRPr>
            </a:pPr>
            <a:r>
              <a:rPr lang="en-US" sz="3800" dirty="0"/>
              <a:t>. </a:t>
            </a:r>
          </a:p>
          <a:p>
            <a:pPr marL="2025650" lvl="4" indent="0" defTabSz="455675">
              <a:spcBef>
                <a:spcPts val="1800"/>
              </a:spcBef>
              <a:buNone/>
              <a:defRPr sz="3275">
                <a:latin typeface="Times New Roman"/>
                <a:ea typeface="Times New Roman"/>
                <a:cs typeface="Times New Roman"/>
                <a:sym typeface="Times New Roman"/>
              </a:defRPr>
            </a:pPr>
            <a:r>
              <a:rPr lang="en-US" sz="3800" dirty="0"/>
              <a:t>. </a:t>
            </a:r>
            <a:endParaRPr lang="en-US" dirty="0"/>
          </a:p>
        </p:txBody>
      </p:sp>
      <p:sp>
        <p:nvSpPr>
          <p:cNvPr id="1294" name="4/7/22"/>
          <p:cNvSpPr txBox="1"/>
          <p:nvPr/>
        </p:nvSpPr>
        <p:spPr>
          <a:xfrm>
            <a:off x="1040383" y="9179193"/>
            <a:ext cx="2579287" cy="3892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3" tIns="65023" rIns="65023" bIns="65023" anchor="b">
            <a:spAutoFit/>
          </a:bodyPr>
          <a:lstStyle>
            <a:lvl1pPr algn="l" defTabSz="1300480">
              <a:defRPr sz="1800">
                <a:solidFill>
                  <a:srgbClr val="FFFFFF"/>
                </a:solidFill>
                <a:latin typeface="Arial"/>
                <a:ea typeface="Arial"/>
                <a:cs typeface="Arial"/>
                <a:sym typeface="Arial"/>
              </a:defRPr>
            </a:lvl1pPr>
          </a:lstStyle>
          <a:p>
            <a:r>
              <a:t>4/7/22</a:t>
            </a:r>
          </a:p>
        </p:txBody>
      </p:sp>
    </p:spTree>
    <p:extLst>
      <p:ext uri="{BB962C8B-B14F-4D97-AF65-F5344CB8AC3E}">
        <p14:creationId xmlns:p14="http://schemas.microsoft.com/office/powerpoint/2010/main" val="4293720667"/>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7F65C-5E46-EA49-A3F1-16D83BC0992D}"/>
              </a:ext>
            </a:extLst>
          </p:cNvPr>
          <p:cNvSpPr>
            <a:spLocks noGrp="1"/>
          </p:cNvSpPr>
          <p:nvPr>
            <p:ph type="title"/>
          </p:nvPr>
        </p:nvSpPr>
        <p:spPr>
          <a:xfrm>
            <a:off x="1270000" y="330200"/>
            <a:ext cx="10464800" cy="2438400"/>
          </a:xfrm>
        </p:spPr>
        <p:txBody>
          <a:bodyPr>
            <a:normAutofit fontScale="90000"/>
          </a:bodyPr>
          <a:lstStyle/>
          <a:p>
            <a:pPr algn="ctr"/>
            <a:r>
              <a:rPr lang="en-US" sz="6000" dirty="0">
                <a:latin typeface="Baskerville"/>
                <a:ea typeface="Baskerville"/>
              </a:rPr>
              <a:t>Why Should We Trust the Output of A Search Procedure? What was Lacking in 1990</a:t>
            </a:r>
          </a:p>
        </p:txBody>
      </p:sp>
      <p:sp>
        <p:nvSpPr>
          <p:cNvPr id="3" name="Text Placeholder 2">
            <a:extLst>
              <a:ext uri="{FF2B5EF4-FFF2-40B4-BE49-F238E27FC236}">
                <a16:creationId xmlns:a16="http://schemas.microsoft.com/office/drawing/2014/main" id="{AEEBDE93-C23C-E474-9499-C65ADC9951FD}"/>
              </a:ext>
            </a:extLst>
          </p:cNvPr>
          <p:cNvSpPr>
            <a:spLocks noGrp="1"/>
          </p:cNvSpPr>
          <p:nvPr>
            <p:ph type="body" idx="1"/>
          </p:nvPr>
        </p:nvSpPr>
        <p:spPr/>
        <p:txBody>
          <a:bodyPr/>
          <a:lstStyle/>
          <a:p>
            <a:endParaRPr lang="en-US"/>
          </a:p>
        </p:txBody>
      </p:sp>
      <p:sp>
        <p:nvSpPr>
          <p:cNvPr id="8" name="Slide Number Placeholder 7">
            <a:extLst>
              <a:ext uri="{FF2B5EF4-FFF2-40B4-BE49-F238E27FC236}">
                <a16:creationId xmlns:a16="http://schemas.microsoft.com/office/drawing/2014/main" id="{A5CBD040-E033-5A43-B93B-B934AD19CF68}"/>
              </a:ext>
            </a:extLst>
          </p:cNvPr>
          <p:cNvSpPr>
            <a:spLocks noGrp="1"/>
          </p:cNvSpPr>
          <p:nvPr>
            <p:ph type="sldNum" sz="quarter" idx="2"/>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F81104-F4BD-3E42-A476-0B333162F2F3}" type="slidenum">
              <a:rPr lang="en-US" smtClean="0"/>
              <a:pPr/>
              <a:t>51</a:t>
            </a:fld>
            <a:endParaRPr lang="en-US"/>
          </a:p>
        </p:txBody>
      </p:sp>
      <p:pic>
        <p:nvPicPr>
          <p:cNvPr id="5" name="Content Placeholder 4">
            <a:extLst>
              <a:ext uri="{FF2B5EF4-FFF2-40B4-BE49-F238E27FC236}">
                <a16:creationId xmlns:a16="http://schemas.microsoft.com/office/drawing/2014/main" id="{2EEE4F49-EA33-7244-8358-97F8520BB65B}"/>
              </a:ext>
            </a:extLst>
          </p:cNvPr>
          <p:cNvPicPr>
            <a:picLocks noGrp="1" noChangeAspect="1"/>
          </p:cNvPicPr>
          <p:nvPr>
            <p:ph idx="4294967295"/>
          </p:nvPr>
        </p:nvPicPr>
        <p:blipFill>
          <a:blip r:embed="rId2"/>
          <a:stretch>
            <a:fillRect/>
          </a:stretch>
        </p:blipFill>
        <p:spPr>
          <a:xfrm>
            <a:off x="14135" y="2749145"/>
            <a:ext cx="13112179" cy="6383337"/>
          </a:xfrm>
        </p:spPr>
      </p:pic>
      <p:sp>
        <p:nvSpPr>
          <p:cNvPr id="9" name="Rectangle 8">
            <a:extLst>
              <a:ext uri="{FF2B5EF4-FFF2-40B4-BE49-F238E27FC236}">
                <a16:creationId xmlns:a16="http://schemas.microsoft.com/office/drawing/2014/main" id="{A8E0253F-F0A1-C5A2-E806-AA6E432FBA8C}"/>
              </a:ext>
            </a:extLst>
          </p:cNvPr>
          <p:cNvSpPr/>
          <p:nvPr/>
        </p:nvSpPr>
        <p:spPr>
          <a:xfrm>
            <a:off x="114288" y="8716777"/>
            <a:ext cx="1536970" cy="359608"/>
          </a:xfrm>
          <a:prstGeom prst="rect">
            <a:avLst/>
          </a:prstGeom>
          <a:solidFill>
            <a:schemeClr val="bg1"/>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Tree>
    <p:extLst>
      <p:ext uri="{BB962C8B-B14F-4D97-AF65-F5344CB8AC3E}">
        <p14:creationId xmlns:p14="http://schemas.microsoft.com/office/powerpoint/2010/main" val="1409545017"/>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Three Faces of Faithfulness"/>
          <p:cNvSpPr txBox="1">
            <a:spLocks noGrp="1"/>
          </p:cNvSpPr>
          <p:nvPr>
            <p:ph type="title"/>
          </p:nvPr>
        </p:nvSpPr>
        <p:spPr>
          <a:xfrm>
            <a:off x="438150" y="331691"/>
            <a:ext cx="10464800" cy="2438400"/>
          </a:xfrm>
          <a:prstGeom prst="rect">
            <a:avLst/>
          </a:prstGeom>
          <a:effectLst/>
        </p:spPr>
        <p:txBody>
          <a:bodyPr lIns="65023" tIns="65023" rIns="65023" bIns="65023">
            <a:normAutofit/>
          </a:bodyPr>
          <a:lstStyle>
            <a:lvl1pPr algn="l" defTabSz="1300480">
              <a:lnSpc>
                <a:spcPct val="90000"/>
              </a:lnSpc>
              <a:defRPr sz="6200">
                <a:solidFill>
                  <a:srgbClr val="FFCC66"/>
                </a:solidFill>
                <a:latin typeface="Times New Roman"/>
                <a:ea typeface="Times New Roman"/>
                <a:cs typeface="Times New Roman"/>
                <a:sym typeface="Times New Roman"/>
              </a:defRPr>
            </a:lvl1pPr>
          </a:lstStyle>
          <a:p>
            <a:pPr algn="ctr"/>
            <a:r>
              <a:rPr lang="en-US" sz="5400" dirty="0">
                <a:solidFill>
                  <a:schemeClr val="tx1"/>
                </a:solidFill>
              </a:rPr>
              <a:t>Possible Responses to non-identifiability</a:t>
            </a:r>
            <a:endParaRPr sz="5400" dirty="0">
              <a:solidFill>
                <a:schemeClr val="tx1"/>
              </a:solidFill>
            </a:endParaRPr>
          </a:p>
        </p:txBody>
      </p:sp>
      <p:sp>
        <p:nvSpPr>
          <p:cNvPr id="539" name="Identifiability…"/>
          <p:cNvSpPr txBox="1">
            <a:spLocks noGrp="1"/>
          </p:cNvSpPr>
          <p:nvPr>
            <p:ph type="body" idx="1"/>
          </p:nvPr>
        </p:nvSpPr>
        <p:spPr>
          <a:xfrm>
            <a:off x="733651" y="2770091"/>
            <a:ext cx="10464800" cy="5715000"/>
          </a:xfrm>
          <a:prstGeom prst="rect">
            <a:avLst/>
          </a:prstGeom>
          <a:effectLst/>
        </p:spPr>
        <p:txBody>
          <a:bodyPr lIns="65023" tIns="65023" rIns="65023" bIns="65023" anchor="t">
            <a:normAutofit/>
          </a:bodyPr>
          <a:lstStyle/>
          <a:p>
            <a:r>
              <a:rPr lang="en-US" sz="3600" dirty="0">
                <a:solidFill>
                  <a:schemeClr val="tx1"/>
                </a:solidFill>
                <a:latin typeface="Times New Roman"/>
                <a:cs typeface="Times New Roman"/>
                <a:sym typeface="Times New Roman"/>
              </a:rPr>
              <a:t>*Strengthen assumptions. Add simplicity assumption (Causal Faithfulness Assumption).</a:t>
            </a:r>
          </a:p>
          <a:p>
            <a:r>
              <a:rPr lang="en-US" sz="3600" dirty="0">
                <a:solidFill>
                  <a:schemeClr val="tx1"/>
                </a:solidFill>
                <a:latin typeface="Times New Roman"/>
                <a:cs typeface="Times New Roman"/>
                <a:sym typeface="Times New Roman"/>
              </a:rPr>
              <a:t>*Weaken sense of success. (Identify Markov equivalence class, not DAG). </a:t>
            </a:r>
          </a:p>
          <a:p>
            <a:r>
              <a:rPr lang="en-US" sz="3600" dirty="0">
                <a:solidFill>
                  <a:schemeClr val="tx1"/>
                </a:solidFill>
                <a:latin typeface="Times New Roman"/>
                <a:cs typeface="Times New Roman"/>
                <a:sym typeface="Times New Roman"/>
              </a:rPr>
              <a:t>Strengthen input. (Add experimental data as well)</a:t>
            </a:r>
          </a:p>
          <a:p>
            <a:r>
              <a:rPr lang="en-US" sz="3600" dirty="0">
                <a:solidFill>
                  <a:schemeClr val="tx1"/>
                </a:solidFill>
                <a:latin typeface="Times New Roman"/>
                <a:cs typeface="Times New Roman"/>
                <a:sym typeface="Times New Roman"/>
              </a:rPr>
              <a:t>Give up.</a:t>
            </a:r>
          </a:p>
          <a:p>
            <a:pPr marL="317500" indent="0">
              <a:buNone/>
            </a:pPr>
            <a:endParaRPr lang="en-US" sz="3600" dirty="0">
              <a:solidFill>
                <a:schemeClr val="tx1"/>
              </a:solidFill>
              <a:latin typeface="Times New Roman"/>
              <a:cs typeface="Times New Roman"/>
              <a:sym typeface="Times New Roman"/>
            </a:endParaRPr>
          </a:p>
          <a:p>
            <a:endParaRPr lang="en-US" sz="3600" dirty="0">
              <a:solidFill>
                <a:schemeClr val="tx1"/>
              </a:solidFill>
              <a:latin typeface="Times New Roman"/>
              <a:cs typeface="Times New Roman"/>
              <a:sym typeface="Times New Roman"/>
            </a:endParaRPr>
          </a:p>
          <a:p>
            <a:endParaRPr lang="en-US" sz="3600" dirty="0">
              <a:solidFill>
                <a:schemeClr val="tx1"/>
              </a:solidFill>
              <a:latin typeface="Times New Roman"/>
              <a:cs typeface="Times New Roman"/>
              <a:sym typeface="Times New Roman"/>
            </a:endParaRPr>
          </a:p>
        </p:txBody>
      </p:sp>
      <p:sp>
        <p:nvSpPr>
          <p:cNvPr id="54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650240">
              <a:defRPr sz="1600">
                <a:solidFill>
                  <a:srgbClr val="1B3861"/>
                </a:solidFill>
                <a:latin typeface="Trebuchet MS"/>
                <a:ea typeface="Trebuchet MS"/>
                <a:cs typeface="Trebuchet MS"/>
                <a:sym typeface="Trebuchet MS"/>
              </a:defRPr>
            </a:lvl1pPr>
          </a:lstStyle>
          <a:p>
            <a:fld id="{86CB4B4D-7CA3-9044-876B-883B54F8677D}" type="slidenum">
              <a:t>52</a:t>
            </a:fld>
            <a:endParaRPr/>
          </a:p>
        </p:txBody>
      </p:sp>
      <p:sp>
        <p:nvSpPr>
          <p:cNvPr id="543" name="4/7/22"/>
          <p:cNvSpPr txBox="1"/>
          <p:nvPr/>
        </p:nvSpPr>
        <p:spPr>
          <a:xfrm>
            <a:off x="1040383" y="9179193"/>
            <a:ext cx="2579287" cy="3892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3" tIns="65023" rIns="65023" bIns="65023" anchor="b">
            <a:spAutoFit/>
          </a:bodyPr>
          <a:lstStyle>
            <a:lvl1pPr algn="l" defTabSz="1300480">
              <a:defRPr sz="1800">
                <a:solidFill>
                  <a:srgbClr val="FFFFFF"/>
                </a:solidFill>
                <a:latin typeface="Arial"/>
                <a:ea typeface="Arial"/>
                <a:cs typeface="Arial"/>
                <a:sym typeface="Arial"/>
              </a:defRPr>
            </a:lvl1pPr>
          </a:lstStyle>
          <a:p>
            <a:r>
              <a:t>4/7/22</a:t>
            </a:r>
          </a:p>
        </p:txBody>
      </p:sp>
    </p:spTree>
    <p:extLst>
      <p:ext uri="{BB962C8B-B14F-4D97-AF65-F5344CB8AC3E}">
        <p14:creationId xmlns:p14="http://schemas.microsoft.com/office/powerpoint/2010/main" val="3510110513"/>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Causality and Modular Changes"/>
          <p:cNvSpPr txBox="1">
            <a:spLocks noGrp="1"/>
          </p:cNvSpPr>
          <p:nvPr>
            <p:ph type="title"/>
          </p:nvPr>
        </p:nvSpPr>
        <p:spPr>
          <a:xfrm>
            <a:off x="995680" y="-774005"/>
            <a:ext cx="10464800" cy="2438400"/>
          </a:xfrm>
          <a:prstGeom prst="rect">
            <a:avLst/>
          </a:prstGeom>
        </p:spPr>
        <p:txBody>
          <a:bodyPr/>
          <a:lstStyle>
            <a:lvl1pPr>
              <a:defRPr sz="6000">
                <a:latin typeface="Baskerville"/>
                <a:ea typeface="Baskerville"/>
                <a:cs typeface="Baskerville"/>
                <a:sym typeface="Baskerville"/>
              </a:defRPr>
            </a:lvl1pPr>
          </a:lstStyle>
          <a:p>
            <a:r>
              <a:rPr dirty="0"/>
              <a:t>Causality and Modular Changes</a:t>
            </a:r>
          </a:p>
        </p:txBody>
      </p:sp>
      <p:sp>
        <p:nvSpPr>
          <p:cNvPr id="315" name="Causal system has “irrelevant” modules (Pearl, 2000; Spirtes et al., 1993)…"/>
          <p:cNvSpPr txBox="1">
            <a:spLocks noGrp="1"/>
          </p:cNvSpPr>
          <p:nvPr>
            <p:ph type="body" idx="1"/>
          </p:nvPr>
        </p:nvSpPr>
        <p:spPr>
          <a:xfrm>
            <a:off x="508000" y="2206972"/>
            <a:ext cx="10464800" cy="5715000"/>
          </a:xfrm>
          <a:prstGeom prst="rect">
            <a:avLst/>
          </a:prstGeom>
        </p:spPr>
        <p:txBody>
          <a:bodyPr/>
          <a:lstStyle/>
          <a:p>
            <a:pPr marL="834571" indent="-517071">
              <a:defRPr sz="3300">
                <a:latin typeface="Baskerville"/>
                <a:ea typeface="Baskerville"/>
                <a:cs typeface="Baskerville"/>
                <a:sym typeface="Baskerville"/>
              </a:defRPr>
            </a:pPr>
            <a:r>
              <a:rPr dirty="0"/>
              <a:t>Causal system has “irrelevant” modules</a:t>
            </a:r>
            <a:r>
              <a:rPr sz="2800" dirty="0"/>
              <a:t> (Pearl, 2000; </a:t>
            </a:r>
            <a:r>
              <a:rPr sz="2800" dirty="0" err="1"/>
              <a:t>Spirtes</a:t>
            </a:r>
            <a:r>
              <a:rPr sz="2800" dirty="0"/>
              <a:t> et al., 1993)</a:t>
            </a:r>
          </a:p>
          <a:p>
            <a:pPr marL="834571" indent="-517071">
              <a:defRPr sz="300">
                <a:latin typeface="Baskerville"/>
                <a:ea typeface="Baskerville"/>
                <a:cs typeface="Baskerville"/>
                <a:sym typeface="Baskerville"/>
              </a:defRPr>
            </a:pPr>
            <a:endParaRPr sz="2800" dirty="0"/>
          </a:p>
          <a:p>
            <a:pPr marL="834571" indent="-517071">
              <a:defRPr sz="300">
                <a:latin typeface="Baskerville"/>
                <a:ea typeface="Baskerville"/>
                <a:cs typeface="Baskerville"/>
                <a:sym typeface="Baskerville"/>
              </a:defRPr>
            </a:pPr>
            <a:endParaRPr sz="2800" dirty="0"/>
          </a:p>
          <a:p>
            <a:pPr marL="834571" indent="-517071">
              <a:defRPr sz="3300">
                <a:latin typeface="Baskerville"/>
                <a:ea typeface="Baskerville"/>
                <a:cs typeface="Baskerville"/>
                <a:sym typeface="Baskerville"/>
              </a:defRPr>
            </a:pPr>
            <a:r>
              <a:rPr sz="3300" dirty="0">
                <a:latin typeface="Baskerville"/>
                <a:ea typeface="Baskerville"/>
              </a:rPr>
              <a:t>Independent &amp; minimal changes</a:t>
            </a:r>
          </a:p>
          <a:p>
            <a:pPr marL="1279071" lvl="1" indent="-517071">
              <a:spcBef>
                <a:spcPts val="600"/>
              </a:spcBef>
              <a:defRPr sz="2800">
                <a:latin typeface="Baskerville"/>
                <a:ea typeface="Baskerville"/>
                <a:cs typeface="Baskerville"/>
                <a:sym typeface="Baskerville"/>
              </a:defRPr>
            </a:pPr>
            <a:r>
              <a:rPr dirty="0"/>
              <a:t>Changes in values of measured variables or hidden variables</a:t>
            </a:r>
          </a:p>
          <a:p>
            <a:pPr marL="1279071" lvl="1" indent="-517071">
              <a:spcBef>
                <a:spcPts val="600"/>
              </a:spcBef>
              <a:defRPr sz="2800">
                <a:latin typeface="Baskerville"/>
                <a:ea typeface="Baskerville"/>
                <a:cs typeface="Baskerville"/>
                <a:sym typeface="Baskerville"/>
              </a:defRPr>
            </a:pPr>
            <a:r>
              <a:rPr dirty="0"/>
              <a:t>A “minimal change” representation explains the </a:t>
            </a:r>
            <a:r>
              <a:rPr dirty="0" err="1"/>
              <a:t>distributiond</a:t>
            </a:r>
            <a:r>
              <a:rPr dirty="0"/>
              <a:t> with a minimal number of changing conditional distributions (</a:t>
            </a:r>
            <a:r>
              <a:rPr dirty="0" err="1"/>
              <a:t>Ghassami</a:t>
            </a:r>
            <a:r>
              <a:rPr dirty="0"/>
              <a:t> et al., 2018; Huang et al., 2020)</a:t>
            </a:r>
          </a:p>
          <a:p>
            <a:pPr marL="834571" indent="-517071">
              <a:spcBef>
                <a:spcPts val="600"/>
              </a:spcBef>
              <a:defRPr sz="3300">
                <a:latin typeface="Baskerville"/>
                <a:ea typeface="Baskerville"/>
                <a:cs typeface="Baskerville"/>
                <a:sym typeface="Baskerville"/>
              </a:defRPr>
            </a:pPr>
            <a:r>
              <a:rPr dirty="0"/>
              <a:t>Causal representation learning: find modular &amp; minimal changes from observational data with identifiability guarantees</a:t>
            </a:r>
          </a:p>
        </p:txBody>
      </p:sp>
      <p:sp>
        <p:nvSpPr>
          <p:cNvPr id="317" name="Huang, Zhang, Zhang, Ramsey, Sanchez-Romero, Glymour, Schölkopf, &quot;Causal Discovery from Heterogeneous/Nonstationary Data,&quot; JMLR, 2020…"/>
          <p:cNvSpPr txBox="1"/>
          <p:nvPr/>
        </p:nvSpPr>
        <p:spPr>
          <a:xfrm>
            <a:off x="34626" y="8464550"/>
            <a:ext cx="13267409" cy="1054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marL="661991" indent="-344491" algn="l">
              <a:buSzPct val="171000"/>
              <a:buChar char="-"/>
              <a:defRPr sz="2200" i="1">
                <a:solidFill>
                  <a:srgbClr val="53585F"/>
                </a:solidFill>
              </a:defRPr>
            </a:pPr>
            <a:r>
              <a:t>Huang, Zhang, Zhang, Ramsey, Sanchez-Romero, Glymour, Schölkopf, "Causal Discovery from Heterogeneous/Nonstationary Data," JMLR, 2020 </a:t>
            </a:r>
          </a:p>
          <a:p>
            <a:pPr marL="661991" indent="-344491" algn="l">
              <a:buSzPct val="171000"/>
              <a:buChar char="-"/>
              <a:defRPr sz="2200" i="1">
                <a:solidFill>
                  <a:srgbClr val="53585F"/>
                </a:solidFill>
              </a:defRPr>
            </a:pPr>
            <a:r>
              <a:t>Ghassami, Huang, Kiyavash, Zhang, “Multi-Domain Causal Structure Learning in Linear Systems,” NeurIPS 2018 </a:t>
            </a:r>
          </a:p>
        </p:txBody>
      </p:sp>
      <p:pic>
        <p:nvPicPr>
          <p:cNvPr id="318" name="Image" descr="Image"/>
          <p:cNvPicPr>
            <a:picLocks noChangeAspect="1"/>
          </p:cNvPicPr>
          <p:nvPr/>
        </p:nvPicPr>
        <p:blipFill>
          <a:blip r:embed="rId3"/>
          <a:stretch>
            <a:fillRect/>
          </a:stretch>
        </p:blipFill>
        <p:spPr>
          <a:xfrm>
            <a:off x="4419600" y="2490589"/>
            <a:ext cx="3912507" cy="1511251"/>
          </a:xfrm>
          <a:prstGeom prst="rect">
            <a:avLst/>
          </a:prstGeom>
          <a:ln w="12700">
            <a:miter lim="400000"/>
          </a:ln>
        </p:spPr>
      </p:pic>
    </p:spTree>
    <p:extLst>
      <p:ext uri="{BB962C8B-B14F-4D97-AF65-F5344CB8AC3E}">
        <p14:creationId xmlns:p14="http://schemas.microsoft.com/office/powerpoint/2010/main" val="475730248"/>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Typical) Constraint-Based Causal Discovery"/>
          <p:cNvSpPr txBox="1">
            <a:spLocks noGrp="1"/>
          </p:cNvSpPr>
          <p:nvPr>
            <p:ph type="title"/>
          </p:nvPr>
        </p:nvSpPr>
        <p:spPr>
          <a:prstGeom prst="rect">
            <a:avLst/>
          </a:prstGeom>
        </p:spPr>
        <p:txBody>
          <a:bodyPr/>
          <a:lstStyle>
            <a:lvl1pPr>
              <a:defRPr sz="5600">
                <a:latin typeface="Baskerville"/>
                <a:ea typeface="Baskerville"/>
                <a:cs typeface="Baskerville"/>
                <a:sym typeface="Baskerville"/>
              </a:defRPr>
            </a:lvl1pPr>
          </a:lstStyle>
          <a:p>
            <a:r>
              <a:rPr sz="6500" dirty="0"/>
              <a:t>(Typical) Constraint-Based Causal Discovery</a:t>
            </a:r>
          </a:p>
        </p:txBody>
      </p:sp>
      <p:sp>
        <p:nvSpPr>
          <p:cNvPr id="401" name="Conditional independence constraints between each variable pair…"/>
          <p:cNvSpPr txBox="1">
            <a:spLocks noGrp="1"/>
          </p:cNvSpPr>
          <p:nvPr>
            <p:ph type="body" idx="1"/>
          </p:nvPr>
        </p:nvSpPr>
        <p:spPr>
          <a:xfrm>
            <a:off x="189987" y="1072655"/>
            <a:ext cx="10464800" cy="5715000"/>
          </a:xfrm>
          <a:prstGeom prst="rect">
            <a:avLst/>
          </a:prstGeom>
        </p:spPr>
        <p:txBody>
          <a:bodyPr/>
          <a:lstStyle/>
          <a:p>
            <a:pPr marL="1279071" indent="-517071">
              <a:defRPr sz="3800">
                <a:solidFill>
                  <a:srgbClr val="0439FF"/>
                </a:solidFill>
                <a:latin typeface="Baskerville"/>
                <a:ea typeface="Baskerville"/>
                <a:cs typeface="Baskerville"/>
                <a:sym typeface="Baskerville"/>
              </a:defRPr>
            </a:pPr>
            <a:r>
              <a:rPr dirty="0"/>
              <a:t>Conditional independence</a:t>
            </a:r>
            <a:r>
              <a:rPr dirty="0">
                <a:solidFill>
                  <a:srgbClr val="000000"/>
                </a:solidFill>
              </a:rPr>
              <a:t> constraints between each variable pair</a:t>
            </a:r>
          </a:p>
          <a:p>
            <a:pPr marL="1723571" lvl="1" indent="-517071">
              <a:defRPr sz="2900">
                <a:latin typeface="Hoefler Text"/>
                <a:ea typeface="Hoefler Text"/>
                <a:cs typeface="Hoefler Text"/>
                <a:sym typeface="Hoefler Text"/>
              </a:defRPr>
            </a:pPr>
            <a:r>
              <a:rPr dirty="0"/>
              <a:t>Illustration: the PC algorithm</a:t>
            </a:r>
          </a:p>
          <a:p>
            <a:pPr marL="1723571" lvl="1" indent="-517071">
              <a:defRPr sz="2900">
                <a:latin typeface="Hoefler Text"/>
                <a:ea typeface="Hoefler Text"/>
                <a:cs typeface="Hoefler Text"/>
                <a:sym typeface="Hoefler Text"/>
              </a:defRPr>
            </a:pPr>
            <a:r>
              <a:rPr dirty="0"/>
              <a:t>Extensions: the FCI algorithm…</a:t>
            </a:r>
          </a:p>
        </p:txBody>
      </p:sp>
      <p:sp>
        <p:nvSpPr>
          <p:cNvPr id="402" name="Arrow"/>
          <p:cNvSpPr/>
          <p:nvPr/>
        </p:nvSpPr>
        <p:spPr>
          <a:xfrm rot="2184">
            <a:off x="4054925" y="6723188"/>
            <a:ext cx="673101" cy="952501"/>
          </a:xfrm>
          <a:prstGeom prst="rightArrow">
            <a:avLst>
              <a:gd name="adj1" fmla="val 47736"/>
              <a:gd name="adj2" fmla="val 45099"/>
            </a:avLst>
          </a:prstGeom>
          <a:solidFill>
            <a:srgbClr val="669C35"/>
          </a:solidFill>
          <a:ln w="12700">
            <a:miter lim="400000"/>
          </a:ln>
        </p:spPr>
        <p:txBody>
          <a:bodyPr lIns="50800" tIns="50800" rIns="50800" bIns="50800" anchor="ctr"/>
          <a:lstStyle/>
          <a:p>
            <a:pPr defTabSz="457200">
              <a:defRPr sz="3200" i="1">
                <a:solidFill>
                  <a:srgbClr val="FFFFFF"/>
                </a:solidFill>
                <a:latin typeface="Hoefler Text"/>
                <a:ea typeface="Hoefler Text"/>
                <a:cs typeface="Hoefler Text"/>
                <a:sym typeface="Hoefler Text"/>
              </a:defRPr>
            </a:pPr>
            <a:endParaRPr/>
          </a:p>
        </p:txBody>
      </p:sp>
      <p:sp>
        <p:nvSpPr>
          <p:cNvPr id="403" name="X1⫫X5 | X3…"/>
          <p:cNvSpPr/>
          <p:nvPr/>
        </p:nvSpPr>
        <p:spPr>
          <a:xfrm>
            <a:off x="4991100" y="5428922"/>
            <a:ext cx="3601013" cy="3556656"/>
          </a:xfrm>
          <a:prstGeom prst="ellipse">
            <a:avLst/>
          </a:prstGeom>
          <a:solidFill>
            <a:srgbClr val="00A2F9">
              <a:alpha val="77000"/>
            </a:srgbClr>
          </a:solidFill>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pPr>
              <a:defRPr sz="3000">
                <a:solidFill>
                  <a:srgbClr val="FFFFFF"/>
                </a:solidFill>
                <a:effectLst>
                  <a:outerShdw blurRad="38100" dist="12700" dir="5400000" rotWithShape="0">
                    <a:srgbClr val="000000">
                      <a:alpha val="50000"/>
                    </a:srgbClr>
                  </a:outerShdw>
                </a:effectLst>
                <a:latin typeface="Times New Roman"/>
                <a:ea typeface="Times New Roman"/>
                <a:cs typeface="Times New Roman"/>
                <a:sym typeface="Times New Roman"/>
              </a:defRPr>
            </a:pPr>
            <a:r>
              <a:t>X</a:t>
            </a:r>
            <a:r>
              <a:rPr baseline="-5999"/>
              <a:t>1</a:t>
            </a:r>
            <a:r>
              <a:t>⫫X</a:t>
            </a:r>
            <a:r>
              <a:rPr baseline="-5999"/>
              <a:t>5 </a:t>
            </a:r>
            <a:r>
              <a:t>| X</a:t>
            </a:r>
            <a:r>
              <a:rPr baseline="-5999"/>
              <a:t>3</a:t>
            </a:r>
          </a:p>
          <a:p>
            <a:pPr>
              <a:defRPr sz="3000">
                <a:solidFill>
                  <a:srgbClr val="FFFFFF"/>
                </a:solidFill>
                <a:effectLst>
                  <a:outerShdw blurRad="38100" dist="12700" dir="5400000" rotWithShape="0">
                    <a:srgbClr val="000000">
                      <a:alpha val="50000"/>
                    </a:srgbClr>
                  </a:outerShdw>
                </a:effectLst>
                <a:latin typeface="Times New Roman"/>
                <a:ea typeface="Times New Roman"/>
                <a:cs typeface="Times New Roman"/>
                <a:sym typeface="Times New Roman"/>
              </a:defRPr>
            </a:pPr>
            <a:r>
              <a:t>X</a:t>
            </a:r>
            <a:r>
              <a:rPr baseline="-5999"/>
              <a:t>2</a:t>
            </a:r>
            <a:r>
              <a:t>⫫X</a:t>
            </a:r>
            <a:r>
              <a:rPr baseline="-5999"/>
              <a:t>4 </a:t>
            </a:r>
            <a:r>
              <a:t>| X</a:t>
            </a:r>
            <a:r>
              <a:rPr baseline="-5999"/>
              <a:t>1</a:t>
            </a:r>
          </a:p>
          <a:p>
            <a:pPr>
              <a:defRPr sz="3000">
                <a:solidFill>
                  <a:srgbClr val="FFFFFF"/>
                </a:solidFill>
                <a:effectLst>
                  <a:outerShdw blurRad="38100" dist="12700" dir="5400000" rotWithShape="0">
                    <a:srgbClr val="000000">
                      <a:alpha val="50000"/>
                    </a:srgbClr>
                  </a:outerShdw>
                </a:effectLst>
                <a:latin typeface="Times New Roman"/>
                <a:ea typeface="Times New Roman"/>
                <a:cs typeface="Times New Roman"/>
                <a:sym typeface="Times New Roman"/>
              </a:defRPr>
            </a:pPr>
            <a:r>
              <a:t>X</a:t>
            </a:r>
            <a:r>
              <a:rPr baseline="-5999"/>
              <a:t>2</a:t>
            </a:r>
            <a:r>
              <a:t>⫫X</a:t>
            </a:r>
            <a:r>
              <a:rPr baseline="-5999"/>
              <a:t>5 </a:t>
            </a:r>
            <a:r>
              <a:t>| X</a:t>
            </a:r>
            <a:r>
              <a:rPr baseline="-5999"/>
              <a:t>3</a:t>
            </a:r>
          </a:p>
          <a:p>
            <a:pPr>
              <a:defRPr sz="3000">
                <a:solidFill>
                  <a:srgbClr val="FFFFFF"/>
                </a:solidFill>
                <a:effectLst>
                  <a:outerShdw blurRad="38100" dist="12700" dir="5400000" rotWithShape="0">
                    <a:srgbClr val="000000">
                      <a:alpha val="50000"/>
                    </a:srgbClr>
                  </a:outerShdw>
                </a:effectLst>
                <a:latin typeface="Times New Roman"/>
                <a:ea typeface="Times New Roman"/>
                <a:cs typeface="Times New Roman"/>
                <a:sym typeface="Times New Roman"/>
              </a:defRPr>
            </a:pPr>
            <a:r>
              <a:t>X</a:t>
            </a:r>
            <a:r>
              <a:rPr baseline="-5999"/>
              <a:t>4</a:t>
            </a:r>
            <a:r>
              <a:t>⫫X</a:t>
            </a:r>
            <a:r>
              <a:rPr baseline="-5999"/>
              <a:t>5 </a:t>
            </a:r>
            <a:r>
              <a:t>| X</a:t>
            </a:r>
            <a:r>
              <a:rPr baseline="-5999"/>
              <a:t>3</a:t>
            </a:r>
          </a:p>
          <a:p>
            <a:pPr>
              <a:defRPr sz="3000">
                <a:solidFill>
                  <a:srgbClr val="FFFFFF"/>
                </a:solidFill>
                <a:effectLst>
                  <a:outerShdw blurRad="38100" dist="12700" dir="5400000" rotWithShape="0">
                    <a:srgbClr val="000000">
                      <a:alpha val="50000"/>
                    </a:srgbClr>
                  </a:outerShdw>
                </a:effectLst>
                <a:latin typeface="Times New Roman"/>
                <a:ea typeface="Times New Roman"/>
                <a:cs typeface="Times New Roman"/>
                <a:sym typeface="Times New Roman"/>
              </a:defRPr>
            </a:pPr>
            <a:r>
              <a:t>X</a:t>
            </a:r>
            <a:r>
              <a:rPr baseline="-5999"/>
              <a:t>1</a:t>
            </a:r>
            <a:r>
              <a:t>⫫X</a:t>
            </a:r>
            <a:r>
              <a:rPr baseline="-5999"/>
              <a:t>3 </a:t>
            </a:r>
            <a:r>
              <a:t>|{X</a:t>
            </a:r>
            <a:r>
              <a:rPr baseline="-5999"/>
              <a:t>2</a:t>
            </a:r>
            <a:r>
              <a:t>,</a:t>
            </a:r>
            <a:r>
              <a:rPr baseline="-5999"/>
              <a:t> </a:t>
            </a:r>
            <a:r>
              <a:t>X</a:t>
            </a:r>
            <a:r>
              <a:rPr baseline="-5999"/>
              <a:t>4</a:t>
            </a:r>
            <a:r>
              <a:t>}</a:t>
            </a:r>
          </a:p>
        </p:txBody>
      </p:sp>
      <p:sp>
        <p:nvSpPr>
          <p:cNvPr id="404" name="Arrow"/>
          <p:cNvSpPr/>
          <p:nvPr/>
        </p:nvSpPr>
        <p:spPr>
          <a:xfrm rot="27164">
            <a:off x="8902700" y="6743700"/>
            <a:ext cx="673100" cy="952500"/>
          </a:xfrm>
          <a:prstGeom prst="rightArrow">
            <a:avLst>
              <a:gd name="adj1" fmla="val 47736"/>
              <a:gd name="adj2" fmla="val 45099"/>
            </a:avLst>
          </a:prstGeom>
          <a:solidFill>
            <a:srgbClr val="669C35"/>
          </a:solidFill>
          <a:ln w="12700">
            <a:miter lim="400000"/>
          </a:ln>
        </p:spPr>
        <p:txBody>
          <a:bodyPr lIns="50800" tIns="50800" rIns="50800" bIns="50800" anchor="ctr"/>
          <a:lstStyle/>
          <a:p>
            <a:pPr defTabSz="457200">
              <a:defRPr sz="3200" i="1">
                <a:solidFill>
                  <a:srgbClr val="FFFFFF"/>
                </a:solidFill>
                <a:latin typeface="Hoefler Text"/>
                <a:ea typeface="Hoefler Text"/>
                <a:cs typeface="Hoefler Text"/>
                <a:sym typeface="Hoefler Text"/>
              </a:defRPr>
            </a:pPr>
            <a:endParaRPr/>
          </a:p>
        </p:txBody>
      </p:sp>
      <p:sp>
        <p:nvSpPr>
          <p:cNvPr id="405" name="Line"/>
          <p:cNvSpPr/>
          <p:nvPr/>
        </p:nvSpPr>
        <p:spPr>
          <a:xfrm flipV="1">
            <a:off x="11087100" y="6402718"/>
            <a:ext cx="679847" cy="455283"/>
          </a:xfrm>
          <a:prstGeom prst="line">
            <a:avLst/>
          </a:prstGeom>
          <a:ln w="38100">
            <a:solidFill>
              <a:srgbClr val="000000"/>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06" name="X2"/>
          <p:cNvSpPr txBox="1"/>
          <p:nvPr/>
        </p:nvSpPr>
        <p:spPr>
          <a:xfrm>
            <a:off x="9765357" y="6019800"/>
            <a:ext cx="474031" cy="5207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3000" i="1">
                <a:latin typeface="Times New Roman"/>
                <a:ea typeface="Times New Roman"/>
                <a:cs typeface="Times New Roman"/>
                <a:sym typeface="Times New Roman"/>
              </a:defRPr>
            </a:pPr>
            <a:r>
              <a:t>X</a:t>
            </a:r>
            <a:r>
              <a:rPr baseline="-5999"/>
              <a:t>2</a:t>
            </a:r>
          </a:p>
        </p:txBody>
      </p:sp>
      <p:sp>
        <p:nvSpPr>
          <p:cNvPr id="407" name="Line"/>
          <p:cNvSpPr/>
          <p:nvPr/>
        </p:nvSpPr>
        <p:spPr>
          <a:xfrm flipH="1" flipV="1">
            <a:off x="10242946" y="6451600"/>
            <a:ext cx="641351" cy="406731"/>
          </a:xfrm>
          <a:prstGeom prst="line">
            <a:avLst/>
          </a:prstGeom>
          <a:ln w="38100">
            <a:solidFill>
              <a:srgbClr val="000000"/>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08" name="X4"/>
          <p:cNvSpPr txBox="1"/>
          <p:nvPr/>
        </p:nvSpPr>
        <p:spPr>
          <a:xfrm>
            <a:off x="11798300" y="6007100"/>
            <a:ext cx="474030" cy="5207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3000" i="1">
                <a:latin typeface="Times New Roman"/>
                <a:ea typeface="Times New Roman"/>
                <a:cs typeface="Times New Roman"/>
                <a:sym typeface="Times New Roman"/>
              </a:defRPr>
            </a:pPr>
            <a:r>
              <a:t>X</a:t>
            </a:r>
            <a:r>
              <a:rPr baseline="-5999"/>
              <a:t>4</a:t>
            </a:r>
          </a:p>
        </p:txBody>
      </p:sp>
      <p:sp>
        <p:nvSpPr>
          <p:cNvPr id="409" name="X3"/>
          <p:cNvSpPr txBox="1"/>
          <p:nvPr/>
        </p:nvSpPr>
        <p:spPr>
          <a:xfrm>
            <a:off x="10718800" y="6756400"/>
            <a:ext cx="474030" cy="5207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3000" i="1">
                <a:latin typeface="Times New Roman"/>
                <a:ea typeface="Times New Roman"/>
                <a:cs typeface="Times New Roman"/>
                <a:sym typeface="Times New Roman"/>
              </a:defRPr>
            </a:pPr>
            <a:r>
              <a:t>X</a:t>
            </a:r>
            <a:r>
              <a:rPr baseline="-5999"/>
              <a:t>3</a:t>
            </a:r>
          </a:p>
        </p:txBody>
      </p:sp>
      <p:sp>
        <p:nvSpPr>
          <p:cNvPr id="410" name="Line"/>
          <p:cNvSpPr/>
          <p:nvPr/>
        </p:nvSpPr>
        <p:spPr>
          <a:xfrm flipH="1" flipV="1">
            <a:off x="10966846" y="7289800"/>
            <a:ext cx="15810" cy="552186"/>
          </a:xfrm>
          <a:prstGeom prst="line">
            <a:avLst/>
          </a:prstGeom>
          <a:ln w="38100">
            <a:solidFill>
              <a:srgbClr val="000000"/>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11" name="X5"/>
          <p:cNvSpPr txBox="1"/>
          <p:nvPr/>
        </p:nvSpPr>
        <p:spPr>
          <a:xfrm>
            <a:off x="10718800" y="7772400"/>
            <a:ext cx="474030" cy="5207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3000" i="1">
                <a:latin typeface="Times New Roman"/>
                <a:ea typeface="Times New Roman"/>
                <a:cs typeface="Times New Roman"/>
                <a:sym typeface="Times New Roman"/>
              </a:defRPr>
            </a:pPr>
            <a:r>
              <a:t>X</a:t>
            </a:r>
            <a:r>
              <a:rPr baseline="-5999"/>
              <a:t>5</a:t>
            </a:r>
          </a:p>
        </p:txBody>
      </p:sp>
      <p:sp>
        <p:nvSpPr>
          <p:cNvPr id="412" name="Line"/>
          <p:cNvSpPr/>
          <p:nvPr/>
        </p:nvSpPr>
        <p:spPr>
          <a:xfrm flipH="1" flipV="1">
            <a:off x="10248900" y="6324601"/>
            <a:ext cx="1515402" cy="15478"/>
          </a:xfrm>
          <a:prstGeom prst="line">
            <a:avLst/>
          </a:prstGeom>
          <a:ln w="38100">
            <a:solidFill>
              <a:srgbClr val="000000"/>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13" name="Line"/>
          <p:cNvSpPr/>
          <p:nvPr/>
        </p:nvSpPr>
        <p:spPr>
          <a:xfrm flipH="1" flipV="1">
            <a:off x="10121900" y="6578600"/>
            <a:ext cx="669661" cy="1311672"/>
          </a:xfrm>
          <a:prstGeom prst="line">
            <a:avLst/>
          </a:prstGeom>
          <a:ln w="38100">
            <a:solidFill>
              <a:srgbClr val="000000"/>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14" name="Line"/>
          <p:cNvSpPr/>
          <p:nvPr/>
        </p:nvSpPr>
        <p:spPr>
          <a:xfrm flipV="1">
            <a:off x="11143390" y="6578600"/>
            <a:ext cx="718411" cy="1335220"/>
          </a:xfrm>
          <a:prstGeom prst="line">
            <a:avLst/>
          </a:prstGeom>
          <a:ln w="38100">
            <a:solidFill>
              <a:srgbClr val="000000"/>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15" name="Line"/>
          <p:cNvSpPr/>
          <p:nvPr/>
        </p:nvSpPr>
        <p:spPr>
          <a:xfrm flipH="1" flipV="1">
            <a:off x="10248900" y="6451600"/>
            <a:ext cx="641350" cy="406731"/>
          </a:xfrm>
          <a:prstGeom prst="line">
            <a:avLst/>
          </a:prstGeom>
          <a:ln w="38100">
            <a:solidFill>
              <a:srgbClr val="000000"/>
            </a:solidFill>
            <a:miter lim="400000"/>
            <a:headEnd type="arrow"/>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16" name="Line"/>
          <p:cNvSpPr/>
          <p:nvPr/>
        </p:nvSpPr>
        <p:spPr>
          <a:xfrm flipV="1">
            <a:off x="11087100" y="6400800"/>
            <a:ext cx="679847" cy="455282"/>
          </a:xfrm>
          <a:prstGeom prst="line">
            <a:avLst/>
          </a:prstGeom>
          <a:ln w="38100">
            <a:solidFill>
              <a:srgbClr val="000000"/>
            </a:solidFill>
            <a:miter lim="400000"/>
            <a:headEnd type="arrow"/>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17" name="Line"/>
          <p:cNvSpPr/>
          <p:nvPr/>
        </p:nvSpPr>
        <p:spPr>
          <a:xfrm flipH="1" flipV="1">
            <a:off x="10960100" y="7302500"/>
            <a:ext cx="15810" cy="552186"/>
          </a:xfrm>
          <a:prstGeom prst="line">
            <a:avLst/>
          </a:prstGeom>
          <a:ln w="38100">
            <a:solidFill>
              <a:srgbClr val="000000"/>
            </a:solidFill>
            <a:miter lim="400000"/>
            <a:headEnd type="arrow"/>
          </a:ln>
        </p:spPr>
        <p:txBody>
          <a:bodyPr lIns="50800" tIns="50800" rIns="50800" bIns="50800" anchor="ctr"/>
          <a:lstStyle/>
          <a:p>
            <a:pPr algn="l" defTabSz="457200">
              <a:defRPr sz="1200">
                <a:latin typeface="Helvetica"/>
                <a:ea typeface="Helvetica"/>
                <a:cs typeface="Helvetica"/>
                <a:sym typeface="Helvetica"/>
              </a:defRPr>
            </a:pPr>
            <a:endParaRPr/>
          </a:p>
        </p:txBody>
      </p:sp>
      <p:grpSp>
        <p:nvGrpSpPr>
          <p:cNvPr id="420" name="Group"/>
          <p:cNvGrpSpPr/>
          <p:nvPr/>
        </p:nvGrpSpPr>
        <p:grpSpPr>
          <a:xfrm>
            <a:off x="692150" y="5868194"/>
            <a:ext cx="3328157" cy="2725489"/>
            <a:chOff x="0" y="0"/>
            <a:chExt cx="3328156" cy="2725487"/>
          </a:xfrm>
        </p:grpSpPr>
        <p:sp>
          <p:nvSpPr>
            <p:cNvPr id="418" name="Rectangle"/>
            <p:cNvSpPr/>
            <p:nvPr/>
          </p:nvSpPr>
          <p:spPr>
            <a:xfrm>
              <a:off x="0" y="0"/>
              <a:ext cx="3328157" cy="2662528"/>
            </a:xfrm>
            <a:prstGeom prst="rect">
              <a:avLst/>
            </a:prstGeom>
            <a:solidFill>
              <a:srgbClr val="A6AAA9"/>
            </a:solidFill>
            <a:ln w="12700" cap="flat">
              <a:noFill/>
              <a:miter lim="400000"/>
            </a:ln>
            <a:effectLst/>
          </p:spPr>
          <p:txBody>
            <a:bodyPr wrap="square" lIns="50800" tIns="50800" rIns="50800" bIns="50800" numCol="1" anchor="ctr">
              <a:noAutofit/>
            </a:bodyPr>
            <a:lstStyle/>
            <a:p>
              <a:pPr defTabSz="457200">
                <a:lnSpc>
                  <a:spcPct val="70000"/>
                </a:lnSpc>
                <a:defRPr sz="2000">
                  <a:solidFill>
                    <a:srgbClr val="FFFFFF"/>
                  </a:solidFill>
                  <a:effectLst>
                    <a:outerShdw blurRad="25400" dist="25400" dir="2700000" rotWithShape="0">
                      <a:srgbClr val="FFFFFF">
                        <a:alpha val="75000"/>
                      </a:srgbClr>
                    </a:outerShdw>
                  </a:effectLst>
                  <a:latin typeface="Times New Roman"/>
                  <a:ea typeface="Times New Roman"/>
                  <a:cs typeface="Times New Roman"/>
                  <a:sym typeface="Times New Roman"/>
                </a:defRPr>
              </a:pPr>
              <a:endParaRPr/>
            </a:p>
          </p:txBody>
        </p:sp>
        <p:pic>
          <p:nvPicPr>
            <p:cNvPr id="419" name="Image" descr="Image"/>
            <p:cNvPicPr>
              <a:picLocks noChangeAspect="1"/>
            </p:cNvPicPr>
            <p:nvPr/>
          </p:nvPicPr>
          <p:blipFill>
            <a:blip r:embed="rId2"/>
            <a:stretch>
              <a:fillRect/>
            </a:stretch>
          </p:blipFill>
          <p:spPr>
            <a:xfrm>
              <a:off x="43137" y="116356"/>
              <a:ext cx="3177450" cy="2609132"/>
            </a:xfrm>
            <a:prstGeom prst="rect">
              <a:avLst/>
            </a:prstGeom>
            <a:ln w="12700" cap="flat">
              <a:noFill/>
              <a:miter lim="400000"/>
            </a:ln>
            <a:effectLst/>
          </p:spPr>
        </p:pic>
      </p:grpSp>
      <p:sp>
        <p:nvSpPr>
          <p:cNvPr id="421" name="X1"/>
          <p:cNvSpPr txBox="1"/>
          <p:nvPr/>
        </p:nvSpPr>
        <p:spPr>
          <a:xfrm>
            <a:off x="10781357" y="5272242"/>
            <a:ext cx="474031" cy="517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defRPr sz="3000" i="1">
                <a:latin typeface="Times New Roman"/>
                <a:ea typeface="Times New Roman"/>
                <a:cs typeface="Times New Roman"/>
                <a:sym typeface="Times New Roman"/>
              </a:defRPr>
            </a:pPr>
            <a:r>
              <a:t>X</a:t>
            </a:r>
            <a:r>
              <a:rPr baseline="-5999"/>
              <a:t>1</a:t>
            </a:r>
          </a:p>
        </p:txBody>
      </p:sp>
      <p:sp>
        <p:nvSpPr>
          <p:cNvPr id="422" name="Line"/>
          <p:cNvSpPr/>
          <p:nvPr/>
        </p:nvSpPr>
        <p:spPr>
          <a:xfrm flipH="1" flipV="1">
            <a:off x="11239500" y="5664200"/>
            <a:ext cx="641350" cy="406731"/>
          </a:xfrm>
          <a:prstGeom prst="line">
            <a:avLst/>
          </a:prstGeom>
          <a:ln w="38100">
            <a:solidFill>
              <a:srgbClr val="000000"/>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23" name="Line"/>
          <p:cNvSpPr/>
          <p:nvPr/>
        </p:nvSpPr>
        <p:spPr>
          <a:xfrm flipV="1">
            <a:off x="10121900" y="5640718"/>
            <a:ext cx="679847" cy="455283"/>
          </a:xfrm>
          <a:prstGeom prst="line">
            <a:avLst/>
          </a:prstGeom>
          <a:ln w="38100">
            <a:solidFill>
              <a:srgbClr val="000000"/>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24" name="Line"/>
          <p:cNvSpPr/>
          <p:nvPr/>
        </p:nvSpPr>
        <p:spPr>
          <a:xfrm flipV="1">
            <a:off x="10970493" y="5727699"/>
            <a:ext cx="1" cy="1053461"/>
          </a:xfrm>
          <a:prstGeom prst="line">
            <a:avLst/>
          </a:prstGeom>
          <a:ln w="38100">
            <a:solidFill>
              <a:srgbClr val="000000"/>
            </a:solidFill>
            <a:miter lim="400000"/>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427" name="Connection Line"/>
          <p:cNvSpPr/>
          <p:nvPr/>
        </p:nvSpPr>
        <p:spPr>
          <a:xfrm>
            <a:off x="10546546" y="5720291"/>
            <a:ext cx="336826" cy="2134729"/>
          </a:xfrm>
          <a:custGeom>
            <a:avLst/>
            <a:gdLst/>
            <a:ahLst/>
            <a:cxnLst>
              <a:cxn ang="0">
                <a:pos x="wd2" y="hd2"/>
              </a:cxn>
              <a:cxn ang="5400000">
                <a:pos x="wd2" y="hd2"/>
              </a:cxn>
              <a:cxn ang="10800000">
                <a:pos x="wd2" y="hd2"/>
              </a:cxn>
              <a:cxn ang="16200000">
                <a:pos x="wd2" y="hd2"/>
              </a:cxn>
            </a:cxnLst>
            <a:rect l="0" t="0" r="r" b="b"/>
            <a:pathLst>
              <a:path w="16233" h="21600" extrusionOk="0">
                <a:moveTo>
                  <a:pt x="16233" y="21600"/>
                </a:moveTo>
                <a:cubicBezTo>
                  <a:pt x="-4440" y="13690"/>
                  <a:pt x="-5367" y="6490"/>
                  <a:pt x="13453" y="0"/>
                </a:cubicBezTo>
              </a:path>
            </a:pathLst>
          </a:custGeom>
          <a:ln w="38100">
            <a:solidFill>
              <a:srgbClr val="000000"/>
            </a:solidFill>
            <a:miter lim="400000"/>
          </a:ln>
        </p:spPr>
        <p:txBody>
          <a:bodyPr/>
          <a:lstStyle/>
          <a:p>
            <a:endParaRPr/>
          </a:p>
        </p:txBody>
      </p:sp>
      <p:sp>
        <p:nvSpPr>
          <p:cNvPr id="426" name="- Spirtes, Glymour, and Scheines. Causation, Prediction, and Search. 1993."/>
          <p:cNvSpPr txBox="1"/>
          <p:nvPr/>
        </p:nvSpPr>
        <p:spPr>
          <a:xfrm>
            <a:off x="501457" y="9118599"/>
            <a:ext cx="9677017"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lvl="1" indent="228600" algn="l">
              <a:spcBef>
                <a:spcPts val="2400"/>
              </a:spcBef>
              <a:defRPr sz="2200" i="1">
                <a:solidFill>
                  <a:srgbClr val="53585F"/>
                </a:solidFill>
                <a:latin typeface="Helvetica"/>
                <a:ea typeface="Helvetica"/>
                <a:cs typeface="Helvetica"/>
                <a:sym typeface="Helvetica"/>
              </a:defRPr>
            </a:pPr>
            <a:r>
              <a:t>- Spirtes, Glymour, and Scheines. Causation, Prediction, and Search. 1993.</a:t>
            </a:r>
          </a:p>
        </p:txBody>
      </p:sp>
    </p:spTree>
    <p:extLst>
      <p:ext uri="{BB962C8B-B14F-4D97-AF65-F5344CB8AC3E}">
        <p14:creationId xmlns:p14="http://schemas.microsoft.com/office/powerpoint/2010/main" val="2672423998"/>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iterate>
                                    <p:tmAbs val="0"/>
                                  </p:iterate>
                                  <p:childTnLst>
                                    <p:set>
                                      <p:cBhvr>
                                        <p:cTn id="6" fill="hold">
                                          <p:stCondLst>
                                            <p:cond delay="0"/>
                                          </p:stCondLst>
                                        </p:cTn>
                                        <p:tgtEl>
                                          <p:spTgt spid="42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3" presetClass="exit" presetSubtype="5" fill="hold" grpId="0" nodeType="clickEffect">
                                  <p:stCondLst>
                                    <p:cond delay="0"/>
                                  </p:stCondLst>
                                  <p:iterate>
                                    <p:tmAbs val="0"/>
                                  </p:iterate>
                                  <p:childTnLst>
                                    <p:animEffect transition="out" filter="blinds(vertical)">
                                      <p:cBhvr>
                                        <p:cTn id="10" dur="1000" fill="hold"/>
                                        <p:tgtEl>
                                          <p:spTgt spid="412"/>
                                        </p:tgtEl>
                                      </p:cBhvr>
                                    </p:animEffect>
                                    <p:set>
                                      <p:cBhvr>
                                        <p:cTn id="11" fill="hold">
                                          <p:stCondLst>
                                            <p:cond delay="999"/>
                                          </p:stCondLst>
                                        </p:cTn>
                                        <p:tgtEl>
                                          <p:spTgt spid="41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3" presetClass="exit" presetSubtype="5" fill="hold" grpId="0" nodeType="clickEffect">
                                  <p:stCondLst>
                                    <p:cond delay="0"/>
                                  </p:stCondLst>
                                  <p:iterate>
                                    <p:tmAbs val="0"/>
                                  </p:iterate>
                                  <p:childTnLst>
                                    <p:animEffect transition="out" filter="blinds(vertical)">
                                      <p:cBhvr>
                                        <p:cTn id="15" dur="1000" fill="hold"/>
                                        <p:tgtEl>
                                          <p:spTgt spid="413"/>
                                        </p:tgtEl>
                                      </p:cBhvr>
                                    </p:animEffect>
                                    <p:set>
                                      <p:cBhvr>
                                        <p:cTn id="16" fill="hold">
                                          <p:stCondLst>
                                            <p:cond delay="999"/>
                                          </p:stCondLst>
                                        </p:cTn>
                                        <p:tgtEl>
                                          <p:spTgt spid="41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3" presetClass="exit" presetSubtype="5" fill="hold" grpId="0" nodeType="clickEffect">
                                  <p:stCondLst>
                                    <p:cond delay="0"/>
                                  </p:stCondLst>
                                  <p:iterate>
                                    <p:tmAbs val="0"/>
                                  </p:iterate>
                                  <p:childTnLst>
                                    <p:animEffect transition="out" filter="blinds(vertical)">
                                      <p:cBhvr>
                                        <p:cTn id="20" dur="1000" fill="hold"/>
                                        <p:tgtEl>
                                          <p:spTgt spid="414"/>
                                        </p:tgtEl>
                                      </p:cBhvr>
                                    </p:animEffect>
                                    <p:set>
                                      <p:cBhvr>
                                        <p:cTn id="21" fill="hold">
                                          <p:stCondLst>
                                            <p:cond delay="999"/>
                                          </p:stCondLst>
                                        </p:cTn>
                                        <p:tgtEl>
                                          <p:spTgt spid="414"/>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3" presetClass="exit" presetSubtype="5" fill="hold" grpId="0" nodeType="clickEffect">
                                  <p:stCondLst>
                                    <p:cond delay="0"/>
                                  </p:stCondLst>
                                  <p:iterate>
                                    <p:tmAbs val="0"/>
                                  </p:iterate>
                                  <p:childTnLst>
                                    <p:animEffect transition="out" filter="blinds(vertical)">
                                      <p:cBhvr>
                                        <p:cTn id="25" dur="1000" fill="hold"/>
                                        <p:tgtEl>
                                          <p:spTgt spid="424"/>
                                        </p:tgtEl>
                                      </p:cBhvr>
                                    </p:animEffect>
                                    <p:set>
                                      <p:cBhvr>
                                        <p:cTn id="26" fill="hold">
                                          <p:stCondLst>
                                            <p:cond delay="999"/>
                                          </p:stCondLst>
                                        </p:cTn>
                                        <p:tgtEl>
                                          <p:spTgt spid="42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415"/>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iterate>
                                    <p:tmAbs val="0"/>
                                  </p:iterate>
                                  <p:childTnLst>
                                    <p:set>
                                      <p:cBhvr>
                                        <p:cTn id="33" fill="hold"/>
                                        <p:tgtEl>
                                          <p:spTgt spid="41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iterate>
                                    <p:tmAbs val="0"/>
                                  </p:iterate>
                                  <p:childTnLst>
                                    <p:set>
                                      <p:cBhvr>
                                        <p:cTn id="37" fill="hold"/>
                                        <p:tgtEl>
                                          <p:spTgt spid="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 grpId="0" animBg="1" advAuto="0"/>
      <p:bldP spid="413" grpId="0" animBg="1" advAuto="0"/>
      <p:bldP spid="414" grpId="0" animBg="1" advAuto="0"/>
      <p:bldP spid="415" grpId="0" animBg="1" advAuto="0"/>
      <p:bldP spid="416" grpId="0" animBg="1" advAuto="0"/>
      <p:bldP spid="417" grpId="0" animBg="1" advAuto="0"/>
      <p:bldP spid="424" grpId="0" animBg="1" advAuto="0"/>
      <p:bldP spid="427" grpId="0" animBg="1" advAuto="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Constraint-Based Causal Discovery"/>
          <p:cNvSpPr txBox="1">
            <a:spLocks noGrp="1"/>
          </p:cNvSpPr>
          <p:nvPr>
            <p:ph type="title"/>
          </p:nvPr>
        </p:nvSpPr>
        <p:spPr>
          <a:xfrm>
            <a:off x="1127760" y="139701"/>
            <a:ext cx="11734800" cy="2438400"/>
          </a:xfrm>
          <a:prstGeom prst="rect">
            <a:avLst/>
          </a:prstGeom>
        </p:spPr>
        <p:txBody>
          <a:bodyPr/>
          <a:lstStyle>
            <a:lvl1pPr algn="r">
              <a:defRPr sz="6000">
                <a:latin typeface="Baskerville"/>
                <a:ea typeface="Baskerville"/>
                <a:cs typeface="Baskerville"/>
                <a:sym typeface="Baskerville"/>
              </a:defRPr>
            </a:lvl1pPr>
          </a:lstStyle>
          <a:p>
            <a:pPr algn="l"/>
            <a:r>
              <a:rPr dirty="0"/>
              <a:t>Constraint-Based Causal Discovery</a:t>
            </a:r>
          </a:p>
        </p:txBody>
      </p:sp>
      <p:sp>
        <p:nvSpPr>
          <p:cNvPr id="345" name="PC provides asymptotically correct results if there doesn’t exist latent confounders (Spirtes et al., 1993)…"/>
          <p:cNvSpPr txBox="1">
            <a:spLocks noGrp="1"/>
          </p:cNvSpPr>
          <p:nvPr>
            <p:ph type="body" idx="1"/>
          </p:nvPr>
        </p:nvSpPr>
        <p:spPr>
          <a:prstGeom prst="rect">
            <a:avLst/>
          </a:prstGeom>
        </p:spPr>
        <p:txBody>
          <a:bodyPr/>
          <a:lstStyle/>
          <a:p>
            <a:pPr marL="834571" indent="-517071">
              <a:spcBef>
                <a:spcPts val="600"/>
              </a:spcBef>
              <a:defRPr sz="3300">
                <a:latin typeface="Baskerville"/>
                <a:ea typeface="Baskerville"/>
                <a:cs typeface="Baskerville"/>
                <a:sym typeface="Baskerville"/>
              </a:defRPr>
            </a:pPr>
            <a:r>
              <a:rPr dirty="0"/>
              <a:t>PC provides asymptotically correct results if there </a:t>
            </a:r>
            <a:r>
              <a:rPr i="1" dirty="0"/>
              <a:t>doesn’t</a:t>
            </a:r>
            <a:r>
              <a:rPr dirty="0"/>
              <a:t> exist latent confounders (</a:t>
            </a:r>
            <a:r>
              <a:rPr dirty="0" err="1"/>
              <a:t>Spirtes</a:t>
            </a:r>
            <a:r>
              <a:rPr dirty="0"/>
              <a:t> et al., 1993)</a:t>
            </a:r>
          </a:p>
          <a:p>
            <a:pPr marL="834571" indent="-517071">
              <a:spcBef>
                <a:spcPts val="600"/>
              </a:spcBef>
              <a:defRPr sz="3300">
                <a:latin typeface="Baskerville"/>
                <a:ea typeface="Baskerville"/>
                <a:cs typeface="Baskerville"/>
                <a:sym typeface="Baskerville"/>
              </a:defRPr>
            </a:pPr>
            <a:r>
              <a:rPr dirty="0"/>
              <a:t>FCI gives asymptotically correct results even if there </a:t>
            </a:r>
            <a:r>
              <a:rPr i="1" dirty="0"/>
              <a:t>are</a:t>
            </a:r>
            <a:r>
              <a:rPr dirty="0"/>
              <a:t> latent confounders (</a:t>
            </a:r>
            <a:r>
              <a:rPr dirty="0" err="1"/>
              <a:t>Spirtes</a:t>
            </a:r>
            <a:r>
              <a:rPr dirty="0"/>
              <a:t> et al., 1993)</a:t>
            </a:r>
          </a:p>
          <a:p>
            <a:pPr marL="834571" indent="-517071">
              <a:spcBef>
                <a:spcPts val="600"/>
              </a:spcBef>
              <a:defRPr sz="3300">
                <a:latin typeface="Baskerville"/>
                <a:ea typeface="Baskerville"/>
                <a:cs typeface="Baskerville"/>
                <a:sym typeface="Baskerville"/>
              </a:defRPr>
            </a:pPr>
            <a:r>
              <a:rPr dirty="0"/>
              <a:t>Rely on causal Markov condition + faithfulness assumption</a:t>
            </a:r>
          </a:p>
          <a:p>
            <a:pPr marL="834571" indent="-517071">
              <a:spcBef>
                <a:spcPts val="600"/>
              </a:spcBef>
              <a:defRPr sz="3300">
                <a:latin typeface="Baskerville"/>
                <a:ea typeface="Baskerville"/>
                <a:cs typeface="Baskerville"/>
                <a:sym typeface="Baskerville"/>
              </a:defRPr>
            </a:pPr>
            <a:r>
              <a:rPr dirty="0"/>
              <a:t>Outputs equivalence class; might not be informative enough</a:t>
            </a:r>
          </a:p>
          <a:p>
            <a:pPr marL="834571" indent="-517071">
              <a:spcBef>
                <a:spcPts val="600"/>
              </a:spcBef>
              <a:defRPr sz="3300">
                <a:latin typeface="Baskerville"/>
                <a:ea typeface="Baskerville"/>
                <a:cs typeface="Baskerville"/>
                <a:sym typeface="Baskerville"/>
              </a:defRPr>
            </a:pPr>
            <a:r>
              <a:rPr dirty="0"/>
              <a:t>Faithfulness implies edge minimality: Minimal ways to change the conditional distribution to produce the data dependence</a:t>
            </a:r>
          </a:p>
        </p:txBody>
      </p:sp>
      <p:sp>
        <p:nvSpPr>
          <p:cNvPr id="348" name="- Spirtes, Glymour, and Scheines. Causation, Prediction, and Search. 1993."/>
          <p:cNvSpPr txBox="1"/>
          <p:nvPr/>
        </p:nvSpPr>
        <p:spPr>
          <a:xfrm>
            <a:off x="501457" y="8864599"/>
            <a:ext cx="9677017" cy="431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lvl="1" indent="228600" algn="l">
              <a:spcBef>
                <a:spcPts val="2400"/>
              </a:spcBef>
              <a:defRPr sz="2200" i="1">
                <a:solidFill>
                  <a:srgbClr val="53585F"/>
                </a:solidFill>
                <a:latin typeface="Helvetica"/>
                <a:ea typeface="Helvetica"/>
                <a:cs typeface="Helvetica"/>
                <a:sym typeface="Helvetica"/>
              </a:defRPr>
            </a:pPr>
            <a:r>
              <a:t>- Spirtes, Glymour, and Scheines. Causation, Prediction, and Search. 1993.</a:t>
            </a:r>
          </a:p>
        </p:txBody>
      </p:sp>
    </p:spTree>
    <p:extLst>
      <p:ext uri="{BB962C8B-B14F-4D97-AF65-F5344CB8AC3E}">
        <p14:creationId xmlns:p14="http://schemas.microsoft.com/office/powerpoint/2010/main" val="3556722573"/>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3B0B7-8980-CFAF-10E9-BCB581F19F87}"/>
              </a:ext>
            </a:extLst>
          </p:cNvPr>
          <p:cNvSpPr>
            <a:spLocks noGrp="1"/>
          </p:cNvSpPr>
          <p:nvPr>
            <p:ph type="title"/>
          </p:nvPr>
        </p:nvSpPr>
        <p:spPr/>
        <p:txBody>
          <a:bodyPr/>
          <a:lstStyle/>
          <a:p>
            <a:r>
              <a:rPr lang="en-US" sz="6000" dirty="0">
                <a:latin typeface="Baskerville"/>
                <a:ea typeface="Baskerville"/>
                <a:sym typeface="Baskerville"/>
              </a:rPr>
              <a:t>Alarm Network</a:t>
            </a:r>
          </a:p>
        </p:txBody>
      </p:sp>
      <p:sp>
        <p:nvSpPr>
          <p:cNvPr id="3" name="Text Placeholder 2">
            <a:extLst>
              <a:ext uri="{FF2B5EF4-FFF2-40B4-BE49-F238E27FC236}">
                <a16:creationId xmlns:a16="http://schemas.microsoft.com/office/drawing/2014/main" id="{339EECE2-1C6F-9800-64B4-D31C56EF1E14}"/>
              </a:ext>
            </a:extLst>
          </p:cNvPr>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PC algorithm results</a:t>
            </a:r>
          </a:p>
        </p:txBody>
      </p:sp>
      <p:pic>
        <p:nvPicPr>
          <p:cNvPr id="9" name="Picture 8">
            <a:extLst>
              <a:ext uri="{FF2B5EF4-FFF2-40B4-BE49-F238E27FC236}">
                <a16:creationId xmlns:a16="http://schemas.microsoft.com/office/drawing/2014/main" id="{767E433B-3A17-4C07-3CFA-C64B9A5C0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3988" y="3574426"/>
            <a:ext cx="9817100" cy="1765300"/>
          </a:xfrm>
          <a:prstGeom prst="rect">
            <a:avLst/>
          </a:prstGeom>
        </p:spPr>
      </p:pic>
    </p:spTree>
    <p:extLst>
      <p:ext uri="{BB962C8B-B14F-4D97-AF65-F5344CB8AC3E}">
        <p14:creationId xmlns:p14="http://schemas.microsoft.com/office/powerpoint/2010/main" val="1004277364"/>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I know There Is No Confounder: Example"/>
          <p:cNvSpPr txBox="1">
            <a:spLocks noGrp="1"/>
          </p:cNvSpPr>
          <p:nvPr>
            <p:ph type="title"/>
          </p:nvPr>
        </p:nvSpPr>
        <p:spPr>
          <a:xfrm>
            <a:off x="317500" y="254000"/>
            <a:ext cx="9114176" cy="2159000"/>
          </a:xfrm>
          <a:prstGeom prst="rect">
            <a:avLst/>
          </a:prstGeom>
        </p:spPr>
        <p:txBody>
          <a:bodyPr/>
          <a:lstStyle>
            <a:lvl1pPr defTabSz="490727">
              <a:defRPr sz="6719">
                <a:latin typeface="Hoefler Text"/>
                <a:ea typeface="Hoefler Text"/>
                <a:cs typeface="Hoefler Text"/>
                <a:sym typeface="Hoefler Text"/>
              </a:defRPr>
            </a:lvl1pPr>
          </a:lstStyle>
          <a:p>
            <a:r>
              <a:t>I know There Is No Confounder: Example</a:t>
            </a:r>
          </a:p>
        </p:txBody>
      </p:sp>
      <p:sp>
        <p:nvSpPr>
          <p:cNvPr id="161" name="In the 1970s, the Edison Electric Company in North Carolina was concerned about the effects on plant growth of acid rain produced by emissions from its electric generators.…"/>
          <p:cNvSpPr txBox="1">
            <a:spLocks noGrp="1"/>
          </p:cNvSpPr>
          <p:nvPr>
            <p:ph type="body" idx="1"/>
          </p:nvPr>
        </p:nvSpPr>
        <p:spPr>
          <a:xfrm>
            <a:off x="497655" y="2590800"/>
            <a:ext cx="12113445" cy="6977216"/>
          </a:xfrm>
          <a:prstGeom prst="rect">
            <a:avLst/>
          </a:prstGeom>
        </p:spPr>
        <p:txBody>
          <a:bodyPr/>
          <a:lstStyle/>
          <a:p>
            <a:pPr marL="355600" indent="-355600" defTabSz="467359">
              <a:spcBef>
                <a:spcPts val="3300"/>
              </a:spcBef>
              <a:defRPr sz="2560">
                <a:latin typeface="Hoefler Text"/>
                <a:ea typeface="Hoefler Text"/>
                <a:cs typeface="Hoefler Text"/>
                <a:sym typeface="Hoefler Text"/>
              </a:defRPr>
            </a:pPr>
            <a:r>
              <a:rPr lang="en-US" sz="2800" dirty="0"/>
              <a:t>O</a:t>
            </a:r>
            <a:r>
              <a:rPr sz="2800" dirty="0"/>
              <a:t>btained 45 samples of Spartina grass up and down the estuary, and measured 13 variables in the samples, including </a:t>
            </a:r>
            <a:r>
              <a:rPr sz="2800" b="1" dirty="0"/>
              <a:t>concentrations of various minerals, acidity (pH), salinity, and the outcome variable, the biomass of each sample</a:t>
            </a:r>
          </a:p>
          <a:p>
            <a:pPr marL="355600" indent="-355600" defTabSz="467359">
              <a:spcBef>
                <a:spcPts val="3300"/>
              </a:spcBef>
              <a:defRPr sz="2560">
                <a:latin typeface="Hoefler Text"/>
                <a:ea typeface="Hoefler Text"/>
                <a:cs typeface="Hoefler Text"/>
                <a:sym typeface="Hoefler Text"/>
              </a:defRPr>
            </a:pPr>
            <a:r>
              <a:rPr sz="2800" dirty="0"/>
              <a:t>The PC algorithm found that among </a:t>
            </a:r>
            <a:r>
              <a:rPr sz="2800" b="1" dirty="0"/>
              <a:t>the measured variables the only </a:t>
            </a:r>
            <a:r>
              <a:rPr sz="2800" b="1" i="1" dirty="0"/>
              <a:t>direct </a:t>
            </a:r>
            <a:r>
              <a:rPr sz="2800" b="1" dirty="0"/>
              <a:t>cause of biomass was </a:t>
            </a:r>
            <a:r>
              <a:rPr sz="2800" b="1" dirty="0" err="1"/>
              <a:t>pH</a:t>
            </a:r>
            <a:r>
              <a:rPr sz="2800" dirty="0" err="1"/>
              <a:t>.</a:t>
            </a:r>
            <a:endParaRPr sz="2800" dirty="0"/>
          </a:p>
          <a:p>
            <a:pPr marL="355600" indent="-355600" defTabSz="467359">
              <a:spcBef>
                <a:spcPts val="3300"/>
              </a:spcBef>
              <a:defRPr sz="2560">
                <a:latin typeface="Hoefler Text"/>
                <a:ea typeface="Hoefler Text"/>
                <a:cs typeface="Hoefler Text"/>
                <a:sym typeface="Hoefler Text"/>
              </a:defRPr>
            </a:pPr>
            <a:r>
              <a:rPr sz="2800" dirty="0"/>
              <a:t>Y-structure: no confounder!</a:t>
            </a:r>
          </a:p>
          <a:p>
            <a:pPr marL="355600" indent="-355600" defTabSz="467359">
              <a:spcBef>
                <a:spcPts val="3300"/>
              </a:spcBef>
              <a:defRPr sz="2560">
                <a:latin typeface="Hoefler Text"/>
                <a:ea typeface="Hoefler Text"/>
                <a:cs typeface="Hoefler Text"/>
                <a:sym typeface="Hoefler Text"/>
              </a:defRPr>
            </a:pPr>
            <a:r>
              <a:rPr sz="2800" dirty="0"/>
              <a:t>Later verified by intervention-based analysis</a:t>
            </a:r>
          </a:p>
        </p:txBody>
      </p:sp>
      <p:pic>
        <p:nvPicPr>
          <p:cNvPr id="162" name="Image" descr="Image"/>
          <p:cNvPicPr>
            <a:picLocks noChangeAspect="1"/>
          </p:cNvPicPr>
          <p:nvPr/>
        </p:nvPicPr>
        <p:blipFill>
          <a:blip r:embed="rId3"/>
          <a:stretch>
            <a:fillRect/>
          </a:stretch>
        </p:blipFill>
        <p:spPr>
          <a:xfrm>
            <a:off x="9308076" y="241300"/>
            <a:ext cx="3670301" cy="2184400"/>
          </a:xfrm>
          <a:prstGeom prst="rect">
            <a:avLst/>
          </a:prstGeom>
          <a:ln w="12700">
            <a:miter lim="400000"/>
          </a:ln>
        </p:spPr>
      </p:pic>
      <p:grpSp>
        <p:nvGrpSpPr>
          <p:cNvPr id="169" name="Group"/>
          <p:cNvGrpSpPr/>
          <p:nvPr/>
        </p:nvGrpSpPr>
        <p:grpSpPr>
          <a:xfrm>
            <a:off x="10833100" y="7200951"/>
            <a:ext cx="1518047" cy="2436607"/>
            <a:chOff x="0" y="0"/>
            <a:chExt cx="1518046" cy="2436606"/>
          </a:xfrm>
        </p:grpSpPr>
        <p:sp>
          <p:nvSpPr>
            <p:cNvPr id="163" name="PH"/>
            <p:cNvSpPr txBox="1"/>
            <p:nvPr/>
          </p:nvSpPr>
          <p:spPr>
            <a:xfrm>
              <a:off x="395826" y="903391"/>
              <a:ext cx="622177" cy="51721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defTabSz="584200">
                <a:defRPr sz="3000" i="1">
                  <a:solidFill>
                    <a:srgbClr val="000000"/>
                  </a:solidFill>
                  <a:latin typeface="Times New Roman"/>
                  <a:ea typeface="Times New Roman"/>
                  <a:cs typeface="Times New Roman"/>
                  <a:sym typeface="Times New Roman"/>
                </a:defRPr>
              </a:lvl1pPr>
            </a:lstStyle>
            <a:p>
              <a:r>
                <a:t>PH</a:t>
              </a:r>
            </a:p>
          </p:txBody>
        </p:sp>
        <p:sp>
          <p:nvSpPr>
            <p:cNvPr id="164" name="Biomass"/>
            <p:cNvSpPr txBox="1"/>
            <p:nvPr/>
          </p:nvSpPr>
          <p:spPr>
            <a:xfrm>
              <a:off x="4129" y="1919391"/>
              <a:ext cx="1405571" cy="51721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defTabSz="584200">
                <a:defRPr sz="3000" i="1">
                  <a:solidFill>
                    <a:srgbClr val="000000"/>
                  </a:solidFill>
                  <a:latin typeface="Times New Roman"/>
                  <a:ea typeface="Times New Roman"/>
                  <a:cs typeface="Times New Roman"/>
                  <a:sym typeface="Times New Roman"/>
                </a:defRPr>
              </a:lvl1pPr>
            </a:lstStyle>
            <a:p>
              <a:r>
                <a:t>Biomass</a:t>
              </a:r>
            </a:p>
          </p:txBody>
        </p:sp>
        <p:sp>
          <p:nvSpPr>
            <p:cNvPr id="165" name="Line"/>
            <p:cNvSpPr/>
            <p:nvPr/>
          </p:nvSpPr>
          <p:spPr>
            <a:xfrm flipH="1" flipV="1">
              <a:off x="0" y="596849"/>
              <a:ext cx="641350" cy="406731"/>
            </a:xfrm>
            <a:prstGeom prst="line">
              <a:avLst/>
            </a:prstGeom>
            <a:noFill/>
            <a:ln w="38100" cap="flat">
              <a:solidFill>
                <a:srgbClr val="000000"/>
              </a:solidFill>
              <a:prstDash val="solid"/>
              <a:miter lim="400000"/>
              <a:headEnd type="arrow" w="med" len="med"/>
            </a:ln>
            <a:effectLst/>
          </p:spPr>
          <p:txBody>
            <a:bodyPr wrap="square" lIns="50800" tIns="50800" rIns="50800" bIns="50800" numCol="1" anchor="ctr">
              <a:noAutofit/>
            </a:bodyPr>
            <a:lstStyle/>
            <a:p>
              <a:pPr algn="l" defTabSz="457200">
                <a:defRPr sz="1200">
                  <a:solidFill>
                    <a:srgbClr val="000000"/>
                  </a:solidFill>
                  <a:latin typeface="Helvetica"/>
                  <a:ea typeface="Helvetica"/>
                  <a:cs typeface="Helvetica"/>
                  <a:sym typeface="Helvetica"/>
                </a:defRPr>
              </a:pPr>
              <a:endParaRPr/>
            </a:p>
          </p:txBody>
        </p:sp>
        <p:sp>
          <p:nvSpPr>
            <p:cNvPr id="166" name="Line"/>
            <p:cNvSpPr/>
            <p:nvPr/>
          </p:nvSpPr>
          <p:spPr>
            <a:xfrm flipV="1">
              <a:off x="838200" y="546049"/>
              <a:ext cx="679847" cy="455282"/>
            </a:xfrm>
            <a:prstGeom prst="line">
              <a:avLst/>
            </a:prstGeom>
            <a:noFill/>
            <a:ln w="38100" cap="flat">
              <a:solidFill>
                <a:srgbClr val="000000"/>
              </a:solidFill>
              <a:prstDash val="solid"/>
              <a:miter lim="400000"/>
              <a:headEnd type="arrow" w="med" len="med"/>
            </a:ln>
            <a:effectLst/>
          </p:spPr>
          <p:txBody>
            <a:bodyPr wrap="square" lIns="50800" tIns="50800" rIns="50800" bIns="50800" numCol="1" anchor="ctr">
              <a:noAutofit/>
            </a:bodyPr>
            <a:lstStyle/>
            <a:p>
              <a:pPr algn="l" defTabSz="457200">
                <a:defRPr sz="1200">
                  <a:solidFill>
                    <a:srgbClr val="000000"/>
                  </a:solidFill>
                  <a:latin typeface="Helvetica"/>
                  <a:ea typeface="Helvetica"/>
                  <a:cs typeface="Helvetica"/>
                  <a:sym typeface="Helvetica"/>
                </a:defRPr>
              </a:pPr>
              <a:endParaRPr/>
            </a:p>
          </p:txBody>
        </p:sp>
        <p:sp>
          <p:nvSpPr>
            <p:cNvPr id="167" name="Line"/>
            <p:cNvSpPr/>
            <p:nvPr/>
          </p:nvSpPr>
          <p:spPr>
            <a:xfrm flipH="1" flipV="1">
              <a:off x="711200" y="1447749"/>
              <a:ext cx="15810" cy="552186"/>
            </a:xfrm>
            <a:prstGeom prst="line">
              <a:avLst/>
            </a:prstGeom>
            <a:noFill/>
            <a:ln w="38100" cap="flat">
              <a:solidFill>
                <a:srgbClr val="000000"/>
              </a:solidFill>
              <a:prstDash val="solid"/>
              <a:miter lim="400000"/>
              <a:headEnd type="arrow" w="med" len="med"/>
            </a:ln>
            <a:effectLst/>
          </p:spPr>
          <p:txBody>
            <a:bodyPr wrap="square" lIns="50800" tIns="50800" rIns="50800" bIns="50800" numCol="1" anchor="ctr">
              <a:noAutofit/>
            </a:bodyPr>
            <a:lstStyle/>
            <a:p>
              <a:pPr algn="l" defTabSz="457200">
                <a:defRPr sz="1200">
                  <a:solidFill>
                    <a:srgbClr val="000000"/>
                  </a:solidFill>
                  <a:latin typeface="Helvetica"/>
                  <a:ea typeface="Helvetica"/>
                  <a:cs typeface="Helvetica"/>
                  <a:sym typeface="Helvetica"/>
                </a:defRPr>
              </a:pPr>
              <a:endParaRPr/>
            </a:p>
          </p:txBody>
        </p:sp>
        <p:sp>
          <p:nvSpPr>
            <p:cNvPr id="168" name="…"/>
            <p:cNvSpPr txBox="1"/>
            <p:nvPr/>
          </p:nvSpPr>
          <p:spPr>
            <a:xfrm>
              <a:off x="481576" y="0"/>
              <a:ext cx="571501" cy="6348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3600">
                  <a:solidFill>
                    <a:srgbClr val="000000"/>
                  </a:solidFill>
                </a:defRPr>
              </a:lvl1pPr>
            </a:lstStyle>
            <a:p>
              <a:r>
                <a:t>…</a:t>
              </a:r>
            </a:p>
          </p:txBody>
        </p:sp>
      </p:gr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I know There Is No Confounder: Example"/>
          <p:cNvSpPr txBox="1">
            <a:spLocks noGrp="1"/>
          </p:cNvSpPr>
          <p:nvPr>
            <p:ph type="title"/>
          </p:nvPr>
        </p:nvSpPr>
        <p:spPr>
          <a:xfrm>
            <a:off x="1699732" y="2253216"/>
            <a:ext cx="9114176" cy="2159000"/>
          </a:xfrm>
          <a:prstGeom prst="rect">
            <a:avLst/>
          </a:prstGeom>
        </p:spPr>
        <p:txBody>
          <a:bodyPr/>
          <a:lstStyle>
            <a:lvl1pPr defTabSz="490727">
              <a:defRPr sz="6719">
                <a:latin typeface="Hoefler Text"/>
                <a:ea typeface="Hoefler Text"/>
                <a:cs typeface="Hoefler Text"/>
                <a:sym typeface="Hoefler Text"/>
              </a:defRPr>
            </a:lvl1pPr>
          </a:lstStyle>
          <a:p>
            <a:r>
              <a:rPr lang="en-US"/>
              <a:t>Possible Confounders</a:t>
            </a:r>
            <a:endParaRPr/>
          </a:p>
        </p:txBody>
      </p:sp>
    </p:spTree>
    <p:extLst>
      <p:ext uri="{BB962C8B-B14F-4D97-AF65-F5344CB8AC3E}">
        <p14:creationId xmlns:p14="http://schemas.microsoft.com/office/powerpoint/2010/main" val="3220598172"/>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Title 1"/>
          <p:cNvSpPr txBox="1">
            <a:spLocks noGrp="1"/>
          </p:cNvSpPr>
          <p:nvPr>
            <p:ph type="title"/>
          </p:nvPr>
        </p:nvSpPr>
        <p:spPr>
          <a:xfrm>
            <a:off x="832743" y="-82485"/>
            <a:ext cx="10464800" cy="2438400"/>
          </a:xfrm>
          <a:prstGeom prst="rect">
            <a:avLst/>
          </a:prstGeom>
        </p:spPr>
        <p:txBody>
          <a:bodyPr/>
          <a:lstStyle/>
          <a:p>
            <a:r>
              <a:rPr sz="6000" dirty="0">
                <a:latin typeface="Baskerville"/>
                <a:ea typeface="Baskerville"/>
                <a:sym typeface="Baskerville"/>
              </a:rPr>
              <a:t>Suppose X7 Not Measured</a:t>
            </a:r>
          </a:p>
        </p:txBody>
      </p:sp>
      <p:sp>
        <p:nvSpPr>
          <p:cNvPr id="463" name="Slide Number Placeholder 3"/>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59</a:t>
            </a:fld>
            <a:endParaRPr/>
          </a:p>
        </p:txBody>
      </p:sp>
      <p:sp>
        <p:nvSpPr>
          <p:cNvPr id="464" name="Content Placeholder 2"/>
          <p:cNvSpPr txBox="1"/>
          <p:nvPr/>
        </p:nvSpPr>
        <p:spPr>
          <a:xfrm>
            <a:off x="480958" y="2038863"/>
            <a:ext cx="6023614" cy="6948072"/>
          </a:xfrm>
          <a:prstGeom prst="rect">
            <a:avLst/>
          </a:prstGeom>
          <a:ln w="12700">
            <a:miter lim="400000"/>
          </a:ln>
          <a:effectLst>
            <a:outerShdw blurRad="63500" dist="50800" dir="2700000" rotWithShape="0">
              <a:srgbClr val="000000">
                <a:alpha val="4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3" tIns="65023" rIns="65023" bIns="65023">
            <a:normAutofit/>
          </a:bodyPr>
          <a:lstStyle/>
          <a:p>
            <a:pPr algn="l" defTabSz="1300480">
              <a:spcBef>
                <a:spcPts val="2800"/>
              </a:spcBef>
              <a:defRPr sz="4400" i="1">
                <a:solidFill>
                  <a:srgbClr val="FFFFFF"/>
                </a:solidFill>
                <a:latin typeface="Trebuchet MS"/>
                <a:ea typeface="Trebuchet MS"/>
                <a:cs typeface="Trebuchet MS"/>
                <a:sym typeface="Trebuchet MS"/>
              </a:defRPr>
            </a:pPr>
            <a:r>
              <a:rPr dirty="0">
                <a:solidFill>
                  <a:schemeClr val="tx1"/>
                </a:solidFill>
                <a:latin typeface="Times New Roman" panose="02020603050405020304" pitchFamily="18" charset="0"/>
                <a:cs typeface="Times New Roman" panose="02020603050405020304" pitchFamily="18" charset="0"/>
              </a:rPr>
              <a:t>X</a:t>
            </a:r>
            <a:r>
              <a:rPr i="0" baseline="-19818" dirty="0">
                <a:solidFill>
                  <a:schemeClr val="tx1"/>
                </a:solidFill>
                <a:latin typeface="Times New Roman" panose="02020603050405020304" pitchFamily="18" charset="0"/>
                <a:cs typeface="Times New Roman" panose="02020603050405020304" pitchFamily="18" charset="0"/>
              </a:rPr>
              <a:t>1</a:t>
            </a:r>
            <a:r>
              <a:rPr i="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X</a:t>
            </a:r>
            <a:r>
              <a:rPr i="0" baseline="-19818" dirty="0">
                <a:solidFill>
                  <a:schemeClr val="tx1"/>
                </a:solidFill>
                <a:latin typeface="Times New Roman" panose="02020603050405020304" pitchFamily="18" charset="0"/>
                <a:cs typeface="Times New Roman" panose="02020603050405020304" pitchFamily="18" charset="0"/>
              </a:rPr>
              <a:t>4</a:t>
            </a:r>
            <a:r>
              <a:rPr i="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X</a:t>
            </a:r>
            <a:r>
              <a:rPr i="0" baseline="-19818" dirty="0">
                <a:solidFill>
                  <a:schemeClr val="tx1"/>
                </a:solidFill>
                <a:latin typeface="Times New Roman" panose="02020603050405020304" pitchFamily="18" charset="0"/>
                <a:cs typeface="Times New Roman" panose="02020603050405020304" pitchFamily="18" charset="0"/>
              </a:rPr>
              <a:t>6</a:t>
            </a:r>
            <a:endParaRPr sz="3000" dirty="0">
              <a:solidFill>
                <a:schemeClr val="tx1"/>
              </a:solidFill>
              <a:latin typeface="Times New Roman" panose="02020603050405020304" pitchFamily="18" charset="0"/>
              <a:cs typeface="Times New Roman" panose="02020603050405020304" pitchFamily="18" charset="0"/>
            </a:endParaRPr>
          </a:p>
          <a:p>
            <a:pPr algn="l" defTabSz="1300480">
              <a:spcBef>
                <a:spcPts val="3500"/>
              </a:spcBef>
              <a:defRPr sz="4400" i="1">
                <a:solidFill>
                  <a:srgbClr val="FFFFFF"/>
                </a:solidFill>
                <a:latin typeface="Trebuchet MS"/>
                <a:ea typeface="Trebuchet MS"/>
                <a:cs typeface="Trebuchet MS"/>
                <a:sym typeface="Trebuchet MS"/>
              </a:defRPr>
            </a:pPr>
            <a:endParaRPr sz="3000" dirty="0">
              <a:solidFill>
                <a:schemeClr val="tx1"/>
              </a:solidFill>
              <a:latin typeface="Times New Roman" panose="02020603050405020304" pitchFamily="18" charset="0"/>
              <a:cs typeface="Times New Roman" panose="02020603050405020304" pitchFamily="18" charset="0"/>
            </a:endParaRPr>
          </a:p>
          <a:p>
            <a:pPr algn="l" defTabSz="1300480">
              <a:spcBef>
                <a:spcPts val="3500"/>
              </a:spcBef>
              <a:defRPr sz="4400" i="1">
                <a:solidFill>
                  <a:srgbClr val="FFFFFF"/>
                </a:solidFill>
                <a:latin typeface="Trebuchet MS"/>
                <a:ea typeface="Trebuchet MS"/>
                <a:cs typeface="Trebuchet MS"/>
                <a:sym typeface="Trebuchet MS"/>
              </a:defRPr>
            </a:pPr>
            <a:r>
              <a:rPr dirty="0">
                <a:solidFill>
                  <a:schemeClr val="tx1"/>
                </a:solidFill>
                <a:latin typeface="Times New Roman" panose="02020603050405020304" pitchFamily="18" charset="0"/>
                <a:cs typeface="Times New Roman" panose="02020603050405020304" pitchFamily="18" charset="0"/>
              </a:rPr>
              <a:t>X</a:t>
            </a:r>
            <a:r>
              <a:rPr i="0" baseline="-19818" dirty="0">
                <a:solidFill>
                  <a:schemeClr val="tx1"/>
                </a:solidFill>
                <a:latin typeface="Times New Roman" panose="02020603050405020304" pitchFamily="18" charset="0"/>
                <a:cs typeface="Times New Roman" panose="02020603050405020304" pitchFamily="18" charset="0"/>
              </a:rPr>
              <a:t>2</a:t>
            </a:r>
            <a:r>
              <a:rPr i="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X</a:t>
            </a:r>
            <a:r>
              <a:rPr i="0" baseline="-19818" dirty="0">
                <a:solidFill>
                  <a:schemeClr val="tx1"/>
                </a:solidFill>
                <a:latin typeface="Times New Roman" panose="02020603050405020304" pitchFamily="18" charset="0"/>
                <a:cs typeface="Times New Roman" panose="02020603050405020304" pitchFamily="18" charset="0"/>
              </a:rPr>
              <a:t>3</a:t>
            </a:r>
            <a:r>
              <a:rPr i="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X</a:t>
            </a:r>
            <a:r>
              <a:rPr i="0" baseline="-19818" dirty="0">
                <a:solidFill>
                  <a:schemeClr val="tx1"/>
                </a:solidFill>
                <a:latin typeface="Times New Roman" panose="02020603050405020304" pitchFamily="18" charset="0"/>
                <a:cs typeface="Times New Roman" panose="02020603050405020304" pitchFamily="18" charset="0"/>
              </a:rPr>
              <a:t>5</a:t>
            </a:r>
            <a:endParaRPr sz="3000" dirty="0">
              <a:solidFill>
                <a:schemeClr val="tx1"/>
              </a:solidFill>
              <a:latin typeface="Times New Roman" panose="02020603050405020304" pitchFamily="18" charset="0"/>
              <a:cs typeface="Times New Roman" panose="02020603050405020304" pitchFamily="18" charset="0"/>
            </a:endParaRPr>
          </a:p>
          <a:p>
            <a:pPr algn="l" defTabSz="1300480">
              <a:spcBef>
                <a:spcPts val="3500"/>
              </a:spcBef>
              <a:defRPr sz="4400">
                <a:solidFill>
                  <a:srgbClr val="FFFFFF"/>
                </a:solidFill>
                <a:latin typeface="Trebuchet MS"/>
                <a:ea typeface="Trebuchet MS"/>
                <a:cs typeface="Trebuchet MS"/>
                <a:sym typeface="Trebuchet MS"/>
              </a:defRPr>
            </a:pPr>
            <a:endParaRPr sz="3000" dirty="0">
              <a:solidFill>
                <a:schemeClr val="tx1"/>
              </a:solidFill>
              <a:latin typeface="Times New Roman" panose="02020603050405020304" pitchFamily="18" charset="0"/>
              <a:cs typeface="Times New Roman" panose="02020603050405020304" pitchFamily="18" charset="0"/>
            </a:endParaRPr>
          </a:p>
          <a:p>
            <a:pPr algn="l" defTabSz="1300480">
              <a:spcBef>
                <a:spcPts val="3500"/>
              </a:spcBef>
              <a:defRPr sz="4400">
                <a:solidFill>
                  <a:srgbClr val="FFFFFF"/>
                </a:solidFill>
                <a:latin typeface="Trebuchet MS"/>
                <a:ea typeface="Trebuchet MS"/>
                <a:cs typeface="Trebuchet MS"/>
                <a:sym typeface="Trebuchet MS"/>
              </a:defRPr>
            </a:pPr>
            <a:r>
              <a:rPr sz="3000" dirty="0">
                <a:solidFill>
                  <a:schemeClr val="tx1"/>
                </a:solidFill>
                <a:latin typeface="Times New Roman" panose="02020603050405020304" pitchFamily="18" charset="0"/>
                <a:cs typeface="Times New Roman" panose="02020603050405020304" pitchFamily="18" charset="0"/>
              </a:rPr>
              <a:t>        </a:t>
            </a:r>
            <a:r>
              <a:rPr i="1" dirty="0">
                <a:solidFill>
                  <a:schemeClr val="tx1"/>
                </a:solidFill>
                <a:latin typeface="Times New Roman" panose="02020603050405020304" pitchFamily="18" charset="0"/>
                <a:cs typeface="Times New Roman" panose="02020603050405020304" pitchFamily="18" charset="0"/>
              </a:rPr>
              <a:t>X</a:t>
            </a:r>
            <a:r>
              <a:rPr lang="en-US" baseline="-19818" dirty="0">
                <a:solidFill>
                  <a:schemeClr val="tx1"/>
                </a:solidFill>
                <a:latin typeface="Times New Roman" panose="02020603050405020304" pitchFamily="18" charset="0"/>
                <a:cs typeface="Times New Roman" panose="02020603050405020304" pitchFamily="18" charset="0"/>
              </a:rPr>
              <a:t>7</a:t>
            </a:r>
            <a:endParaRPr lang="en-US" sz="3000" baseline="-19818" dirty="0">
              <a:solidFill>
                <a:schemeClr val="tx1"/>
              </a:solidFill>
              <a:latin typeface="Times New Roman" panose="02020603050405020304" pitchFamily="18" charset="0"/>
              <a:cs typeface="Times New Roman" panose="02020603050405020304" pitchFamily="18" charset="0"/>
            </a:endParaRPr>
          </a:p>
          <a:p>
            <a:pPr defTabSz="1300480">
              <a:spcBef>
                <a:spcPts val="3500"/>
              </a:spcBef>
              <a:defRPr sz="4400">
                <a:solidFill>
                  <a:srgbClr val="FFFFFF"/>
                </a:solidFill>
                <a:latin typeface="Trebuchet MS"/>
                <a:ea typeface="Trebuchet MS"/>
                <a:cs typeface="Trebuchet MS"/>
                <a:sym typeface="Trebuchet MS"/>
              </a:defRPr>
            </a:pPr>
            <a:r>
              <a:rPr dirty="0">
                <a:solidFill>
                  <a:schemeClr val="tx1"/>
                </a:solidFill>
                <a:latin typeface="Times New Roman" panose="02020603050405020304" pitchFamily="18" charset="0"/>
                <a:cs typeface="Times New Roman" panose="02020603050405020304" pitchFamily="18" charset="0"/>
              </a:rPr>
              <a:t>FGES Output - </a:t>
            </a:r>
            <a:r>
              <a:rPr i="1" dirty="0">
                <a:solidFill>
                  <a:schemeClr val="tx1"/>
                </a:solidFill>
                <a:latin typeface="Times New Roman" panose="02020603050405020304" pitchFamily="18" charset="0"/>
                <a:cs typeface="Times New Roman" panose="02020603050405020304" pitchFamily="18" charset="0"/>
              </a:rPr>
              <a:t>X</a:t>
            </a:r>
            <a:r>
              <a:rPr baseline="-19818" dirty="0">
                <a:solidFill>
                  <a:schemeClr val="tx1"/>
                </a:solidFill>
                <a:latin typeface="Times New Roman" panose="02020603050405020304" pitchFamily="18" charset="0"/>
                <a:cs typeface="Times New Roman" panose="02020603050405020304" pitchFamily="18" charset="0"/>
              </a:rPr>
              <a:t>7</a:t>
            </a:r>
            <a:r>
              <a:rPr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Measured</a:t>
            </a:r>
          </a:p>
        </p:txBody>
      </p:sp>
      <p:sp>
        <p:nvSpPr>
          <p:cNvPr id="465" name="Straight Connector 5"/>
          <p:cNvSpPr/>
          <p:nvPr/>
        </p:nvSpPr>
        <p:spPr>
          <a:xfrm flipH="1" flipV="1">
            <a:off x="756644" y="4811518"/>
            <a:ext cx="840067" cy="1402765"/>
          </a:xfrm>
          <a:prstGeom prst="line">
            <a:avLst/>
          </a:prstGeom>
          <a:ln w="60325">
            <a:solidFill>
              <a:schemeClr val="tx1"/>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66" name="Straight Connector 7"/>
          <p:cNvSpPr/>
          <p:nvPr/>
        </p:nvSpPr>
        <p:spPr>
          <a:xfrm>
            <a:off x="3846976" y="4495244"/>
            <a:ext cx="1782681" cy="14614"/>
          </a:xfrm>
          <a:prstGeom prst="line">
            <a:avLst/>
          </a:prstGeom>
          <a:ln w="60325">
            <a:solidFill>
              <a:schemeClr val="tx1"/>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67" name="Straight Arrow Connector 8"/>
          <p:cNvSpPr/>
          <p:nvPr/>
        </p:nvSpPr>
        <p:spPr>
          <a:xfrm flipV="1">
            <a:off x="1596711" y="4811517"/>
            <a:ext cx="1568520" cy="1402765"/>
          </a:xfrm>
          <a:prstGeom prst="line">
            <a:avLst/>
          </a:prstGeom>
          <a:ln w="60325">
            <a:solidFill>
              <a:schemeClr val="tx1"/>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68" name="Straight Connector 11"/>
          <p:cNvSpPr/>
          <p:nvPr/>
        </p:nvSpPr>
        <p:spPr>
          <a:xfrm>
            <a:off x="9764892" y="2809656"/>
            <a:ext cx="1" cy="1446603"/>
          </a:xfrm>
          <a:prstGeom prst="line">
            <a:avLst/>
          </a:prstGeom>
          <a:ln w="60325">
            <a:solidFill>
              <a:schemeClr val="accent5"/>
            </a:solidFill>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69" name="Straight Connector 12"/>
          <p:cNvSpPr/>
          <p:nvPr/>
        </p:nvSpPr>
        <p:spPr>
          <a:xfrm flipH="1">
            <a:off x="7500009" y="4530158"/>
            <a:ext cx="1778542" cy="1"/>
          </a:xfrm>
          <a:prstGeom prst="line">
            <a:avLst/>
          </a:prstGeom>
          <a:ln w="60325">
            <a:solidFill>
              <a:schemeClr val="accent5"/>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70" name="Straight Arrow Connector 13"/>
          <p:cNvSpPr/>
          <p:nvPr/>
        </p:nvSpPr>
        <p:spPr>
          <a:xfrm>
            <a:off x="7149318" y="2955777"/>
            <a:ext cx="1" cy="1300481"/>
          </a:xfrm>
          <a:prstGeom prst="line">
            <a:avLst/>
          </a:prstGeom>
          <a:ln w="60325">
            <a:solidFill>
              <a:schemeClr val="tx1"/>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71" name="Straight Connector 14"/>
          <p:cNvSpPr/>
          <p:nvPr/>
        </p:nvSpPr>
        <p:spPr>
          <a:xfrm>
            <a:off x="10276316" y="4568300"/>
            <a:ext cx="1782682" cy="14613"/>
          </a:xfrm>
          <a:prstGeom prst="line">
            <a:avLst/>
          </a:prstGeom>
          <a:ln w="60325">
            <a:solidFill>
              <a:schemeClr val="accent5"/>
            </a:solidFill>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72" name="Straight Connector 16"/>
          <p:cNvSpPr/>
          <p:nvPr/>
        </p:nvSpPr>
        <p:spPr>
          <a:xfrm flipV="1">
            <a:off x="10276316" y="2356679"/>
            <a:ext cx="1782682" cy="14615"/>
          </a:xfrm>
          <a:prstGeom prst="line">
            <a:avLst/>
          </a:prstGeom>
          <a:ln w="60325">
            <a:solidFill>
              <a:schemeClr val="tx1"/>
            </a:solidFill>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73" name="Content Placeholder 2"/>
          <p:cNvSpPr txBox="1"/>
          <p:nvPr/>
        </p:nvSpPr>
        <p:spPr>
          <a:xfrm>
            <a:off x="6836384" y="2054692"/>
            <a:ext cx="6443455" cy="7440999"/>
          </a:xfrm>
          <a:prstGeom prst="rect">
            <a:avLst/>
          </a:prstGeom>
          <a:ln w="12700">
            <a:miter lim="400000"/>
          </a:ln>
          <a:effectLst>
            <a:outerShdw blurRad="63500" dist="50800" dir="2700000" rotWithShape="0">
              <a:srgbClr val="000000">
                <a:alpha val="4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3" tIns="65023" rIns="65023" bIns="65023">
            <a:normAutofit lnSpcReduction="10000"/>
          </a:bodyPr>
          <a:lstStyle/>
          <a:p>
            <a:pPr algn="l" defTabSz="1300480">
              <a:spcBef>
                <a:spcPts val="2800"/>
              </a:spcBef>
              <a:spcAft>
                <a:spcPts val="1800"/>
              </a:spcAft>
              <a:defRPr sz="4400" i="1">
                <a:solidFill>
                  <a:srgbClr val="FFFFFF"/>
                </a:solidFill>
                <a:latin typeface="Trebuchet MS"/>
                <a:ea typeface="Trebuchet MS"/>
                <a:cs typeface="Trebuchet MS"/>
                <a:sym typeface="Trebuchet MS"/>
              </a:defRPr>
            </a:pPr>
            <a:r>
              <a:rPr lang="en-US" dirty="0">
                <a:solidFill>
                  <a:schemeClr val="tx1"/>
                </a:solidFill>
                <a:latin typeface="Times New Roman" panose="02020603050405020304" pitchFamily="18" charset="0"/>
                <a:cs typeface="Times New Roman" panose="02020603050405020304" pitchFamily="18" charset="0"/>
              </a:rPr>
              <a:t>X</a:t>
            </a:r>
            <a:r>
              <a:rPr lang="en-US" baseline="-19818" dirty="0">
                <a:solidFill>
                  <a:schemeClr val="tx1"/>
                </a:solidFill>
                <a:latin typeface="Times New Roman" panose="02020603050405020304" pitchFamily="18" charset="0"/>
                <a:cs typeface="Times New Roman" panose="02020603050405020304" pitchFamily="18" charset="0"/>
              </a:rPr>
              <a:t>1</a:t>
            </a:r>
            <a:r>
              <a:rPr lang="en-US" dirty="0">
                <a:solidFill>
                  <a:schemeClr val="tx1"/>
                </a:solidFill>
                <a:latin typeface="Times New Roman" panose="02020603050405020304" pitchFamily="18" charset="0"/>
                <a:cs typeface="Times New Roman" panose="02020603050405020304" pitchFamily="18" charset="0"/>
              </a:rPr>
              <a:t>		X</a:t>
            </a:r>
            <a:r>
              <a:rPr lang="en-US" baseline="-19818" dirty="0">
                <a:solidFill>
                  <a:schemeClr val="tx1"/>
                </a:solidFill>
                <a:latin typeface="Times New Roman" panose="02020603050405020304" pitchFamily="18" charset="0"/>
                <a:cs typeface="Times New Roman" panose="02020603050405020304" pitchFamily="18" charset="0"/>
              </a:rPr>
              <a:t>4</a:t>
            </a:r>
            <a:r>
              <a:rPr lang="en-US" dirty="0">
                <a:solidFill>
                  <a:schemeClr val="tx1"/>
                </a:solidFill>
                <a:latin typeface="Times New Roman" panose="02020603050405020304" pitchFamily="18" charset="0"/>
                <a:cs typeface="Times New Roman" panose="02020603050405020304" pitchFamily="18" charset="0"/>
              </a:rPr>
              <a:t> 		X</a:t>
            </a:r>
            <a:r>
              <a:rPr lang="en-US" baseline="-19818" dirty="0">
                <a:solidFill>
                  <a:schemeClr val="tx1"/>
                </a:solidFill>
                <a:latin typeface="Times New Roman" panose="02020603050405020304" pitchFamily="18" charset="0"/>
                <a:cs typeface="Times New Roman" panose="02020603050405020304" pitchFamily="18" charset="0"/>
              </a:rPr>
              <a:t>6</a:t>
            </a:r>
            <a:endParaRPr lang="en-US" sz="3000" dirty="0">
              <a:solidFill>
                <a:schemeClr val="tx1"/>
              </a:solidFill>
              <a:latin typeface="Times New Roman" panose="02020603050405020304" pitchFamily="18" charset="0"/>
              <a:cs typeface="Times New Roman" panose="02020603050405020304" pitchFamily="18" charset="0"/>
            </a:endParaRPr>
          </a:p>
          <a:p>
            <a:pPr algn="l" defTabSz="1300480">
              <a:spcBef>
                <a:spcPts val="3500"/>
              </a:spcBef>
              <a:defRPr sz="4400" i="1">
                <a:solidFill>
                  <a:srgbClr val="FFFFFF"/>
                </a:solidFill>
                <a:latin typeface="Trebuchet MS"/>
                <a:ea typeface="Trebuchet MS"/>
                <a:cs typeface="Trebuchet MS"/>
                <a:sym typeface="Trebuchet MS"/>
              </a:defRPr>
            </a:pPr>
            <a:endParaRPr lang="en-US" sz="3000" dirty="0">
              <a:solidFill>
                <a:schemeClr val="tx1"/>
              </a:solidFill>
              <a:latin typeface="Times New Roman" panose="02020603050405020304" pitchFamily="18" charset="0"/>
              <a:cs typeface="Times New Roman" panose="02020603050405020304" pitchFamily="18" charset="0"/>
            </a:endParaRPr>
          </a:p>
          <a:p>
            <a:pPr algn="l" defTabSz="1300480">
              <a:spcBef>
                <a:spcPts val="3500"/>
              </a:spcBef>
              <a:defRPr sz="4400" i="1">
                <a:solidFill>
                  <a:srgbClr val="FFFFFF"/>
                </a:solidFill>
                <a:latin typeface="Trebuchet MS"/>
                <a:ea typeface="Trebuchet MS"/>
                <a:cs typeface="Trebuchet MS"/>
                <a:sym typeface="Trebuchet MS"/>
              </a:defRPr>
            </a:pPr>
            <a:r>
              <a:rPr lang="en-US" dirty="0">
                <a:solidFill>
                  <a:schemeClr val="tx1"/>
                </a:solidFill>
                <a:latin typeface="Times New Roman" panose="02020603050405020304" pitchFamily="18" charset="0"/>
                <a:cs typeface="Times New Roman" panose="02020603050405020304" pitchFamily="18" charset="0"/>
              </a:rPr>
              <a:t>X</a:t>
            </a:r>
            <a:r>
              <a:rPr lang="en-US" baseline="-19818" dirty="0">
                <a:solidFill>
                  <a:schemeClr val="tx1"/>
                </a:solidFill>
                <a:latin typeface="Times New Roman" panose="02020603050405020304" pitchFamily="18" charset="0"/>
                <a:cs typeface="Times New Roman" panose="02020603050405020304" pitchFamily="18" charset="0"/>
              </a:rPr>
              <a:t>2</a:t>
            </a:r>
            <a:r>
              <a:rPr lang="en-US" dirty="0">
                <a:solidFill>
                  <a:schemeClr val="tx1"/>
                </a:solidFill>
                <a:latin typeface="Times New Roman" panose="02020603050405020304" pitchFamily="18" charset="0"/>
                <a:cs typeface="Times New Roman" panose="02020603050405020304" pitchFamily="18" charset="0"/>
              </a:rPr>
              <a:t> 		X</a:t>
            </a:r>
            <a:r>
              <a:rPr lang="en-US" baseline="-19818" dirty="0">
                <a:solidFill>
                  <a:schemeClr val="tx1"/>
                </a:solidFill>
                <a:latin typeface="Times New Roman" panose="02020603050405020304" pitchFamily="18" charset="0"/>
                <a:cs typeface="Times New Roman" panose="02020603050405020304" pitchFamily="18" charset="0"/>
              </a:rPr>
              <a:t>3</a:t>
            </a:r>
            <a:r>
              <a:rPr lang="en-US" dirty="0">
                <a:solidFill>
                  <a:schemeClr val="tx1"/>
                </a:solidFill>
                <a:latin typeface="Times New Roman" panose="02020603050405020304" pitchFamily="18" charset="0"/>
                <a:cs typeface="Times New Roman" panose="02020603050405020304" pitchFamily="18" charset="0"/>
              </a:rPr>
              <a:t>    		X</a:t>
            </a:r>
            <a:r>
              <a:rPr lang="en-US" baseline="-19818" dirty="0">
                <a:solidFill>
                  <a:schemeClr val="tx1"/>
                </a:solidFill>
                <a:latin typeface="Times New Roman" panose="02020603050405020304" pitchFamily="18" charset="0"/>
                <a:cs typeface="Times New Roman" panose="02020603050405020304" pitchFamily="18" charset="0"/>
              </a:rPr>
              <a:t>5</a:t>
            </a:r>
            <a:endParaRPr lang="en-US" sz="3000" dirty="0">
              <a:solidFill>
                <a:schemeClr val="tx1"/>
              </a:solidFill>
              <a:latin typeface="Times New Roman" panose="02020603050405020304" pitchFamily="18" charset="0"/>
              <a:cs typeface="Times New Roman" panose="02020603050405020304" pitchFamily="18" charset="0"/>
            </a:endParaRPr>
          </a:p>
          <a:p>
            <a:pPr algn="l" defTabSz="1300480">
              <a:spcBef>
                <a:spcPts val="3500"/>
              </a:spcBef>
              <a:defRPr sz="4400" baseline="-19818">
                <a:solidFill>
                  <a:srgbClr val="FFFFFF"/>
                </a:solidFill>
                <a:latin typeface="Trebuchet MS"/>
                <a:ea typeface="Trebuchet MS"/>
                <a:cs typeface="Trebuchet MS"/>
                <a:sym typeface="Trebuchet MS"/>
              </a:defRPr>
            </a:pPr>
            <a:endParaRPr sz="3000" dirty="0">
              <a:solidFill>
                <a:schemeClr val="tx1"/>
              </a:solidFill>
              <a:latin typeface="Times New Roman" panose="02020603050405020304" pitchFamily="18" charset="0"/>
              <a:cs typeface="Times New Roman" panose="02020603050405020304" pitchFamily="18" charset="0"/>
            </a:endParaRPr>
          </a:p>
          <a:p>
            <a:pPr defTabSz="1300480">
              <a:spcBef>
                <a:spcPts val="3500"/>
              </a:spcBef>
              <a:defRPr sz="4400">
                <a:solidFill>
                  <a:srgbClr val="FFFFFF"/>
                </a:solidFill>
                <a:latin typeface="Trebuchet MS"/>
                <a:ea typeface="Trebuchet MS"/>
                <a:cs typeface="Trebuchet MS"/>
                <a:sym typeface="Trebuchet MS"/>
              </a:defRPr>
            </a:pPr>
            <a:r>
              <a:rPr dirty="0">
                <a:solidFill>
                  <a:schemeClr val="tx1"/>
                </a:solidFill>
                <a:latin typeface="Times New Roman" panose="02020603050405020304" pitchFamily="18" charset="0"/>
                <a:cs typeface="Times New Roman" panose="02020603050405020304" pitchFamily="18" charset="0"/>
              </a:rPr>
              <a:t>  </a:t>
            </a:r>
            <a:endParaRPr lang="en-US" dirty="0">
              <a:solidFill>
                <a:schemeClr val="tx1"/>
              </a:solidFill>
              <a:latin typeface="Times New Roman" panose="02020603050405020304" pitchFamily="18" charset="0"/>
              <a:cs typeface="Times New Roman" panose="02020603050405020304" pitchFamily="18" charset="0"/>
            </a:endParaRPr>
          </a:p>
          <a:p>
            <a:pPr defTabSz="1300480">
              <a:spcBef>
                <a:spcPts val="3500"/>
              </a:spcBef>
              <a:defRPr sz="4400">
                <a:solidFill>
                  <a:srgbClr val="FFFFFF"/>
                </a:solidFill>
                <a:latin typeface="Trebuchet MS"/>
                <a:ea typeface="Trebuchet MS"/>
                <a:cs typeface="Trebuchet MS"/>
                <a:sym typeface="Trebuchet MS"/>
              </a:defRPr>
            </a:pPr>
            <a:endParaRPr lang="en-US" dirty="0">
              <a:solidFill>
                <a:schemeClr val="tx1"/>
              </a:solidFill>
              <a:latin typeface="Times New Roman" panose="02020603050405020304" pitchFamily="18" charset="0"/>
              <a:cs typeface="Times New Roman" panose="02020603050405020304" pitchFamily="18" charset="0"/>
            </a:endParaRPr>
          </a:p>
          <a:p>
            <a:pPr defTabSz="1300480">
              <a:spcBef>
                <a:spcPts val="3500"/>
              </a:spcBef>
              <a:defRPr sz="4400">
                <a:solidFill>
                  <a:srgbClr val="FFFFFF"/>
                </a:solidFill>
                <a:latin typeface="Trebuchet MS"/>
                <a:ea typeface="Trebuchet MS"/>
                <a:cs typeface="Trebuchet MS"/>
                <a:sym typeface="Trebuchet MS"/>
              </a:defRPr>
            </a:pPr>
            <a:r>
              <a:rPr dirty="0">
                <a:solidFill>
                  <a:schemeClr val="tx1"/>
                </a:solidFill>
                <a:latin typeface="Times New Roman" panose="02020603050405020304" pitchFamily="18" charset="0"/>
                <a:cs typeface="Times New Roman" panose="02020603050405020304" pitchFamily="18" charset="0"/>
              </a:rPr>
              <a:t>FGES Output - </a:t>
            </a:r>
            <a:r>
              <a:rPr i="1" dirty="0">
                <a:solidFill>
                  <a:schemeClr val="tx1"/>
                </a:solidFill>
                <a:latin typeface="Times New Roman" panose="02020603050405020304" pitchFamily="18" charset="0"/>
                <a:cs typeface="Times New Roman" panose="02020603050405020304" pitchFamily="18" charset="0"/>
              </a:rPr>
              <a:t>X</a:t>
            </a:r>
            <a:r>
              <a:rPr baseline="-19818" dirty="0">
                <a:solidFill>
                  <a:schemeClr val="tx1"/>
                </a:solidFill>
                <a:latin typeface="Times New Roman" panose="02020603050405020304" pitchFamily="18" charset="0"/>
                <a:cs typeface="Times New Roman" panose="02020603050405020304" pitchFamily="18" charset="0"/>
              </a:rPr>
              <a:t>7</a:t>
            </a:r>
            <a:r>
              <a:rPr dirty="0">
                <a:solidFill>
                  <a:schemeClr val="tx1"/>
                </a:solidFill>
                <a:latin typeface="Times New Roman" panose="02020603050405020304" pitchFamily="18" charset="0"/>
                <a:cs typeface="Times New Roman" panose="02020603050405020304" pitchFamily="18" charset="0"/>
              </a:rPr>
              <a:t>            Not Measured</a:t>
            </a:r>
          </a:p>
        </p:txBody>
      </p:sp>
      <p:sp>
        <p:nvSpPr>
          <p:cNvPr id="474" name="Straight Arrow Connector 24"/>
          <p:cNvSpPr/>
          <p:nvPr/>
        </p:nvSpPr>
        <p:spPr>
          <a:xfrm flipH="1">
            <a:off x="7500008" y="2517412"/>
            <a:ext cx="1914191" cy="1883635"/>
          </a:xfrm>
          <a:prstGeom prst="line">
            <a:avLst/>
          </a:prstGeom>
          <a:ln w="60325">
            <a:solidFill>
              <a:schemeClr val="accent5"/>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75" name="Straight Connector 7"/>
          <p:cNvSpPr/>
          <p:nvPr/>
        </p:nvSpPr>
        <p:spPr>
          <a:xfrm>
            <a:off x="3846977" y="2351145"/>
            <a:ext cx="1782681" cy="14613"/>
          </a:xfrm>
          <a:prstGeom prst="line">
            <a:avLst/>
          </a:prstGeom>
          <a:ln w="60325">
            <a:solidFill>
              <a:schemeClr val="tx1"/>
            </a:solidFill>
            <a:tailEnd type="non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76" name="Straight Connector 7"/>
          <p:cNvSpPr/>
          <p:nvPr/>
        </p:nvSpPr>
        <p:spPr>
          <a:xfrm flipH="1">
            <a:off x="756644" y="2875767"/>
            <a:ext cx="1" cy="1300822"/>
          </a:xfrm>
          <a:prstGeom prst="line">
            <a:avLst/>
          </a:prstGeom>
          <a:ln w="60325">
            <a:solidFill>
              <a:schemeClr val="tx1"/>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77" name="Straight Connector 7"/>
          <p:cNvSpPr/>
          <p:nvPr/>
        </p:nvSpPr>
        <p:spPr>
          <a:xfrm>
            <a:off x="3338977" y="2875767"/>
            <a:ext cx="1" cy="1300822"/>
          </a:xfrm>
          <a:prstGeom prst="line">
            <a:avLst/>
          </a:prstGeom>
          <a:ln w="60325">
            <a:solidFill>
              <a:schemeClr val="tx1"/>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2" name="Rectangle 1">
            <a:extLst>
              <a:ext uri="{FF2B5EF4-FFF2-40B4-BE49-F238E27FC236}">
                <a16:creationId xmlns:a16="http://schemas.microsoft.com/office/drawing/2014/main" id="{BB5544C3-BC28-B44C-AAC7-9D963CF512E3}"/>
              </a:ext>
            </a:extLst>
          </p:cNvPr>
          <p:cNvSpPr/>
          <p:nvPr/>
        </p:nvSpPr>
        <p:spPr>
          <a:xfrm>
            <a:off x="6847779" y="5011223"/>
            <a:ext cx="6502400" cy="3005951"/>
          </a:xfrm>
          <a:prstGeom prst="rect">
            <a:avLst/>
          </a:prstGeom>
        </p:spPr>
        <p:txBody>
          <a:bodyPr>
            <a:spAutoFit/>
          </a:bodyPr>
          <a:lstStyle/>
          <a:p>
            <a:pPr algn="l" defTabSz="1300480">
              <a:spcBef>
                <a:spcPts val="2800"/>
              </a:spcBef>
              <a:spcAft>
                <a:spcPts val="1800"/>
              </a:spcAft>
              <a:defRPr sz="4400" i="1">
                <a:solidFill>
                  <a:srgbClr val="FFFFFF"/>
                </a:solidFill>
                <a:latin typeface="Trebuchet MS"/>
                <a:ea typeface="Trebuchet MS"/>
                <a:cs typeface="Trebuchet MS"/>
                <a:sym typeface="Trebuchet MS"/>
              </a:defRPr>
            </a:pPr>
            <a:r>
              <a:rPr lang="en-US" dirty="0">
                <a:solidFill>
                  <a:schemeClr val="tx1"/>
                </a:solidFill>
              </a:rPr>
              <a:t>X</a:t>
            </a:r>
            <a:r>
              <a:rPr lang="en-US" baseline="-19818" dirty="0">
                <a:solidFill>
                  <a:schemeClr val="tx1"/>
                </a:solidFill>
              </a:rPr>
              <a:t>1</a:t>
            </a:r>
            <a:r>
              <a:rPr lang="en-US" dirty="0">
                <a:solidFill>
                  <a:schemeClr val="tx1"/>
                </a:solidFill>
              </a:rPr>
              <a:t>		X</a:t>
            </a:r>
            <a:r>
              <a:rPr lang="en-US" baseline="-19818" dirty="0">
                <a:solidFill>
                  <a:schemeClr val="tx1"/>
                </a:solidFill>
              </a:rPr>
              <a:t>4</a:t>
            </a:r>
            <a:r>
              <a:rPr lang="en-US" dirty="0">
                <a:solidFill>
                  <a:schemeClr val="tx1"/>
                </a:solidFill>
              </a:rPr>
              <a:t> 		X</a:t>
            </a:r>
            <a:r>
              <a:rPr lang="en-US" baseline="-19818" dirty="0">
                <a:solidFill>
                  <a:schemeClr val="tx1"/>
                </a:solidFill>
              </a:rPr>
              <a:t>6</a:t>
            </a:r>
            <a:endParaRPr lang="en-US" sz="2800" dirty="0">
              <a:solidFill>
                <a:schemeClr val="tx1"/>
              </a:solidFill>
            </a:endParaRPr>
          </a:p>
          <a:p>
            <a:pPr algn="l" defTabSz="1300480">
              <a:spcBef>
                <a:spcPts val="3500"/>
              </a:spcBef>
              <a:defRPr sz="4400" i="1">
                <a:solidFill>
                  <a:srgbClr val="FFFFFF"/>
                </a:solidFill>
                <a:latin typeface="Trebuchet MS"/>
                <a:ea typeface="Trebuchet MS"/>
                <a:cs typeface="Trebuchet MS"/>
                <a:sym typeface="Trebuchet MS"/>
              </a:defRPr>
            </a:pPr>
            <a:endParaRPr lang="en-US" sz="2800" dirty="0">
              <a:solidFill>
                <a:schemeClr val="tx1"/>
              </a:solidFill>
            </a:endParaRPr>
          </a:p>
          <a:p>
            <a:pPr algn="l" defTabSz="1300480">
              <a:spcBef>
                <a:spcPts val="3500"/>
              </a:spcBef>
              <a:defRPr sz="4400" i="1">
                <a:solidFill>
                  <a:srgbClr val="FFFFFF"/>
                </a:solidFill>
                <a:latin typeface="Trebuchet MS"/>
                <a:ea typeface="Trebuchet MS"/>
                <a:cs typeface="Trebuchet MS"/>
                <a:sym typeface="Trebuchet MS"/>
              </a:defRPr>
            </a:pPr>
            <a:r>
              <a:rPr lang="en-US" dirty="0">
                <a:solidFill>
                  <a:schemeClr val="tx1"/>
                </a:solidFill>
              </a:rPr>
              <a:t>X</a:t>
            </a:r>
            <a:r>
              <a:rPr lang="en-US" baseline="-19818" dirty="0">
                <a:solidFill>
                  <a:schemeClr val="tx1"/>
                </a:solidFill>
              </a:rPr>
              <a:t>2</a:t>
            </a:r>
            <a:r>
              <a:rPr lang="en-US" dirty="0">
                <a:solidFill>
                  <a:schemeClr val="tx1"/>
                </a:solidFill>
              </a:rPr>
              <a:t> 		X</a:t>
            </a:r>
            <a:r>
              <a:rPr lang="en-US" baseline="-19818" dirty="0">
                <a:solidFill>
                  <a:schemeClr val="tx1"/>
                </a:solidFill>
              </a:rPr>
              <a:t>3</a:t>
            </a:r>
            <a:r>
              <a:rPr lang="en-US" dirty="0">
                <a:solidFill>
                  <a:schemeClr val="tx1"/>
                </a:solidFill>
              </a:rPr>
              <a:t>    		X</a:t>
            </a:r>
            <a:r>
              <a:rPr lang="en-US" baseline="-19818" dirty="0">
                <a:solidFill>
                  <a:schemeClr val="tx1"/>
                </a:solidFill>
              </a:rPr>
              <a:t>5</a:t>
            </a:r>
            <a:endParaRPr lang="en-US" sz="2800" dirty="0">
              <a:solidFill>
                <a:schemeClr val="tx1"/>
              </a:solidFill>
            </a:endParaRPr>
          </a:p>
        </p:txBody>
      </p:sp>
      <p:sp>
        <p:nvSpPr>
          <p:cNvPr id="19" name="Straight Connector 11">
            <a:extLst>
              <a:ext uri="{FF2B5EF4-FFF2-40B4-BE49-F238E27FC236}">
                <a16:creationId xmlns:a16="http://schemas.microsoft.com/office/drawing/2014/main" id="{266E9835-FD2B-3446-AD86-18F786672EA8}"/>
              </a:ext>
            </a:extLst>
          </p:cNvPr>
          <p:cNvSpPr/>
          <p:nvPr/>
        </p:nvSpPr>
        <p:spPr>
          <a:xfrm>
            <a:off x="9764892" y="5678122"/>
            <a:ext cx="1" cy="1446603"/>
          </a:xfrm>
          <a:prstGeom prst="line">
            <a:avLst/>
          </a:prstGeom>
          <a:ln w="60325">
            <a:solidFill>
              <a:schemeClr val="tx1"/>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20" name="Straight Connector 12">
            <a:extLst>
              <a:ext uri="{FF2B5EF4-FFF2-40B4-BE49-F238E27FC236}">
                <a16:creationId xmlns:a16="http://schemas.microsoft.com/office/drawing/2014/main" id="{6DD63A3D-2C2C-9A44-9AA8-EB4DD7199B89}"/>
              </a:ext>
            </a:extLst>
          </p:cNvPr>
          <p:cNvSpPr/>
          <p:nvPr/>
        </p:nvSpPr>
        <p:spPr>
          <a:xfrm flipV="1">
            <a:off x="7604158" y="7630171"/>
            <a:ext cx="1810041" cy="27593"/>
          </a:xfrm>
          <a:prstGeom prst="line">
            <a:avLst/>
          </a:prstGeom>
          <a:ln w="60325">
            <a:solidFill>
              <a:schemeClr val="accent5"/>
            </a:solidFill>
            <a:headEnd type="none"/>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21" name="Straight Arrow Connector 13">
            <a:extLst>
              <a:ext uri="{FF2B5EF4-FFF2-40B4-BE49-F238E27FC236}">
                <a16:creationId xmlns:a16="http://schemas.microsoft.com/office/drawing/2014/main" id="{F55D65BC-EE54-794C-8410-8A73C5C85826}"/>
              </a:ext>
            </a:extLst>
          </p:cNvPr>
          <p:cNvSpPr/>
          <p:nvPr/>
        </p:nvSpPr>
        <p:spPr>
          <a:xfrm>
            <a:off x="7149318" y="5824243"/>
            <a:ext cx="1" cy="1300481"/>
          </a:xfrm>
          <a:prstGeom prst="line">
            <a:avLst/>
          </a:prstGeom>
          <a:ln w="60325">
            <a:solidFill>
              <a:schemeClr val="accent5"/>
            </a:solidFill>
            <a:tailEnd type="none" w="lg" len="lg"/>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22" name="Straight Connector 14">
            <a:extLst>
              <a:ext uri="{FF2B5EF4-FFF2-40B4-BE49-F238E27FC236}">
                <a16:creationId xmlns:a16="http://schemas.microsoft.com/office/drawing/2014/main" id="{7EE4AEE3-BF84-9C49-94DE-C68D8AEBA4F2}"/>
              </a:ext>
            </a:extLst>
          </p:cNvPr>
          <p:cNvSpPr/>
          <p:nvPr/>
        </p:nvSpPr>
        <p:spPr>
          <a:xfrm>
            <a:off x="10111292" y="7575926"/>
            <a:ext cx="1782682" cy="14613"/>
          </a:xfrm>
          <a:prstGeom prst="line">
            <a:avLst/>
          </a:prstGeom>
          <a:ln w="60325">
            <a:solidFill>
              <a:schemeClr val="accent5"/>
            </a:solidFill>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23" name="Straight Connector 16">
            <a:extLst>
              <a:ext uri="{FF2B5EF4-FFF2-40B4-BE49-F238E27FC236}">
                <a16:creationId xmlns:a16="http://schemas.microsoft.com/office/drawing/2014/main" id="{9D653DB8-EE55-6A44-821D-913886665359}"/>
              </a:ext>
            </a:extLst>
          </p:cNvPr>
          <p:cNvSpPr/>
          <p:nvPr/>
        </p:nvSpPr>
        <p:spPr>
          <a:xfrm flipV="1">
            <a:off x="10276316" y="5313070"/>
            <a:ext cx="1782682" cy="14615"/>
          </a:xfrm>
          <a:prstGeom prst="line">
            <a:avLst/>
          </a:prstGeom>
          <a:ln w="60325">
            <a:solidFill>
              <a:schemeClr val="tx1"/>
            </a:solidFill>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24" name="Straight Arrow Connector 24">
            <a:extLst>
              <a:ext uri="{FF2B5EF4-FFF2-40B4-BE49-F238E27FC236}">
                <a16:creationId xmlns:a16="http://schemas.microsoft.com/office/drawing/2014/main" id="{D9DE5D20-9535-BC4B-8C5D-EAD867F278E6}"/>
              </a:ext>
            </a:extLst>
          </p:cNvPr>
          <p:cNvSpPr/>
          <p:nvPr/>
        </p:nvSpPr>
        <p:spPr>
          <a:xfrm>
            <a:off x="7620324" y="5678122"/>
            <a:ext cx="1793875" cy="1664673"/>
          </a:xfrm>
          <a:prstGeom prst="line">
            <a:avLst/>
          </a:prstGeom>
          <a:ln w="60325">
            <a:solidFill>
              <a:schemeClr val="accent5"/>
            </a:solidFill>
            <a:tailEnd type="triangle" w="lg" len="lg"/>
          </a:ln>
        </p:spPr>
        <p:txBody>
          <a:bodyPr lIns="65023" tIns="65023" rIns="65023" bIns="65023"/>
          <a:lstStyle/>
          <a:p>
            <a:pPr algn="l" defTabSz="650240">
              <a:defRPr sz="2400">
                <a:latin typeface="Trebuchet MS"/>
                <a:ea typeface="Trebuchet MS"/>
                <a:cs typeface="Trebuchet MS"/>
                <a:sym typeface="Trebuchet MS"/>
              </a:defRPr>
            </a:pPr>
            <a:endParaRPr/>
          </a:p>
        </p:txBody>
      </p:sp>
    </p:spTree>
    <p:extLst>
      <p:ext uri="{BB962C8B-B14F-4D97-AF65-F5344CB8AC3E}">
        <p14:creationId xmlns:p14="http://schemas.microsoft.com/office/powerpoint/2010/main" val="2237169496"/>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Dealing with Confounders?"/>
          <p:cNvSpPr txBox="1">
            <a:spLocks noGrp="1"/>
          </p:cNvSpPr>
          <p:nvPr>
            <p:ph type="title"/>
          </p:nvPr>
        </p:nvSpPr>
        <p:spPr>
          <a:prstGeom prst="rect">
            <a:avLst/>
          </a:prstGeom>
        </p:spPr>
        <p:txBody>
          <a:bodyPr/>
          <a:lstStyle>
            <a:lvl1pPr>
              <a:defRPr sz="6400">
                <a:latin typeface="Hoefler Text"/>
                <a:ea typeface="Hoefler Text"/>
                <a:cs typeface="Hoefler Text"/>
                <a:sym typeface="Hoefler Text"/>
              </a:defRPr>
            </a:lvl1pPr>
          </a:lstStyle>
          <a:p>
            <a:r>
              <a:rPr dirty="0"/>
              <a:t>Dealing with Confounders?</a:t>
            </a:r>
          </a:p>
        </p:txBody>
      </p:sp>
      <p:pic>
        <p:nvPicPr>
          <p:cNvPr id="430" name="droppedImage.pdf" descr="droppedImage.pdf"/>
          <p:cNvPicPr>
            <a:picLocks noChangeAspect="1"/>
          </p:cNvPicPr>
          <p:nvPr/>
        </p:nvPicPr>
        <p:blipFill>
          <a:blip r:embed="rId2"/>
          <a:stretch>
            <a:fillRect/>
          </a:stretch>
        </p:blipFill>
        <p:spPr>
          <a:xfrm>
            <a:off x="825500" y="2400300"/>
            <a:ext cx="2425700" cy="1580044"/>
          </a:xfrm>
          <a:prstGeom prst="rect">
            <a:avLst/>
          </a:prstGeom>
          <a:ln w="12700">
            <a:miter lim="400000"/>
          </a:ln>
        </p:spPr>
      </p:pic>
      <p:sp>
        <p:nvSpPr>
          <p:cNvPr id="431" name="Possible to have confounders behind X3 and X4?"/>
          <p:cNvSpPr txBox="1"/>
          <p:nvPr/>
        </p:nvSpPr>
        <p:spPr>
          <a:xfrm>
            <a:off x="3393461" y="2417306"/>
            <a:ext cx="6243278" cy="1210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defRPr sz="3600" i="1">
                <a:latin typeface="Times New Roman"/>
                <a:ea typeface="Times New Roman"/>
                <a:cs typeface="Times New Roman"/>
                <a:sym typeface="Times New Roman"/>
              </a:defRPr>
            </a:pPr>
            <a:r>
              <a:rPr dirty="0">
                <a:solidFill>
                  <a:schemeClr val="tx1"/>
                </a:solidFill>
              </a:rPr>
              <a:t>Possible to have confounders behind X</a:t>
            </a:r>
            <a:r>
              <a:rPr baseline="-5999" dirty="0">
                <a:solidFill>
                  <a:schemeClr val="tx1"/>
                </a:solidFill>
              </a:rPr>
              <a:t>3</a:t>
            </a:r>
            <a:r>
              <a:rPr dirty="0">
                <a:solidFill>
                  <a:schemeClr val="tx1"/>
                </a:solidFill>
              </a:rPr>
              <a:t> and X</a:t>
            </a:r>
            <a:r>
              <a:rPr baseline="-5999" dirty="0">
                <a:solidFill>
                  <a:schemeClr val="tx1"/>
                </a:solidFill>
              </a:rPr>
              <a:t>4</a:t>
            </a:r>
            <a:r>
              <a:rPr dirty="0">
                <a:solidFill>
                  <a:schemeClr val="tx1"/>
                </a:solidFill>
              </a:rPr>
              <a:t>?</a:t>
            </a:r>
          </a:p>
        </p:txBody>
      </p:sp>
      <p:grpSp>
        <p:nvGrpSpPr>
          <p:cNvPr id="441" name="Group"/>
          <p:cNvGrpSpPr/>
          <p:nvPr/>
        </p:nvGrpSpPr>
        <p:grpSpPr>
          <a:xfrm>
            <a:off x="9968557" y="1632543"/>
            <a:ext cx="2743201" cy="2584737"/>
            <a:chOff x="0" y="0"/>
            <a:chExt cx="2743199" cy="2584735"/>
          </a:xfrm>
        </p:grpSpPr>
        <p:sp>
          <p:nvSpPr>
            <p:cNvPr id="432" name=":-)"/>
            <p:cNvSpPr txBox="1"/>
            <p:nvPr/>
          </p:nvSpPr>
          <p:spPr>
            <a:xfrm>
              <a:off x="1947229" y="1453556"/>
              <a:ext cx="795971" cy="1003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6200">
                  <a:solidFill>
                    <a:srgbClr val="FF4013"/>
                  </a:solidFill>
                </a:defRPr>
              </a:lvl1pPr>
            </a:lstStyle>
            <a:p>
              <a:r>
                <a:t>:-)</a:t>
              </a:r>
            </a:p>
          </p:txBody>
        </p:sp>
        <p:grpSp>
          <p:nvGrpSpPr>
            <p:cNvPr id="440" name="Group"/>
            <p:cNvGrpSpPr/>
            <p:nvPr/>
          </p:nvGrpSpPr>
          <p:grpSpPr>
            <a:xfrm>
              <a:off x="0" y="-1"/>
              <a:ext cx="2700946" cy="2584737"/>
              <a:chOff x="0" y="1973"/>
              <a:chExt cx="2700945" cy="2584735"/>
            </a:xfrm>
          </p:grpSpPr>
          <p:sp>
            <p:nvSpPr>
              <p:cNvPr id="433" name="Line"/>
              <p:cNvSpPr/>
              <p:nvPr/>
            </p:nvSpPr>
            <p:spPr>
              <a:xfrm flipV="1">
                <a:off x="1424010" y="448000"/>
                <a:ext cx="732450" cy="515565"/>
              </a:xfrm>
              <a:prstGeom prst="line">
                <a:avLst/>
              </a:prstGeom>
              <a:noFill/>
              <a:ln w="38100" cap="flat">
                <a:solidFill>
                  <a:srgbClr val="000000"/>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34" name="X1"/>
              <p:cNvSpPr txBox="1"/>
              <p:nvPr/>
            </p:nvSpPr>
            <p:spPr>
              <a:xfrm>
                <a:off x="0" y="16354"/>
                <a:ext cx="510708" cy="5856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a:defRPr sz="3000" i="1">
                    <a:latin typeface="Times New Roman"/>
                    <a:ea typeface="Times New Roman"/>
                    <a:cs typeface="Times New Roman"/>
                    <a:sym typeface="Times New Roman"/>
                  </a:defRPr>
                </a:pPr>
                <a:r>
                  <a:t>X</a:t>
                </a:r>
                <a:r>
                  <a:rPr baseline="-5999"/>
                  <a:t>1</a:t>
                </a:r>
              </a:p>
            </p:txBody>
          </p:sp>
          <p:sp>
            <p:nvSpPr>
              <p:cNvPr id="435" name="Line"/>
              <p:cNvSpPr/>
              <p:nvPr/>
            </p:nvSpPr>
            <p:spPr>
              <a:xfrm flipH="1" flipV="1">
                <a:off x="514542" y="503354"/>
                <a:ext cx="690974" cy="460586"/>
              </a:xfrm>
              <a:prstGeom prst="line">
                <a:avLst/>
              </a:prstGeom>
              <a:noFill/>
              <a:ln w="38100" cap="flat">
                <a:solidFill>
                  <a:srgbClr val="000000"/>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dirty="0"/>
              </a:p>
            </p:txBody>
          </p:sp>
          <p:sp>
            <p:nvSpPr>
              <p:cNvPr id="436" name="X2"/>
              <p:cNvSpPr txBox="1"/>
              <p:nvPr/>
            </p:nvSpPr>
            <p:spPr>
              <a:xfrm>
                <a:off x="2190238" y="1973"/>
                <a:ext cx="510708" cy="58569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a:defRPr sz="3000" i="1">
                    <a:latin typeface="Times New Roman"/>
                    <a:ea typeface="Times New Roman"/>
                    <a:cs typeface="Times New Roman"/>
                    <a:sym typeface="Times New Roman"/>
                  </a:defRPr>
                </a:pPr>
                <a:r>
                  <a:t>X</a:t>
                </a:r>
                <a:r>
                  <a:rPr baseline="-5999"/>
                  <a:t>2</a:t>
                </a:r>
              </a:p>
            </p:txBody>
          </p:sp>
          <p:sp>
            <p:nvSpPr>
              <p:cNvPr id="437" name="X3"/>
              <p:cNvSpPr txBox="1"/>
              <p:nvPr/>
            </p:nvSpPr>
            <p:spPr>
              <a:xfrm>
                <a:off x="1027213" y="850485"/>
                <a:ext cx="510708" cy="5856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a:defRPr sz="3000" i="1">
                    <a:latin typeface="Times New Roman"/>
                    <a:ea typeface="Times New Roman"/>
                    <a:cs typeface="Times New Roman"/>
                    <a:sym typeface="Times New Roman"/>
                  </a:defRPr>
                </a:pPr>
                <a:r>
                  <a:t>X</a:t>
                </a:r>
                <a:r>
                  <a:rPr baseline="-5999"/>
                  <a:t>3</a:t>
                </a:r>
              </a:p>
            </p:txBody>
          </p:sp>
          <p:sp>
            <p:nvSpPr>
              <p:cNvPr id="438" name="Line"/>
              <p:cNvSpPr/>
              <p:nvPr/>
            </p:nvSpPr>
            <p:spPr>
              <a:xfrm flipH="1" flipV="1">
                <a:off x="1294452" y="1452538"/>
                <a:ext cx="17033" cy="625299"/>
              </a:xfrm>
              <a:prstGeom prst="line">
                <a:avLst/>
              </a:prstGeom>
              <a:noFill/>
              <a:ln w="38100" cap="flat">
                <a:solidFill>
                  <a:srgbClr val="000000"/>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39" name="X4"/>
              <p:cNvSpPr txBox="1"/>
              <p:nvPr/>
            </p:nvSpPr>
            <p:spPr>
              <a:xfrm>
                <a:off x="1027213" y="2001010"/>
                <a:ext cx="510708" cy="5856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a:defRPr sz="3000" i="1">
                    <a:latin typeface="Times New Roman"/>
                    <a:ea typeface="Times New Roman"/>
                    <a:cs typeface="Times New Roman"/>
                    <a:sym typeface="Times New Roman"/>
                  </a:defRPr>
                </a:pPr>
                <a:r>
                  <a:t>X</a:t>
                </a:r>
                <a:r>
                  <a:rPr baseline="-5999"/>
                  <a:t>4</a:t>
                </a:r>
              </a:p>
            </p:txBody>
          </p:sp>
        </p:grpSp>
      </p:grpSp>
      <p:sp>
        <p:nvSpPr>
          <p:cNvPr id="442" name="E.g., X1: Raining; X3: wet ground; X4: slippery."/>
          <p:cNvSpPr txBox="1"/>
          <p:nvPr/>
        </p:nvSpPr>
        <p:spPr>
          <a:xfrm>
            <a:off x="1894861" y="4256405"/>
            <a:ext cx="9101024" cy="656590"/>
          </a:xfrm>
          <a:prstGeom prst="rect">
            <a:avLst/>
          </a:prstGeom>
          <a:ln w="25400">
            <a:solidFill>
              <a:srgbClr val="093CF3"/>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defRPr sz="3600">
                <a:solidFill>
                  <a:srgbClr val="00A2FF"/>
                </a:solidFill>
                <a:latin typeface="Times New Roman"/>
                <a:ea typeface="Times New Roman"/>
                <a:cs typeface="Times New Roman"/>
                <a:sym typeface="Times New Roman"/>
              </a:defRPr>
            </a:pPr>
            <a:r>
              <a:rPr dirty="0">
                <a:solidFill>
                  <a:schemeClr val="tx1"/>
                </a:solidFill>
              </a:rPr>
              <a:t>E.g., </a:t>
            </a:r>
            <a:r>
              <a:rPr i="1" dirty="0">
                <a:solidFill>
                  <a:schemeClr val="tx1"/>
                </a:solidFill>
              </a:rPr>
              <a:t>X</a:t>
            </a:r>
            <a:r>
              <a:rPr sz="3500" i="1" baseline="-5999" dirty="0">
                <a:solidFill>
                  <a:schemeClr val="tx1"/>
                </a:solidFill>
              </a:rPr>
              <a:t>1</a:t>
            </a:r>
            <a:r>
              <a:rPr dirty="0">
                <a:solidFill>
                  <a:schemeClr val="tx1"/>
                </a:solidFill>
              </a:rPr>
              <a:t>: Raining; </a:t>
            </a:r>
            <a:r>
              <a:rPr i="1" dirty="0">
                <a:solidFill>
                  <a:schemeClr val="tx1"/>
                </a:solidFill>
              </a:rPr>
              <a:t>X</a:t>
            </a:r>
            <a:r>
              <a:rPr sz="3500" i="1" baseline="-5999" dirty="0">
                <a:solidFill>
                  <a:schemeClr val="tx1"/>
                </a:solidFill>
              </a:rPr>
              <a:t>3</a:t>
            </a:r>
            <a:r>
              <a:rPr dirty="0">
                <a:solidFill>
                  <a:schemeClr val="tx1"/>
                </a:solidFill>
              </a:rPr>
              <a:t>: wet ground; </a:t>
            </a:r>
            <a:r>
              <a:rPr i="1" dirty="0">
                <a:solidFill>
                  <a:schemeClr val="tx1"/>
                </a:solidFill>
              </a:rPr>
              <a:t>X</a:t>
            </a:r>
            <a:r>
              <a:rPr sz="3500" i="1" baseline="-5999" dirty="0">
                <a:solidFill>
                  <a:schemeClr val="tx1"/>
                </a:solidFill>
              </a:rPr>
              <a:t>4</a:t>
            </a:r>
            <a:r>
              <a:rPr dirty="0">
                <a:solidFill>
                  <a:schemeClr val="tx1"/>
                </a:solidFill>
              </a:rPr>
              <a:t>: slippery.</a:t>
            </a:r>
          </a:p>
        </p:txBody>
      </p:sp>
      <p:sp>
        <p:nvSpPr>
          <p:cNvPr id="443" name="Example I"/>
          <p:cNvSpPr txBox="1"/>
          <p:nvPr/>
        </p:nvSpPr>
        <p:spPr>
          <a:xfrm>
            <a:off x="693761" y="1738759"/>
            <a:ext cx="2412520" cy="6565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3600" b="1">
                <a:latin typeface="Hoefler Text"/>
                <a:ea typeface="Hoefler Text"/>
                <a:cs typeface="Hoefler Text"/>
                <a:sym typeface="Hoefler Text"/>
              </a:defRPr>
            </a:lvl1pPr>
          </a:lstStyle>
          <a:p>
            <a:r>
              <a:rPr dirty="0">
                <a:solidFill>
                  <a:schemeClr val="tx1"/>
                </a:solidFill>
              </a:rPr>
              <a:t>Example I</a:t>
            </a:r>
          </a:p>
        </p:txBody>
      </p:sp>
      <p:pic>
        <p:nvPicPr>
          <p:cNvPr id="445" name="droppedImage.pdf" descr="droppedImage.pdf"/>
          <p:cNvPicPr>
            <a:picLocks noChangeAspect="1"/>
          </p:cNvPicPr>
          <p:nvPr/>
        </p:nvPicPr>
        <p:blipFill>
          <a:blip r:embed="rId3"/>
          <a:stretch>
            <a:fillRect/>
          </a:stretch>
        </p:blipFill>
        <p:spPr>
          <a:xfrm>
            <a:off x="574216" y="6236064"/>
            <a:ext cx="1727203" cy="1600542"/>
          </a:xfrm>
          <a:prstGeom prst="rect">
            <a:avLst/>
          </a:prstGeom>
          <a:ln w="12700" cap="flat">
            <a:noFill/>
            <a:miter lim="400000"/>
          </a:ln>
          <a:effectLst/>
        </p:spPr>
      </p:pic>
      <p:sp>
        <p:nvSpPr>
          <p:cNvPr id="447" name="Are there confounders behind X2 and X4?"/>
          <p:cNvSpPr txBox="1"/>
          <p:nvPr/>
        </p:nvSpPr>
        <p:spPr>
          <a:xfrm>
            <a:off x="2821961" y="6252707"/>
            <a:ext cx="4293532" cy="121058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p>
            <a:pPr>
              <a:defRPr sz="3600" i="1">
                <a:latin typeface="Times New Roman"/>
                <a:ea typeface="Times New Roman"/>
                <a:cs typeface="Times New Roman"/>
                <a:sym typeface="Times New Roman"/>
              </a:defRPr>
            </a:pPr>
            <a:r>
              <a:rPr dirty="0">
                <a:solidFill>
                  <a:schemeClr val="tx1"/>
                </a:solidFill>
              </a:rPr>
              <a:t>Are there confounders behind X</a:t>
            </a:r>
            <a:r>
              <a:rPr baseline="-5999" dirty="0">
                <a:solidFill>
                  <a:schemeClr val="tx1"/>
                </a:solidFill>
              </a:rPr>
              <a:t>2</a:t>
            </a:r>
            <a:r>
              <a:rPr dirty="0">
                <a:solidFill>
                  <a:schemeClr val="tx1"/>
                </a:solidFill>
              </a:rPr>
              <a:t> and X</a:t>
            </a:r>
            <a:r>
              <a:rPr baseline="-5999" dirty="0">
                <a:solidFill>
                  <a:schemeClr val="tx1"/>
                </a:solidFill>
              </a:rPr>
              <a:t>4</a:t>
            </a:r>
            <a:r>
              <a:rPr dirty="0">
                <a:solidFill>
                  <a:schemeClr val="tx1"/>
                </a:solidFill>
              </a:rPr>
              <a:t>?</a:t>
            </a:r>
          </a:p>
        </p:txBody>
      </p:sp>
      <p:sp>
        <p:nvSpPr>
          <p:cNvPr id="449" name="X1 → X2          X4←X3"/>
          <p:cNvSpPr txBox="1"/>
          <p:nvPr/>
        </p:nvSpPr>
        <p:spPr>
          <a:xfrm>
            <a:off x="7927292" y="6723279"/>
            <a:ext cx="4706890" cy="68854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p>
            <a:pPr>
              <a:defRPr i="1">
                <a:latin typeface="Times New Roman"/>
                <a:ea typeface="Times New Roman"/>
                <a:cs typeface="Times New Roman"/>
                <a:sym typeface="Times New Roman"/>
              </a:defRPr>
            </a:pPr>
            <a:r>
              <a:rPr dirty="0"/>
              <a:t>X</a:t>
            </a:r>
            <a:r>
              <a:rPr baseline="-5999" dirty="0"/>
              <a:t>1 </a:t>
            </a:r>
            <a:r>
              <a:rPr dirty="0">
                <a:solidFill>
                  <a:srgbClr val="E32400"/>
                </a:solidFill>
              </a:rPr>
              <a:t>→</a:t>
            </a:r>
            <a:r>
              <a:rPr dirty="0"/>
              <a:t> X</a:t>
            </a:r>
            <a:r>
              <a:rPr baseline="-5999" dirty="0"/>
              <a:t>2 </a:t>
            </a:r>
            <a:r>
              <a:rPr dirty="0"/>
              <a:t>         X</a:t>
            </a:r>
            <a:r>
              <a:rPr baseline="-5999" dirty="0"/>
              <a:t>4</a:t>
            </a:r>
            <a:r>
              <a:rPr dirty="0">
                <a:solidFill>
                  <a:srgbClr val="E32400"/>
                </a:solidFill>
              </a:rPr>
              <a:t>←</a:t>
            </a:r>
            <a:r>
              <a:rPr dirty="0"/>
              <a:t>X</a:t>
            </a:r>
            <a:r>
              <a:rPr baseline="-5999" dirty="0"/>
              <a:t>3</a:t>
            </a:r>
          </a:p>
        </p:txBody>
      </p:sp>
      <p:sp>
        <p:nvSpPr>
          <p:cNvPr id="450" name="Line"/>
          <p:cNvSpPr/>
          <p:nvPr/>
        </p:nvSpPr>
        <p:spPr>
          <a:xfrm flipV="1">
            <a:off x="9499600" y="6364618"/>
            <a:ext cx="679848" cy="455284"/>
          </a:xfrm>
          <a:prstGeom prst="line">
            <a:avLst/>
          </a:prstGeom>
          <a:noFill/>
          <a:ln w="38100" cap="flat">
            <a:solidFill>
              <a:srgbClr val="000000"/>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51" name="L"/>
          <p:cNvSpPr txBox="1"/>
          <p:nvPr/>
        </p:nvSpPr>
        <p:spPr>
          <a:xfrm>
            <a:off x="10292196" y="5961279"/>
            <a:ext cx="410953" cy="68854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i="1">
                <a:solidFill>
                  <a:srgbClr val="6C6C6C"/>
                </a:solidFill>
                <a:latin typeface="Times New Roman"/>
                <a:ea typeface="Times New Roman"/>
                <a:cs typeface="Times New Roman"/>
                <a:sym typeface="Times New Roman"/>
              </a:defRPr>
            </a:lvl1pPr>
          </a:lstStyle>
          <a:p>
            <a:r>
              <a:t>L</a:t>
            </a:r>
          </a:p>
        </p:txBody>
      </p:sp>
      <p:sp>
        <p:nvSpPr>
          <p:cNvPr id="452" name="Line"/>
          <p:cNvSpPr/>
          <p:nvPr/>
        </p:nvSpPr>
        <p:spPr>
          <a:xfrm flipH="1" flipV="1">
            <a:off x="10687447" y="6362700"/>
            <a:ext cx="641351" cy="406733"/>
          </a:xfrm>
          <a:prstGeom prst="line">
            <a:avLst/>
          </a:prstGeom>
          <a:noFill/>
          <a:ln w="38100" cap="flat">
            <a:solidFill>
              <a:srgbClr val="000000"/>
            </a:solidFill>
            <a:prstDash val="solid"/>
            <a:miter lim="400000"/>
            <a:headEnd type="stealth" w="med" len="med"/>
          </a:ln>
          <a:effectLst/>
        </p:spPr>
        <p:txBody>
          <a:bodyPr wrap="square" lIns="50800" tIns="50800" rIns="50800" bIns="50800" numCol="1" anchor="ctr">
            <a:noAutofit/>
          </a:bodyPr>
          <a:lstStyle/>
          <a:p>
            <a:pPr algn="l" defTabSz="457200">
              <a:defRPr sz="1200">
                <a:latin typeface="Helvetica"/>
                <a:ea typeface="Helvetica"/>
                <a:cs typeface="Helvetica"/>
                <a:sym typeface="Helvetica"/>
              </a:defRPr>
            </a:pPr>
            <a:endParaRPr/>
          </a:p>
        </p:txBody>
      </p:sp>
      <p:sp>
        <p:nvSpPr>
          <p:cNvPr id="454" name="E.g., X1: I am not sick; X2: I am in this lecture room; X4: you are in this lecture room; X3: you are not sick."/>
          <p:cNvSpPr txBox="1"/>
          <p:nvPr/>
        </p:nvSpPr>
        <p:spPr>
          <a:xfrm>
            <a:off x="840761" y="8018006"/>
            <a:ext cx="11455301" cy="1210588"/>
          </a:xfrm>
          <a:prstGeom prst="rect">
            <a:avLst/>
          </a:prstGeom>
          <a:ln w="25400">
            <a:solidFill>
              <a:srgbClr val="093CF3"/>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defRPr sz="3600">
                <a:solidFill>
                  <a:srgbClr val="00A2FF"/>
                </a:solidFill>
                <a:latin typeface="Times New Roman"/>
                <a:ea typeface="Times New Roman"/>
                <a:cs typeface="Times New Roman"/>
                <a:sym typeface="Times New Roman"/>
              </a:defRPr>
            </a:pPr>
            <a:r>
              <a:rPr dirty="0">
                <a:solidFill>
                  <a:schemeClr val="tx1"/>
                </a:solidFill>
              </a:rPr>
              <a:t>E.g., </a:t>
            </a:r>
            <a:r>
              <a:rPr i="1" dirty="0">
                <a:solidFill>
                  <a:schemeClr val="tx1"/>
                </a:solidFill>
              </a:rPr>
              <a:t>X</a:t>
            </a:r>
            <a:r>
              <a:rPr sz="3500" i="1" baseline="-5999" dirty="0">
                <a:solidFill>
                  <a:schemeClr val="tx1"/>
                </a:solidFill>
              </a:rPr>
              <a:t>1</a:t>
            </a:r>
            <a:r>
              <a:rPr dirty="0">
                <a:solidFill>
                  <a:schemeClr val="tx1"/>
                </a:solidFill>
              </a:rPr>
              <a:t>: I am not sick; </a:t>
            </a:r>
            <a:r>
              <a:rPr i="1" dirty="0">
                <a:solidFill>
                  <a:schemeClr val="tx1"/>
                </a:solidFill>
              </a:rPr>
              <a:t>X</a:t>
            </a:r>
            <a:r>
              <a:rPr sz="3500" i="1" baseline="-5999" dirty="0">
                <a:solidFill>
                  <a:schemeClr val="tx1"/>
                </a:solidFill>
              </a:rPr>
              <a:t>2</a:t>
            </a:r>
            <a:r>
              <a:rPr dirty="0">
                <a:solidFill>
                  <a:schemeClr val="tx1"/>
                </a:solidFill>
              </a:rPr>
              <a:t>: I am in this lecture room; </a:t>
            </a:r>
            <a:r>
              <a:rPr i="1" dirty="0">
                <a:solidFill>
                  <a:schemeClr val="tx1"/>
                </a:solidFill>
              </a:rPr>
              <a:t>X</a:t>
            </a:r>
            <a:r>
              <a:rPr sz="3500" i="1" baseline="-5999" dirty="0">
                <a:solidFill>
                  <a:schemeClr val="tx1"/>
                </a:solidFill>
              </a:rPr>
              <a:t>4</a:t>
            </a:r>
            <a:r>
              <a:rPr dirty="0">
                <a:solidFill>
                  <a:schemeClr val="tx1"/>
                </a:solidFill>
              </a:rPr>
              <a:t>: you are in this lecture room; </a:t>
            </a:r>
            <a:r>
              <a:rPr i="1" dirty="0">
                <a:solidFill>
                  <a:schemeClr val="tx1"/>
                </a:solidFill>
              </a:rPr>
              <a:t>X</a:t>
            </a:r>
            <a:r>
              <a:rPr sz="3500" i="1" baseline="-5999" dirty="0">
                <a:solidFill>
                  <a:schemeClr val="tx1"/>
                </a:solidFill>
              </a:rPr>
              <a:t>3</a:t>
            </a:r>
            <a:r>
              <a:rPr dirty="0">
                <a:solidFill>
                  <a:schemeClr val="tx1"/>
                </a:solidFill>
              </a:rPr>
              <a:t>: you are not sick.</a:t>
            </a:r>
          </a:p>
        </p:txBody>
      </p:sp>
      <p:sp>
        <p:nvSpPr>
          <p:cNvPr id="455" name="Line"/>
          <p:cNvSpPr/>
          <p:nvPr/>
        </p:nvSpPr>
        <p:spPr>
          <a:xfrm>
            <a:off x="29666" y="5124364"/>
            <a:ext cx="13004801" cy="1"/>
          </a:xfrm>
          <a:prstGeom prst="line">
            <a:avLst/>
          </a:prstGeom>
          <a:ln w="101600">
            <a:solidFill>
              <a:srgbClr val="000000"/>
            </a:solidFill>
            <a:miter lim="400000"/>
          </a:ln>
        </p:spPr>
        <p:txBody>
          <a:bodyPr lIns="50800" tIns="50800" rIns="50800" bIns="50800" anchor="ctr"/>
          <a:lstStyle/>
          <a:p>
            <a:pPr>
              <a:defRPr sz="2200">
                <a:solidFill>
                  <a:srgbClr val="FFFFFF"/>
                </a:solidFill>
                <a:latin typeface="Helvetica Neue Medium"/>
                <a:ea typeface="Helvetica Neue Medium"/>
                <a:cs typeface="Helvetica Neue Medium"/>
                <a:sym typeface="Helvetica Neue Medium"/>
              </a:defRPr>
            </a:pPr>
            <a:endParaRPr/>
          </a:p>
        </p:txBody>
      </p:sp>
      <p:grpSp>
        <p:nvGrpSpPr>
          <p:cNvPr id="459" name="Group"/>
          <p:cNvGrpSpPr/>
          <p:nvPr/>
        </p:nvGrpSpPr>
        <p:grpSpPr>
          <a:xfrm>
            <a:off x="10005410" y="2886423"/>
            <a:ext cx="1023401" cy="990394"/>
            <a:chOff x="0" y="0"/>
            <a:chExt cx="1023399" cy="990393"/>
          </a:xfrm>
        </p:grpSpPr>
        <p:sp>
          <p:nvSpPr>
            <p:cNvPr id="456" name="Line"/>
            <p:cNvSpPr/>
            <p:nvPr/>
          </p:nvSpPr>
          <p:spPr>
            <a:xfrm flipH="1">
              <a:off x="354216" y="0"/>
              <a:ext cx="646674" cy="331597"/>
            </a:xfrm>
            <a:prstGeom prst="line">
              <a:avLst/>
            </a:prstGeom>
            <a:noFill/>
            <a:ln w="38100" cap="flat">
              <a:solidFill>
                <a:schemeClr val="accent5"/>
              </a:solidFill>
              <a:custDash>
                <a:ds d="200000" sp="200000"/>
              </a:custDash>
              <a:miter lim="400000"/>
              <a:headEnd type="stealth" w="med" len="med"/>
            </a:ln>
            <a:effectLst/>
          </p:spPr>
          <p:txBody>
            <a:bodyPr wrap="square" lIns="50800" tIns="50800" rIns="50800" bIns="50800" numCol="1" anchor="ctr">
              <a:noAutofit/>
            </a:bodyPr>
            <a:lstStyle/>
            <a:p>
              <a:pPr>
                <a:defRPr sz="4000">
                  <a:solidFill>
                    <a:srgbClr val="FFFFFF"/>
                  </a:solidFill>
                  <a:effectLst>
                    <a:outerShdw blurRad="38100" dist="12700" dir="5400000" rotWithShape="0">
                      <a:srgbClr val="000000">
                        <a:alpha val="50000"/>
                      </a:srgbClr>
                    </a:outerShdw>
                  </a:effectLst>
                </a:defRPr>
              </a:pPr>
              <a:endParaRPr/>
            </a:p>
          </p:txBody>
        </p:sp>
        <p:sp>
          <p:nvSpPr>
            <p:cNvPr id="457" name="C"/>
            <p:cNvSpPr txBox="1"/>
            <p:nvPr/>
          </p:nvSpPr>
          <p:spPr>
            <a:xfrm>
              <a:off x="0" y="209118"/>
              <a:ext cx="410779" cy="5907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ctr">
              <a:spAutoFit/>
            </a:bodyPr>
            <a:lstStyle>
              <a:lvl1pPr>
                <a:defRPr sz="3500" i="1">
                  <a:solidFill>
                    <a:schemeClr val="accent5"/>
                  </a:solidFill>
                  <a:latin typeface="Times New Roman"/>
                  <a:ea typeface="Times New Roman"/>
                  <a:cs typeface="Times New Roman"/>
                  <a:sym typeface="Times New Roman"/>
                </a:defRPr>
              </a:lvl1pPr>
            </a:lstStyle>
            <a:p>
              <a:r>
                <a:t>C</a:t>
              </a:r>
            </a:p>
          </p:txBody>
        </p:sp>
        <p:sp>
          <p:nvSpPr>
            <p:cNvPr id="458" name="Line"/>
            <p:cNvSpPr/>
            <p:nvPr/>
          </p:nvSpPr>
          <p:spPr>
            <a:xfrm flipH="1" flipV="1">
              <a:off x="328817" y="750697"/>
              <a:ext cx="694583" cy="239697"/>
            </a:xfrm>
            <a:prstGeom prst="line">
              <a:avLst/>
            </a:prstGeom>
            <a:noFill/>
            <a:ln w="38100" cap="flat">
              <a:solidFill>
                <a:schemeClr val="accent5"/>
              </a:solidFill>
              <a:custDash>
                <a:ds d="200000" sp="200000"/>
              </a:custDash>
              <a:miter lim="400000"/>
              <a:headEnd type="stealth" w="med" len="med"/>
            </a:ln>
            <a:effectLst/>
          </p:spPr>
          <p:txBody>
            <a:bodyPr wrap="square" lIns="50800" tIns="50800" rIns="50800" bIns="50800" numCol="1" anchor="ctr">
              <a:noAutofit/>
            </a:bodyPr>
            <a:lstStyle/>
            <a:p>
              <a:pPr>
                <a:defRPr sz="4000">
                  <a:solidFill>
                    <a:srgbClr val="FFFFFF"/>
                  </a:solidFill>
                  <a:effectLst>
                    <a:outerShdw blurRad="38100" dist="12700" dir="5400000" rotWithShape="0">
                      <a:srgbClr val="000000">
                        <a:alpha val="50000"/>
                      </a:srgbClr>
                    </a:outerShdw>
                  </a:effectLst>
                </a:defRPr>
              </a:pPr>
              <a:endParaRPr/>
            </a:p>
          </p:txBody>
        </p:sp>
      </p:grpSp>
      <p:sp>
        <p:nvSpPr>
          <p:cNvPr id="460" name="(See the FCI algorithm)"/>
          <p:cNvSpPr txBox="1"/>
          <p:nvPr/>
        </p:nvSpPr>
        <p:spPr>
          <a:xfrm>
            <a:off x="9743340" y="9226472"/>
            <a:ext cx="2890720" cy="4700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sz="2500"/>
            </a:pPr>
            <a:r>
              <a:t>(</a:t>
            </a:r>
            <a:r>
              <a:rPr i="1"/>
              <a:t>See the FCI algorithm</a:t>
            </a:r>
            <a:r>
              <a:t>)</a:t>
            </a:r>
          </a:p>
        </p:txBody>
      </p:sp>
      <p:sp>
        <p:nvSpPr>
          <p:cNvPr id="34" name="Example I">
            <a:extLst>
              <a:ext uri="{FF2B5EF4-FFF2-40B4-BE49-F238E27FC236}">
                <a16:creationId xmlns:a16="http://schemas.microsoft.com/office/drawing/2014/main" id="{B46D0EB1-326E-D441-A845-A0DE63216842}"/>
              </a:ext>
            </a:extLst>
          </p:cNvPr>
          <p:cNvSpPr txBox="1"/>
          <p:nvPr/>
        </p:nvSpPr>
        <p:spPr>
          <a:xfrm>
            <a:off x="409441" y="5368762"/>
            <a:ext cx="2696840" cy="6565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defRPr sz="3600" b="1">
                <a:latin typeface="Hoefler Text"/>
                <a:ea typeface="Hoefler Text"/>
                <a:cs typeface="Hoefler Text"/>
                <a:sym typeface="Hoefler Text"/>
              </a:defRPr>
            </a:lvl1pPr>
          </a:lstStyle>
          <a:p>
            <a:r>
              <a:rPr dirty="0">
                <a:solidFill>
                  <a:schemeClr val="tx1"/>
                </a:solidFill>
              </a:rPr>
              <a:t>Example </a:t>
            </a:r>
            <a:r>
              <a:rPr lang="en-US" dirty="0">
                <a:solidFill>
                  <a:schemeClr val="tx1"/>
                </a:solidFill>
              </a:rPr>
              <a:t>I</a:t>
            </a:r>
            <a:r>
              <a:rPr dirty="0">
                <a:solidFill>
                  <a:schemeClr val="tx1"/>
                </a:solidFill>
              </a:rPr>
              <a:t>I</a:t>
            </a:r>
          </a:p>
        </p:txBody>
      </p:sp>
    </p:spTree>
    <p:extLst>
      <p:ext uri="{BB962C8B-B14F-4D97-AF65-F5344CB8AC3E}">
        <p14:creationId xmlns:p14="http://schemas.microsoft.com/office/powerpoint/2010/main" val="204124696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4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iterate>
                                    <p:tmAbs val="0"/>
                                  </p:iterate>
                                  <p:childTnLst>
                                    <p:set>
                                      <p:cBhvr>
                                        <p:cTn id="14" fill="hold">
                                          <p:stCondLst>
                                            <p:cond delay="0"/>
                                          </p:stCondLst>
                                        </p:cTn>
                                        <p:tgtEl>
                                          <p:spTgt spid="45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4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4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 grpId="0" animBg="1" advAuto="0"/>
      <p:bldP spid="442" grpId="0" animBg="1" advAuto="0"/>
      <p:bldP spid="454" grpId="0" animBg="1" advAuto="0"/>
      <p:bldP spid="459" grpId="0" animBg="1" advAuto="0"/>
      <p:bldP spid="459" grpId="1" animBg="1" advAuto="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Title 1"/>
          <p:cNvSpPr txBox="1">
            <a:spLocks noGrp="1"/>
          </p:cNvSpPr>
          <p:nvPr>
            <p:ph type="title"/>
          </p:nvPr>
        </p:nvSpPr>
        <p:spPr>
          <a:prstGeom prst="rect">
            <a:avLst/>
          </a:prstGeom>
        </p:spPr>
        <p:txBody>
          <a:bodyPr/>
          <a:lstStyle/>
          <a:p>
            <a:pPr defTabSz="408940">
              <a:defRPr sz="4620">
                <a:latin typeface="Hoefler Text"/>
                <a:ea typeface="Hoefler Text"/>
                <a:cs typeface="Hoefler Text"/>
                <a:sym typeface="Hoefler Text"/>
              </a:defRPr>
            </a:pPr>
            <a:r>
              <a:rPr sz="4900" dirty="0">
                <a:latin typeface="Hoefler Text"/>
              </a:rPr>
              <a:t>Partial Ancestral Graph</a:t>
            </a:r>
          </a:p>
        </p:txBody>
      </p:sp>
      <p:sp>
        <p:nvSpPr>
          <p:cNvPr id="484" name="Content Placeholder 8"/>
          <p:cNvSpPr txBox="1">
            <a:spLocks noGrp="1"/>
          </p:cNvSpPr>
          <p:nvPr>
            <p:ph type="body" idx="1"/>
          </p:nvPr>
        </p:nvSpPr>
        <p:spPr>
          <a:xfrm>
            <a:off x="1270000" y="2692400"/>
            <a:ext cx="10464800" cy="5715000"/>
          </a:xfrm>
          <a:prstGeom prst="rect">
            <a:avLst/>
          </a:prstGeom>
        </p:spPr>
        <p:txBody>
          <a:bodyPr>
            <a:normAutofit fontScale="92500" lnSpcReduction="10000"/>
          </a:bodyPr>
          <a:lstStyle/>
          <a:p>
            <a:pPr marL="0" indent="0">
              <a:spcAft>
                <a:spcPts val="1200"/>
              </a:spcAft>
              <a:buSzTx/>
              <a:buFont typeface="Wingdings 2"/>
              <a:buNone/>
              <a:defRPr sz="4400" i="1"/>
            </a:pPr>
            <a:r>
              <a:rPr dirty="0">
                <a:latin typeface="Times New Roman" panose="02020603050405020304" pitchFamily="18" charset="0"/>
                <a:cs typeface="Times New Roman" panose="02020603050405020304" pitchFamily="18" charset="0"/>
              </a:rPr>
              <a:t>X</a:t>
            </a:r>
            <a:r>
              <a:rPr i="0" baseline="-19818" dirty="0">
                <a:latin typeface="Times New Roman" panose="02020603050405020304" pitchFamily="18" charset="0"/>
                <a:cs typeface="Times New Roman" panose="02020603050405020304" pitchFamily="18" charset="0"/>
              </a:rPr>
              <a:t>1</a:t>
            </a:r>
            <a:r>
              <a:rPr i="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X</a:t>
            </a:r>
            <a:r>
              <a:rPr i="0" baseline="-19818" dirty="0">
                <a:latin typeface="Times New Roman" panose="02020603050405020304" pitchFamily="18" charset="0"/>
                <a:cs typeface="Times New Roman" panose="02020603050405020304" pitchFamily="18" charset="0"/>
              </a:rPr>
              <a:t>4</a:t>
            </a:r>
            <a:r>
              <a:rPr i="0" dirty="0">
                <a:latin typeface="Times New Roman" panose="02020603050405020304" pitchFamily="18" charset="0"/>
                <a:cs typeface="Times New Roman" panose="02020603050405020304" pitchFamily="18" charset="0"/>
              </a:rPr>
              <a:t>     </a:t>
            </a:r>
            <a:r>
              <a:rPr lang="en-US" i="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X</a:t>
            </a:r>
            <a:r>
              <a:rPr i="0" baseline="-19818" dirty="0">
                <a:latin typeface="Times New Roman" panose="02020603050405020304" pitchFamily="18" charset="0"/>
                <a:cs typeface="Times New Roman" panose="02020603050405020304" pitchFamily="18" charset="0"/>
              </a:rPr>
              <a:t>6</a:t>
            </a:r>
            <a:endParaRPr baseline="-19818" dirty="0">
              <a:latin typeface="Times New Roman" panose="02020603050405020304" pitchFamily="18" charset="0"/>
              <a:cs typeface="Times New Roman" panose="02020603050405020304" pitchFamily="18" charset="0"/>
            </a:endParaRPr>
          </a:p>
          <a:p>
            <a:pPr marL="0" indent="0">
              <a:spcBef>
                <a:spcPts val="3500"/>
              </a:spcBef>
              <a:buSzTx/>
              <a:buFont typeface="Wingdings 2"/>
              <a:buNone/>
              <a:defRPr sz="4400" i="1"/>
            </a:pPr>
            <a:endParaRPr baseline="-19818" dirty="0">
              <a:latin typeface="Times New Roman" panose="02020603050405020304" pitchFamily="18" charset="0"/>
              <a:cs typeface="Times New Roman" panose="02020603050405020304" pitchFamily="18" charset="0"/>
            </a:endParaRPr>
          </a:p>
          <a:p>
            <a:pPr marL="0" indent="0">
              <a:spcBef>
                <a:spcPts val="3500"/>
              </a:spcBef>
              <a:buSzTx/>
              <a:buFont typeface="Wingdings 2"/>
              <a:buNone/>
              <a:defRPr sz="4400" i="1"/>
            </a:pPr>
            <a:r>
              <a:rPr dirty="0">
                <a:latin typeface="Times New Roman" panose="02020603050405020304" pitchFamily="18" charset="0"/>
                <a:cs typeface="Times New Roman" panose="02020603050405020304" pitchFamily="18" charset="0"/>
              </a:rPr>
              <a:t>X</a:t>
            </a:r>
            <a:r>
              <a:rPr i="0" baseline="-19818" dirty="0">
                <a:latin typeface="Times New Roman" panose="02020603050405020304" pitchFamily="18" charset="0"/>
                <a:cs typeface="Times New Roman" panose="02020603050405020304" pitchFamily="18" charset="0"/>
              </a:rPr>
              <a:t>2</a:t>
            </a:r>
            <a:r>
              <a:rPr i="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X</a:t>
            </a:r>
            <a:r>
              <a:rPr i="0" baseline="-19818" dirty="0">
                <a:latin typeface="Times New Roman" panose="02020603050405020304" pitchFamily="18" charset="0"/>
                <a:cs typeface="Times New Roman" panose="02020603050405020304" pitchFamily="18" charset="0"/>
              </a:rPr>
              <a:t>3</a:t>
            </a:r>
            <a:r>
              <a:rPr i="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X</a:t>
            </a:r>
            <a:r>
              <a:rPr i="0" baseline="-19818" dirty="0">
                <a:latin typeface="Times New Roman" panose="02020603050405020304" pitchFamily="18" charset="0"/>
                <a:cs typeface="Times New Roman" panose="02020603050405020304" pitchFamily="18" charset="0"/>
              </a:rPr>
              <a:t>5</a:t>
            </a:r>
          </a:p>
          <a:p>
            <a:pPr marL="0" indent="0">
              <a:spcBef>
                <a:spcPts val="900"/>
              </a:spcBef>
              <a:buSzTx/>
              <a:buFont typeface="Wingdings 2"/>
              <a:buNone/>
              <a:defRPr sz="3400"/>
            </a:pPr>
            <a:r>
              <a:rPr dirty="0">
                <a:latin typeface="Times New Roman" panose="02020603050405020304" pitchFamily="18" charset="0"/>
                <a:cs typeface="Times New Roman" panose="02020603050405020304" pitchFamily="18" charset="0"/>
              </a:rPr>
              <a:t>Tail (“-”) means “is an ancestor of” in all members of the equivalence class. </a:t>
            </a:r>
            <a:endParaRPr sz="2800" baseline="-19571" dirty="0">
              <a:latin typeface="Times New Roman" panose="02020603050405020304" pitchFamily="18" charset="0"/>
              <a:cs typeface="Times New Roman" panose="02020603050405020304" pitchFamily="18" charset="0"/>
            </a:endParaRPr>
          </a:p>
          <a:p>
            <a:pPr marL="0" indent="0">
              <a:spcBef>
                <a:spcPts val="900"/>
              </a:spcBef>
              <a:buSzTx/>
              <a:buFont typeface="Wingdings 2"/>
              <a:buNone/>
              <a:defRPr sz="3400"/>
            </a:pPr>
            <a:r>
              <a:rPr dirty="0">
                <a:latin typeface="Times New Roman" panose="02020603050405020304" pitchFamily="18" charset="0"/>
                <a:cs typeface="Times New Roman" panose="02020603050405020304" pitchFamily="18" charset="0"/>
              </a:rPr>
              <a:t>Head (“&gt;”) means “is not an ancestor of” in all members of the equivalence class. </a:t>
            </a:r>
          </a:p>
          <a:p>
            <a:pPr marL="0" indent="0">
              <a:spcBef>
                <a:spcPts val="900"/>
              </a:spcBef>
              <a:buSzTx/>
              <a:buFont typeface="Wingdings 2"/>
              <a:buNone/>
              <a:defRPr sz="3400"/>
            </a:pPr>
            <a:r>
              <a:rPr dirty="0">
                <a:latin typeface="Times New Roman" panose="02020603050405020304" pitchFamily="18" charset="0"/>
                <a:cs typeface="Times New Roman" panose="02020603050405020304" pitchFamily="18" charset="0"/>
              </a:rPr>
              <a:t>Circle (“o”) means “is an ancestor of in some but not all members of the equivalence class.</a:t>
            </a:r>
          </a:p>
        </p:txBody>
      </p:sp>
      <p:sp>
        <p:nvSpPr>
          <p:cNvPr id="480" name="Slide Number Placeholder 3"/>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61</a:t>
            </a:fld>
            <a:endParaRPr/>
          </a:p>
        </p:txBody>
      </p:sp>
      <p:sp>
        <p:nvSpPr>
          <p:cNvPr id="481" name="Straight Arrow Connector 47"/>
          <p:cNvSpPr/>
          <p:nvPr/>
        </p:nvSpPr>
        <p:spPr>
          <a:xfrm>
            <a:off x="1600200" y="3490896"/>
            <a:ext cx="3037" cy="1256677"/>
          </a:xfrm>
          <a:prstGeom prst="line">
            <a:avLst/>
          </a:prstGeom>
          <a:ln w="63500">
            <a:solidFill>
              <a:schemeClr val="tx1"/>
            </a:solidFill>
            <a:tailEnd type="triangle"/>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82" name="TextBox 57"/>
          <p:cNvSpPr txBox="1"/>
          <p:nvPr/>
        </p:nvSpPr>
        <p:spPr>
          <a:xfrm rot="10800000">
            <a:off x="2695983" y="2924181"/>
            <a:ext cx="678441" cy="5006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3" tIns="65023" rIns="65023" bIns="65023">
            <a:spAutoFit/>
          </a:bodyPr>
          <a:lstStyle>
            <a:lvl1pPr algn="l" defTabSz="650240">
              <a:defRPr sz="2400">
                <a:solidFill>
                  <a:srgbClr val="FF0000"/>
                </a:solidFill>
                <a:latin typeface="Trebuchet MS"/>
                <a:ea typeface="Trebuchet MS"/>
                <a:cs typeface="Trebuchet MS"/>
                <a:sym typeface="Trebuchet MS"/>
              </a:defRPr>
            </a:lvl1pPr>
          </a:lstStyle>
          <a:p>
            <a:r>
              <a:rPr dirty="0">
                <a:solidFill>
                  <a:schemeClr val="tx1"/>
                </a:solidFill>
              </a:rPr>
              <a:t>o</a:t>
            </a:r>
          </a:p>
        </p:txBody>
      </p:sp>
      <p:sp>
        <p:nvSpPr>
          <p:cNvPr id="483" name="TextBox 58"/>
          <p:cNvSpPr txBox="1"/>
          <p:nvPr/>
        </p:nvSpPr>
        <p:spPr>
          <a:xfrm>
            <a:off x="1443465" y="3138371"/>
            <a:ext cx="406735" cy="5006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5023" tIns="65023" rIns="65023" bIns="65023">
            <a:spAutoFit/>
          </a:bodyPr>
          <a:lstStyle>
            <a:lvl1pPr algn="l" defTabSz="650240">
              <a:defRPr sz="2400">
                <a:solidFill>
                  <a:srgbClr val="FF0000"/>
                </a:solidFill>
                <a:latin typeface="Trebuchet MS"/>
                <a:ea typeface="Trebuchet MS"/>
                <a:cs typeface="Trebuchet MS"/>
                <a:sym typeface="Trebuchet MS"/>
              </a:defRPr>
            </a:lvl1pPr>
          </a:lstStyle>
          <a:p>
            <a:r>
              <a:rPr dirty="0">
                <a:solidFill>
                  <a:schemeClr val="tx1"/>
                </a:solidFill>
              </a:rPr>
              <a:t>o</a:t>
            </a:r>
          </a:p>
        </p:txBody>
      </p:sp>
      <p:sp>
        <p:nvSpPr>
          <p:cNvPr id="485" name="Straight Arrow Connector 62"/>
          <p:cNvSpPr/>
          <p:nvPr/>
        </p:nvSpPr>
        <p:spPr>
          <a:xfrm>
            <a:off x="2882063" y="3557927"/>
            <a:ext cx="0" cy="1226338"/>
          </a:xfrm>
          <a:prstGeom prst="line">
            <a:avLst/>
          </a:prstGeom>
          <a:ln w="63500">
            <a:solidFill>
              <a:schemeClr val="tx1"/>
            </a:solidFill>
            <a:tailEnd type="triangle"/>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86" name="Straight Arrow Connector 64"/>
          <p:cNvSpPr/>
          <p:nvPr/>
        </p:nvSpPr>
        <p:spPr>
          <a:xfrm>
            <a:off x="3020327" y="5138455"/>
            <a:ext cx="626308" cy="1"/>
          </a:xfrm>
          <a:prstGeom prst="line">
            <a:avLst/>
          </a:prstGeom>
          <a:ln w="63500">
            <a:solidFill>
              <a:schemeClr val="tx1"/>
            </a:solidFill>
            <a:tailEnd type="triangle"/>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87" name="Straight Arrow Connector 65"/>
          <p:cNvSpPr/>
          <p:nvPr/>
        </p:nvSpPr>
        <p:spPr>
          <a:xfrm>
            <a:off x="3304526" y="3143395"/>
            <a:ext cx="342109" cy="1"/>
          </a:xfrm>
          <a:prstGeom prst="line">
            <a:avLst/>
          </a:prstGeom>
          <a:ln w="63500">
            <a:solidFill>
              <a:schemeClr val="tx1"/>
            </a:solidFill>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88" name="Straight Arrow Connector 66"/>
          <p:cNvSpPr/>
          <p:nvPr/>
        </p:nvSpPr>
        <p:spPr>
          <a:xfrm>
            <a:off x="1812644" y="5114790"/>
            <a:ext cx="694582" cy="23665"/>
          </a:xfrm>
          <a:prstGeom prst="line">
            <a:avLst/>
          </a:prstGeom>
          <a:ln w="63500">
            <a:solidFill>
              <a:schemeClr val="tx1"/>
            </a:solidFill>
            <a:headEnd type="triangle"/>
            <a:tailEnd type="triangle"/>
          </a:ln>
        </p:spPr>
        <p:txBody>
          <a:bodyPr lIns="65023" tIns="65023" rIns="65023" bIns="65023"/>
          <a:lstStyle/>
          <a:p>
            <a:pPr algn="l" defTabSz="650240">
              <a:defRPr sz="2400">
                <a:latin typeface="Trebuchet MS"/>
                <a:ea typeface="Trebuchet MS"/>
                <a:cs typeface="Trebuchet MS"/>
                <a:sym typeface="Trebuchet MS"/>
              </a:defRPr>
            </a:pPr>
            <a:endParaRPr/>
          </a:p>
        </p:txBody>
      </p:sp>
      <p:sp>
        <p:nvSpPr>
          <p:cNvPr id="489" name="TextBox 67"/>
          <p:cNvSpPr txBox="1"/>
          <p:nvPr/>
        </p:nvSpPr>
        <p:spPr>
          <a:xfrm rot="10800000">
            <a:off x="3204662" y="2941393"/>
            <a:ext cx="678441" cy="5006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3" tIns="65023" rIns="65023" bIns="65023">
            <a:spAutoFit/>
          </a:bodyPr>
          <a:lstStyle>
            <a:lvl1pPr algn="l" defTabSz="650240">
              <a:defRPr sz="2400">
                <a:solidFill>
                  <a:srgbClr val="FF0000"/>
                </a:solidFill>
                <a:latin typeface="Trebuchet MS"/>
                <a:ea typeface="Trebuchet MS"/>
                <a:cs typeface="Trebuchet MS"/>
                <a:sym typeface="Trebuchet MS"/>
              </a:defRPr>
            </a:lvl1pPr>
          </a:lstStyle>
          <a:p>
            <a:r>
              <a:rPr dirty="0">
                <a:solidFill>
                  <a:schemeClr val="tx1"/>
                </a:solidFill>
              </a:rPr>
              <a:t>o</a:t>
            </a:r>
          </a:p>
        </p:txBody>
      </p:sp>
      <p:sp>
        <p:nvSpPr>
          <p:cNvPr id="490" name="TextBox 68"/>
          <p:cNvSpPr txBox="1"/>
          <p:nvPr/>
        </p:nvSpPr>
        <p:spPr>
          <a:xfrm>
            <a:off x="2738979" y="3183112"/>
            <a:ext cx="496744" cy="5006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5023" tIns="65023" rIns="65023" bIns="65023">
            <a:spAutoFit/>
          </a:bodyPr>
          <a:lstStyle>
            <a:lvl1pPr algn="l" defTabSz="650240">
              <a:defRPr sz="2400">
                <a:solidFill>
                  <a:srgbClr val="FF0000"/>
                </a:solidFill>
                <a:latin typeface="Trebuchet MS"/>
                <a:ea typeface="Trebuchet MS"/>
                <a:cs typeface="Trebuchet MS"/>
                <a:sym typeface="Trebuchet MS"/>
              </a:defRPr>
            </a:lvl1pPr>
          </a:lstStyle>
          <a:p>
            <a:r>
              <a:rPr dirty="0">
                <a:solidFill>
                  <a:schemeClr val="tx1"/>
                </a:solidFill>
              </a:rPr>
              <a:t>o</a:t>
            </a:r>
          </a:p>
        </p:txBody>
      </p:sp>
      <p:sp>
        <p:nvSpPr>
          <p:cNvPr id="491" name="TextBox 28"/>
          <p:cNvSpPr txBox="1"/>
          <p:nvPr/>
        </p:nvSpPr>
        <p:spPr>
          <a:xfrm>
            <a:off x="5698190" y="2426203"/>
            <a:ext cx="6241084" cy="2224197"/>
          </a:xfrm>
          <a:prstGeom prst="rect">
            <a:avLst/>
          </a:prstGeom>
          <a:ln w="12700">
            <a:miter lim="400000"/>
          </a:ln>
          <a:effectLst>
            <a:outerShdw blurRad="63500" dist="50800" dir="2700000" rotWithShape="0">
              <a:srgbClr val="000000">
                <a:alpha val="4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5023" tIns="65023" rIns="65023" bIns="65023">
            <a:spAutoFit/>
          </a:bodyPr>
          <a:lstStyle/>
          <a:p>
            <a:pPr algn="l" defTabSz="650240">
              <a:defRPr sz="3400">
                <a:solidFill>
                  <a:srgbClr val="FFFFFF"/>
                </a:solidFill>
                <a:latin typeface="Trebuchet MS"/>
                <a:ea typeface="Trebuchet MS"/>
                <a:cs typeface="Trebuchet MS"/>
                <a:sym typeface="Trebuchet MS"/>
              </a:defRPr>
            </a:pPr>
            <a:r>
              <a:rPr dirty="0">
                <a:solidFill>
                  <a:schemeClr val="tx1"/>
                </a:solidFill>
                <a:latin typeface="Times New Roman" panose="02020603050405020304" pitchFamily="18" charset="0"/>
                <a:cs typeface="Times New Roman" panose="02020603050405020304" pitchFamily="18" charset="0"/>
              </a:rPr>
              <a:t>Each edge has two endpoints: e.g. </a:t>
            </a:r>
            <a:r>
              <a:rPr i="1" dirty="0">
                <a:solidFill>
                  <a:schemeClr val="tx1"/>
                </a:solidFill>
                <a:latin typeface="Times New Roman" panose="02020603050405020304" pitchFamily="18" charset="0"/>
                <a:cs typeface="Times New Roman" panose="02020603050405020304" pitchFamily="18" charset="0"/>
              </a:rPr>
              <a:t>X</a:t>
            </a:r>
            <a:r>
              <a:rPr baseline="-25000" dirty="0">
                <a:solidFill>
                  <a:schemeClr val="tx1"/>
                </a:solidFill>
                <a:latin typeface="Times New Roman" panose="02020603050405020304" pitchFamily="18" charset="0"/>
                <a:cs typeface="Times New Roman" panose="02020603050405020304" pitchFamily="18" charset="0"/>
              </a:rPr>
              <a:t>4</a:t>
            </a:r>
            <a:r>
              <a:rPr dirty="0">
                <a:solidFill>
                  <a:schemeClr val="tx1"/>
                </a:solidFill>
                <a:latin typeface="Times New Roman" panose="02020603050405020304" pitchFamily="18" charset="0"/>
                <a:cs typeface="Times New Roman" panose="02020603050405020304" pitchFamily="18" charset="0"/>
              </a:rPr>
              <a:t> o→ </a:t>
            </a:r>
            <a:r>
              <a:rPr i="1" dirty="0">
                <a:solidFill>
                  <a:schemeClr val="tx1"/>
                </a:solidFill>
                <a:latin typeface="Times New Roman" panose="02020603050405020304" pitchFamily="18" charset="0"/>
                <a:cs typeface="Times New Roman" panose="02020603050405020304" pitchFamily="18" charset="0"/>
              </a:rPr>
              <a:t>X</a:t>
            </a:r>
            <a:r>
              <a:rPr sz="3400" baseline="-25000" dirty="0">
                <a:solidFill>
                  <a:schemeClr val="tx1"/>
                </a:solidFill>
                <a:latin typeface="Times New Roman" panose="02020603050405020304" pitchFamily="18" charset="0"/>
                <a:cs typeface="Times New Roman" panose="02020603050405020304" pitchFamily="18" charset="0"/>
              </a:rPr>
              <a:t>3</a:t>
            </a:r>
            <a:r>
              <a:rPr dirty="0">
                <a:solidFill>
                  <a:schemeClr val="tx1"/>
                </a:solidFill>
                <a:latin typeface="Times New Roman" panose="02020603050405020304" pitchFamily="18" charset="0"/>
                <a:cs typeface="Times New Roman" panose="02020603050405020304" pitchFamily="18" charset="0"/>
              </a:rPr>
              <a:t> has a circle (“o”) at the </a:t>
            </a:r>
            <a:r>
              <a:rPr i="1" dirty="0">
                <a:solidFill>
                  <a:schemeClr val="tx1"/>
                </a:solidFill>
                <a:latin typeface="Times New Roman" panose="02020603050405020304" pitchFamily="18" charset="0"/>
                <a:cs typeface="Times New Roman" panose="02020603050405020304" pitchFamily="18" charset="0"/>
              </a:rPr>
              <a:t>X</a:t>
            </a:r>
            <a:r>
              <a:rPr sz="3400" baseline="-25000" dirty="0">
                <a:solidFill>
                  <a:schemeClr val="tx1"/>
                </a:solidFill>
                <a:latin typeface="Times New Roman" panose="02020603050405020304" pitchFamily="18" charset="0"/>
                <a:cs typeface="Times New Roman" panose="02020603050405020304" pitchFamily="18" charset="0"/>
              </a:rPr>
              <a:t>4</a:t>
            </a:r>
            <a:r>
              <a:rPr dirty="0">
                <a:solidFill>
                  <a:schemeClr val="tx1"/>
                </a:solidFill>
                <a:latin typeface="Times New Roman" panose="02020603050405020304" pitchFamily="18" charset="0"/>
                <a:cs typeface="Times New Roman" panose="02020603050405020304" pitchFamily="18" charset="0"/>
              </a:rPr>
              <a:t> end, and an arrowhead (“&gt;”) at the </a:t>
            </a:r>
            <a:r>
              <a:rPr i="1" dirty="0">
                <a:solidFill>
                  <a:schemeClr val="tx1"/>
                </a:solidFill>
                <a:latin typeface="Times New Roman" panose="02020603050405020304" pitchFamily="18" charset="0"/>
                <a:cs typeface="Times New Roman" panose="02020603050405020304" pitchFamily="18" charset="0"/>
              </a:rPr>
              <a:t>X</a:t>
            </a:r>
            <a:r>
              <a:rPr sz="3400" baseline="-25000" dirty="0">
                <a:solidFill>
                  <a:schemeClr val="tx1"/>
                </a:solidFill>
                <a:latin typeface="Times New Roman" panose="02020603050405020304" pitchFamily="18" charset="0"/>
                <a:cs typeface="Times New Roman" panose="02020603050405020304" pitchFamily="18" charset="0"/>
              </a:rPr>
              <a:t>3</a:t>
            </a:r>
            <a:r>
              <a:rPr dirty="0">
                <a:solidFill>
                  <a:schemeClr val="tx1"/>
                </a:solidFill>
                <a:latin typeface="Times New Roman" panose="02020603050405020304" pitchFamily="18" charset="0"/>
                <a:cs typeface="Times New Roman" panose="02020603050405020304" pitchFamily="18" charset="0"/>
              </a:rPr>
              <a:t> end.</a:t>
            </a:r>
          </a:p>
        </p:txBody>
      </p:sp>
    </p:spTree>
    <p:extLst>
      <p:ext uri="{BB962C8B-B14F-4D97-AF65-F5344CB8AC3E}">
        <p14:creationId xmlns:p14="http://schemas.microsoft.com/office/powerpoint/2010/main" val="2893611057"/>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Hidden Causal Representation Learning: Starting Point"/>
          <p:cNvSpPr txBox="1">
            <a:spLocks noGrp="1"/>
          </p:cNvSpPr>
          <p:nvPr>
            <p:ph type="title"/>
          </p:nvPr>
        </p:nvSpPr>
        <p:spPr>
          <a:prstGeom prst="rect">
            <a:avLst/>
          </a:prstGeom>
        </p:spPr>
        <p:txBody>
          <a:bodyPr/>
          <a:lstStyle>
            <a:lvl1pPr>
              <a:defRPr sz="4300">
                <a:latin typeface="Baskerville"/>
                <a:ea typeface="Baskerville"/>
                <a:cs typeface="Baskerville"/>
                <a:sym typeface="Baskerville"/>
              </a:defRPr>
            </a:lvl1pPr>
          </a:lstStyle>
          <a:p>
            <a:r>
              <a:rPr sz="8000"/>
              <a:t>Causal Representation Learning</a:t>
            </a:r>
          </a:p>
        </p:txBody>
      </p:sp>
    </p:spTree>
    <p:extLst>
      <p:ext uri="{BB962C8B-B14F-4D97-AF65-F5344CB8AC3E}">
        <p14:creationId xmlns:p14="http://schemas.microsoft.com/office/powerpoint/2010/main" val="3465711764"/>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Hidden Causal Representation Learning: Starting Point"/>
          <p:cNvSpPr txBox="1">
            <a:spLocks noGrp="1"/>
          </p:cNvSpPr>
          <p:nvPr>
            <p:ph type="title"/>
          </p:nvPr>
        </p:nvSpPr>
        <p:spPr>
          <a:prstGeom prst="rect">
            <a:avLst/>
          </a:prstGeom>
        </p:spPr>
        <p:txBody>
          <a:bodyPr/>
          <a:lstStyle>
            <a:lvl1pPr>
              <a:defRPr sz="4300">
                <a:latin typeface="Baskerville"/>
                <a:ea typeface="Baskerville"/>
                <a:cs typeface="Baskerville"/>
                <a:sym typeface="Baskerville"/>
              </a:defRPr>
            </a:lvl1pPr>
          </a:lstStyle>
          <a:p>
            <a:r>
              <a:rPr sz="5400"/>
              <a:t>Hidden Causal Representation Learning: Starting Point</a:t>
            </a:r>
          </a:p>
        </p:txBody>
      </p:sp>
      <p:sp>
        <p:nvSpPr>
          <p:cNvPr id="2" name="Text Placeholder 1">
            <a:extLst>
              <a:ext uri="{FF2B5EF4-FFF2-40B4-BE49-F238E27FC236}">
                <a16:creationId xmlns:a16="http://schemas.microsoft.com/office/drawing/2014/main" id="{C8A91F23-B727-E64B-97C1-D8EA187E251B}"/>
              </a:ext>
            </a:extLst>
          </p:cNvPr>
          <p:cNvSpPr>
            <a:spLocks noGrp="1"/>
          </p:cNvSpPr>
          <p:nvPr>
            <p:ph type="body" idx="1"/>
          </p:nvPr>
        </p:nvSpPr>
        <p:spPr/>
        <p:txBody>
          <a:bodyPr/>
          <a:lstStyle/>
          <a:p>
            <a:endParaRPr lang="en-US"/>
          </a:p>
        </p:txBody>
      </p:sp>
      <p:pic>
        <p:nvPicPr>
          <p:cNvPr id="790" name="Image" descr="Image"/>
          <p:cNvPicPr>
            <a:picLocks noChangeAspect="1"/>
          </p:cNvPicPr>
          <p:nvPr/>
        </p:nvPicPr>
        <p:blipFill>
          <a:blip r:embed="rId3"/>
          <a:stretch>
            <a:fillRect/>
          </a:stretch>
        </p:blipFill>
        <p:spPr>
          <a:xfrm>
            <a:off x="7675212" y="4660683"/>
            <a:ext cx="3045954" cy="2336581"/>
          </a:xfrm>
          <a:prstGeom prst="rect">
            <a:avLst/>
          </a:prstGeom>
          <a:ln w="12700">
            <a:miter lim="400000"/>
          </a:ln>
        </p:spPr>
      </p:pic>
      <p:grpSp>
        <p:nvGrpSpPr>
          <p:cNvPr id="793" name="Group"/>
          <p:cNvGrpSpPr/>
          <p:nvPr/>
        </p:nvGrpSpPr>
        <p:grpSpPr>
          <a:xfrm>
            <a:off x="8180621" y="3948167"/>
            <a:ext cx="2034215" cy="3136733"/>
            <a:chOff x="0" y="0"/>
            <a:chExt cx="2034214" cy="3136731"/>
          </a:xfrm>
        </p:grpSpPr>
        <p:sp>
          <p:nvSpPr>
            <p:cNvPr id="791" name="Rectangle"/>
            <p:cNvSpPr/>
            <p:nvPr/>
          </p:nvSpPr>
          <p:spPr>
            <a:xfrm>
              <a:off x="23780" y="2027"/>
              <a:ext cx="2001084" cy="3134705"/>
            </a:xfrm>
            <a:prstGeom prst="rect">
              <a:avLst/>
            </a:prstGeom>
            <a:solidFill>
              <a:srgbClr val="0F52FF">
                <a:alpha val="30317"/>
              </a:srgbClr>
            </a:solidFill>
            <a:ln w="12700" cap="flat">
              <a:noFill/>
              <a:miter lim="400000"/>
            </a:ln>
            <a:effectLst/>
          </p:spPr>
          <p:txBody>
            <a:bodyPr wrap="square" lIns="50800" tIns="50800" rIns="50800" bIns="50800" numCol="1" anchor="ctr">
              <a:noAutofit/>
            </a:bodyPr>
            <a:lstStyle/>
            <a:p>
              <a:pPr defTabSz="1130300">
                <a:defRPr sz="3200">
                  <a:solidFill>
                    <a:srgbClr val="FFFFFF"/>
                  </a:solidFill>
                  <a:latin typeface="Graphik"/>
                  <a:ea typeface="Graphik"/>
                  <a:cs typeface="Graphik"/>
                  <a:sym typeface="Graphik"/>
                </a:defRPr>
              </a:pPr>
              <a:endParaRPr/>
            </a:p>
          </p:txBody>
        </p:sp>
        <p:sp>
          <p:nvSpPr>
            <p:cNvPr id="792" name="Latent variables &amp; their causal structure"/>
            <p:cNvSpPr txBox="1"/>
            <p:nvPr/>
          </p:nvSpPr>
          <p:spPr>
            <a:xfrm>
              <a:off x="0" y="0"/>
              <a:ext cx="2034215" cy="69711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noAutofit/>
            </a:bodyPr>
            <a:lstStyle>
              <a:lvl1pPr algn="l" defTabSz="1733930">
                <a:lnSpc>
                  <a:spcPct val="90000"/>
                </a:lnSpc>
                <a:defRPr sz="1800">
                  <a:solidFill>
                    <a:srgbClr val="0E28FF"/>
                  </a:solidFill>
                  <a:latin typeface="Baskerville"/>
                  <a:ea typeface="Baskerville"/>
                  <a:cs typeface="Baskerville"/>
                  <a:sym typeface="Baskerville"/>
                </a:defRPr>
              </a:lvl1pPr>
            </a:lstStyle>
            <a:p>
              <a:r>
                <a:t>Latent variables &amp; their causal structure</a:t>
              </a:r>
            </a:p>
          </p:txBody>
        </p:sp>
      </p:grpSp>
      <p:pic>
        <p:nvPicPr>
          <p:cNvPr id="794" name="Image" descr="Image"/>
          <p:cNvPicPr>
            <a:picLocks noChangeAspect="1"/>
          </p:cNvPicPr>
          <p:nvPr/>
        </p:nvPicPr>
        <p:blipFill>
          <a:blip r:embed="rId4"/>
          <a:stretch>
            <a:fillRect/>
          </a:stretch>
        </p:blipFill>
        <p:spPr>
          <a:xfrm>
            <a:off x="5584161" y="5333206"/>
            <a:ext cx="2039678" cy="654844"/>
          </a:xfrm>
          <a:prstGeom prst="rect">
            <a:avLst/>
          </a:prstGeom>
          <a:ln w="12700">
            <a:miter lim="400000"/>
          </a:ln>
        </p:spPr>
      </p:pic>
      <p:pic>
        <p:nvPicPr>
          <p:cNvPr id="795" name="Screen Shot 2020-10-28 at 11.21.11 PM.png" descr="Screen Shot 2020-10-28 at 11.21.11 PM.png"/>
          <p:cNvPicPr>
            <a:picLocks noChangeAspect="1"/>
          </p:cNvPicPr>
          <p:nvPr/>
        </p:nvPicPr>
        <p:blipFill>
          <a:blip r:embed="rId5"/>
          <a:stretch>
            <a:fillRect/>
          </a:stretch>
        </p:blipFill>
        <p:spPr>
          <a:xfrm>
            <a:off x="1915398" y="4383730"/>
            <a:ext cx="3463105" cy="2484740"/>
          </a:xfrm>
          <a:prstGeom prst="rect">
            <a:avLst/>
          </a:prstGeom>
          <a:ln w="12700">
            <a:miter lim="400000"/>
          </a:ln>
        </p:spPr>
      </p:pic>
      <p:sp>
        <p:nvSpPr>
          <p:cNvPr id="796" name="Find latent variables Li and their causal relations from measured variables Xi ?"/>
          <p:cNvSpPr txBox="1"/>
          <p:nvPr/>
        </p:nvSpPr>
        <p:spPr>
          <a:xfrm>
            <a:off x="-38435" y="7050952"/>
            <a:ext cx="12781050" cy="11126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marL="888999" indent="-571499" algn="l">
              <a:spcBef>
                <a:spcPts val="2400"/>
              </a:spcBef>
              <a:buSzPct val="171000"/>
              <a:buChar char="•"/>
              <a:defRPr sz="3300">
                <a:latin typeface="Baskerville"/>
                <a:ea typeface="Baskerville"/>
                <a:cs typeface="Baskerville"/>
                <a:sym typeface="Baskerville"/>
              </a:defRPr>
            </a:pPr>
            <a:r>
              <a:t>Find l</a:t>
            </a:r>
            <a:r>
              <a:rPr>
                <a:solidFill>
                  <a:srgbClr val="0033FF"/>
                </a:solidFill>
              </a:rPr>
              <a:t>atent variables </a:t>
            </a:r>
            <a:r>
              <a:rPr i="1">
                <a:solidFill>
                  <a:srgbClr val="0033FF"/>
                </a:solidFill>
                <a:latin typeface="Times New Roman"/>
                <a:ea typeface="Times New Roman"/>
                <a:cs typeface="Times New Roman"/>
                <a:sym typeface="Times New Roman"/>
              </a:rPr>
              <a:t>L</a:t>
            </a:r>
            <a:r>
              <a:rPr sz="3500" i="1" baseline="-5999">
                <a:solidFill>
                  <a:srgbClr val="0033FF"/>
                </a:solidFill>
                <a:latin typeface="Times New Roman"/>
                <a:ea typeface="Times New Roman"/>
                <a:cs typeface="Times New Roman"/>
                <a:sym typeface="Times New Roman"/>
              </a:rPr>
              <a:t>i</a:t>
            </a:r>
            <a:r>
              <a:rPr>
                <a:solidFill>
                  <a:srgbClr val="0033FF"/>
                </a:solidFill>
              </a:rPr>
              <a:t> and their causal relations</a:t>
            </a:r>
            <a:r>
              <a:t> from measured variables </a:t>
            </a:r>
            <a:r>
              <a:rPr i="1">
                <a:latin typeface="Times New Roman"/>
                <a:ea typeface="Times New Roman"/>
                <a:cs typeface="Times New Roman"/>
                <a:sym typeface="Times New Roman"/>
              </a:rPr>
              <a:t>X</a:t>
            </a:r>
            <a:r>
              <a:rPr sz="3500" i="1" baseline="-5999">
                <a:latin typeface="Times New Roman"/>
                <a:ea typeface="Times New Roman"/>
                <a:cs typeface="Times New Roman"/>
                <a:sym typeface="Times New Roman"/>
              </a:rPr>
              <a:t>i</a:t>
            </a:r>
            <a:r>
              <a:rPr i="1" baseline="-5999">
                <a:latin typeface="Times New Roman"/>
                <a:ea typeface="Times New Roman"/>
                <a:cs typeface="Times New Roman"/>
                <a:sym typeface="Times New Roman"/>
              </a:rPr>
              <a:t> </a:t>
            </a:r>
            <a:r>
              <a:t>?</a:t>
            </a:r>
          </a:p>
        </p:txBody>
      </p:sp>
      <p:sp>
        <p:nvSpPr>
          <p:cNvPr id="797" name="Measured variables (e.g., answer scores in psychometric questionnaires) were generated by causally related latent variables"/>
          <p:cNvSpPr txBox="1"/>
          <p:nvPr/>
        </p:nvSpPr>
        <p:spPr>
          <a:xfrm>
            <a:off x="-38100" y="2946400"/>
            <a:ext cx="13004800" cy="1066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marL="888999" indent="-571499" algn="l">
              <a:spcBef>
                <a:spcPts val="2400"/>
              </a:spcBef>
              <a:buSzPct val="171000"/>
              <a:buChar char="•"/>
              <a:defRPr sz="3300">
                <a:latin typeface="Baskerville"/>
                <a:ea typeface="Baskerville"/>
                <a:cs typeface="Baskerville"/>
                <a:sym typeface="Baskerville"/>
              </a:defRPr>
            </a:pPr>
            <a:r>
              <a:rPr u="sng"/>
              <a:t>Measured</a:t>
            </a:r>
            <a:r>
              <a:t> variables (e.g., answer scores in psychometric questionnaires) were </a:t>
            </a:r>
            <a:r>
              <a:rPr u="sng"/>
              <a:t>generated by causally related latent variables</a:t>
            </a:r>
          </a:p>
        </p:txBody>
      </p:sp>
      <p:sp>
        <p:nvSpPr>
          <p:cNvPr id="799" name="Silva, Glymour, Scheines, Spirtes, Learning the structure of latent linear structure models, JMLR, 2006.…"/>
          <p:cNvSpPr txBox="1"/>
          <p:nvPr/>
        </p:nvSpPr>
        <p:spPr>
          <a:xfrm>
            <a:off x="151174" y="8199267"/>
            <a:ext cx="12584523" cy="15417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marL="672756" indent="-355256" algn="l" defTabSz="457200">
              <a:lnSpc>
                <a:spcPct val="110000"/>
              </a:lnSpc>
              <a:buSzPct val="171000"/>
              <a:buChar char="-"/>
              <a:defRPr sz="1900" i="1">
                <a:solidFill>
                  <a:srgbClr val="56533A"/>
                </a:solidFill>
                <a:effectLst>
                  <a:outerShdw blurRad="25400" dist="25400" dir="2700000" rotWithShape="0">
                    <a:srgbClr val="FFFFFF">
                      <a:alpha val="75000"/>
                    </a:srgbClr>
                  </a:outerShdw>
                </a:effectLst>
              </a:defRPr>
            </a:pPr>
            <a:r>
              <a:t>Silva, Glymour, Scheines, Spirtes, Learning the structure of latent linear structure models, JMLR, 2006. </a:t>
            </a:r>
          </a:p>
          <a:p>
            <a:pPr marL="672756" indent="-355256" algn="l" defTabSz="457200">
              <a:lnSpc>
                <a:spcPct val="110000"/>
              </a:lnSpc>
              <a:buSzPct val="171000"/>
              <a:buChar char="-"/>
              <a:defRPr sz="1900" i="1">
                <a:solidFill>
                  <a:srgbClr val="56533A"/>
                </a:solidFill>
                <a:effectLst>
                  <a:outerShdw blurRad="25400" dist="25400" dir="2700000" rotWithShape="0">
                    <a:srgbClr val="FFFFFF">
                      <a:alpha val="75000"/>
                    </a:srgbClr>
                  </a:outerShdw>
                </a:effectLst>
              </a:defRPr>
            </a:pPr>
            <a:r>
              <a:t>Spirtes, Calculation of Entailed Rank Constraints in Partially Non-Linear and Cyclic Models, UAI 2013</a:t>
            </a:r>
          </a:p>
          <a:p>
            <a:pPr marL="672756" indent="-355256" algn="l" defTabSz="457200">
              <a:lnSpc>
                <a:spcPct val="110000"/>
              </a:lnSpc>
              <a:buSzPct val="171000"/>
              <a:buChar char="-"/>
              <a:defRPr sz="1900" i="1">
                <a:solidFill>
                  <a:srgbClr val="56533A"/>
                </a:solidFill>
                <a:effectLst>
                  <a:outerShdw blurRad="25400" dist="25400" dir="2700000" rotWithShape="0">
                    <a:srgbClr val="FFFFFF">
                      <a:alpha val="75000"/>
                    </a:srgbClr>
                  </a:outerShdw>
                </a:effectLst>
              </a:defRPr>
            </a:pPr>
            <a:r>
              <a:t>Kummerfeld, Ramsey, Yang, Spirtes, Scheines, Causal Clustering for 2-Factor Measurement Models, ECML PKDD 2014.</a:t>
            </a:r>
          </a:p>
          <a:p>
            <a:pPr marL="672756" indent="-355256" algn="l" defTabSz="457200">
              <a:lnSpc>
                <a:spcPct val="110000"/>
              </a:lnSpc>
              <a:buSzPct val="171000"/>
              <a:buChar char="-"/>
              <a:defRPr sz="1900" i="1">
                <a:solidFill>
                  <a:srgbClr val="56533A"/>
                </a:solidFill>
                <a:effectLst>
                  <a:outerShdw blurRad="25400" dist="25400" dir="2700000" rotWithShape="0">
                    <a:srgbClr val="FFFFFF">
                      <a:alpha val="75000"/>
                    </a:srgbClr>
                  </a:outerShdw>
                </a:effectLst>
              </a:defRPr>
            </a:pPr>
            <a:r>
              <a:t>Xie, Cai, Huang, Glymour, Hao, Zhang, "Generalized Independent Noise Condition for Estimating Linear Non-Gaussian Latent Variable Causal Graphs," NeurIPS 2020</a:t>
            </a:r>
          </a:p>
        </p:txBody>
      </p:sp>
    </p:spTree>
    <p:extLst>
      <p:ext uri="{BB962C8B-B14F-4D97-AF65-F5344CB8AC3E}">
        <p14:creationId xmlns:p14="http://schemas.microsoft.com/office/powerpoint/2010/main" val="3134209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7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7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 grpId="0" animBg="1" advAuto="0"/>
      <p:bldP spid="794" grpId="0" animBg="1" advAuto="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1530" y="-201180"/>
            <a:ext cx="10464800" cy="2438400"/>
          </a:xfrm>
        </p:spPr>
        <p:txBody>
          <a:bodyPr/>
          <a:lstStyle/>
          <a:p>
            <a:pPr>
              <a:defRPr/>
            </a:pPr>
            <a:r>
              <a:rPr lang="en-US" sz="6600" dirty="0">
                <a:solidFill>
                  <a:schemeClr val="tx1"/>
                </a:solidFill>
                <a:latin typeface="Times New Roman" panose="02020603050405020304" pitchFamily="18" charset="0"/>
                <a:cs typeface="Times New Roman" panose="02020603050405020304" pitchFamily="18" charset="0"/>
              </a:rPr>
              <a:t>Spearman</a:t>
            </a:r>
          </a:p>
        </p:txBody>
      </p:sp>
      <p:sp>
        <p:nvSpPr>
          <p:cNvPr id="3" name="Content Placeholder 2"/>
          <p:cNvSpPr>
            <a:spLocks noGrp="1"/>
          </p:cNvSpPr>
          <p:nvPr>
            <p:ph type="body" idx="1"/>
          </p:nvPr>
        </p:nvSpPr>
        <p:spPr>
          <a:xfrm>
            <a:off x="1270000" y="2405223"/>
            <a:ext cx="10464800" cy="5715000"/>
          </a:xfrm>
        </p:spPr>
        <p:txBody>
          <a:bodyPr>
            <a:normAutofit fontScale="55000" lnSpcReduction="20000"/>
          </a:bodyPr>
          <a:lstStyle/>
          <a:p>
            <a:pPr marL="0" indent="0">
              <a:buNone/>
              <a:defRPr/>
            </a:pPr>
            <a:r>
              <a:rPr lang="en-US" dirty="0">
                <a:solidFill>
                  <a:srgbClr val="000000"/>
                </a:solidFill>
                <a:effectLst>
                  <a:innerShdw blurRad="63500" dist="50800" dir="13500000">
                    <a:prstClr val="black">
                      <a:alpha val="50000"/>
                    </a:prstClr>
                  </a:innerShdw>
                </a:effectLst>
              </a:rPr>
              <a:t>                        </a:t>
            </a:r>
          </a:p>
          <a:p>
            <a:pPr marL="0" indent="0">
              <a:buNone/>
              <a:defRPr/>
            </a:pPr>
            <a:r>
              <a:rPr lang="en-US" dirty="0">
                <a:solidFill>
                  <a:srgbClr val="000000"/>
                </a:solidFill>
                <a:effectLst>
                  <a:innerShdw blurRad="63500" dist="50800" dir="13500000">
                    <a:prstClr val="black">
                      <a:alpha val="50000"/>
                    </a:prstClr>
                  </a:innerShdw>
                </a:effectLst>
              </a:rPr>
              <a:t>				     </a:t>
            </a:r>
          </a:p>
          <a:p>
            <a:pPr>
              <a:defRPr/>
            </a:pP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Spearman (1927) showed that a necessary condition for a single factor to (linearly) cause 4 measured variables is that the following three “tetrad differences” vanish:</a:t>
            </a:r>
          </a:p>
          <a:p>
            <a:pPr marL="650230" lvl="1" indent="0">
              <a:buNone/>
              <a:defRPr/>
            </a:pP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12</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34</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13</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24</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a b c d – a  c b d = 0</a:t>
            </a:r>
          </a:p>
          <a:p>
            <a:pPr marL="650230" lvl="1" indent="0">
              <a:buNone/>
              <a:defRPr/>
            </a:pP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13</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24</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14</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23</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a c b d – a d b c = 0</a:t>
            </a:r>
          </a:p>
          <a:p>
            <a:pPr marL="650230" lvl="1" indent="0">
              <a:buNone/>
              <a:defRPr/>
            </a:pP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12</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34</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14</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r</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23</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a c b d – a d b c = 0</a:t>
            </a:r>
          </a:p>
          <a:p>
            <a:pPr marL="717962" indent="-487672">
              <a:defRPr/>
            </a:pP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Alternative model: </a:t>
            </a:r>
          </a:p>
          <a:p>
            <a:pPr marL="717962" indent="-487672">
              <a:defRPr/>
            </a:pPr>
            <a:endPar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endParaRPr>
          </a:p>
          <a:p>
            <a:pPr marL="650230" lvl="1" indent="0">
              <a:buNone/>
              <a:defRPr/>
            </a:pP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X</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1     </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X</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2</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X</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3     </a:t>
            </a:r>
            <a:r>
              <a:rPr lang="en-US"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X</a:t>
            </a:r>
            <a:r>
              <a:rPr lang="en-US" baseline="-25000" dirty="0">
                <a:solidFill>
                  <a:schemeClr val="tx1"/>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4</a:t>
            </a:r>
          </a:p>
        </p:txBody>
      </p:sp>
      <p:sp>
        <p:nvSpPr>
          <p:cNvPr id="4" name="Slide Number Placeholder 3"/>
          <p:cNvSpPr>
            <a:spLocks noGrp="1"/>
          </p:cNvSpPr>
          <p:nvPr>
            <p:ph type="sldNum" sz="quarter" idx="2"/>
          </p:nvPr>
        </p:nvSpPr>
        <p:spPr/>
        <p:txBody>
          <a:bodyPr/>
          <a:lstStyle/>
          <a:p>
            <a:pPr defTabSz="650230" hangingPunct="1">
              <a:defRPr/>
            </a:pPr>
            <a:fld id="{F61B0B4C-3CB5-9F48-9DD2-1EE7E19829DA}" type="slidenum">
              <a:rPr lang="en-US" kern="1200">
                <a:solidFill>
                  <a:srgbClr val="1B3861"/>
                </a:solidFill>
                <a:latin typeface="Trebuchet MS"/>
              </a:rPr>
              <a:pPr defTabSz="650230" hangingPunct="1">
                <a:defRPr/>
              </a:pPr>
              <a:t>64</a:t>
            </a:fld>
            <a:endParaRPr lang="en-US" kern="1200">
              <a:solidFill>
                <a:srgbClr val="1B3861"/>
              </a:solidFill>
              <a:latin typeface="Trebuchet MS"/>
            </a:endParaRPr>
          </a:p>
        </p:txBody>
      </p:sp>
      <p:grpSp>
        <p:nvGrpSpPr>
          <p:cNvPr id="9" name="Group 8"/>
          <p:cNvGrpSpPr/>
          <p:nvPr/>
        </p:nvGrpSpPr>
        <p:grpSpPr>
          <a:xfrm>
            <a:off x="4462509" y="2035363"/>
            <a:ext cx="3171220" cy="832485"/>
            <a:chOff x="2722064" y="2423176"/>
            <a:chExt cx="2403475" cy="858837"/>
          </a:xfrm>
        </p:grpSpPr>
        <p:cxnSp>
          <p:nvCxnSpPr>
            <p:cNvPr id="5" name="Straight Arrow Connector 4"/>
            <p:cNvCxnSpPr/>
            <p:nvPr/>
          </p:nvCxnSpPr>
          <p:spPr bwMode="auto">
            <a:xfrm flipH="1">
              <a:off x="2722064" y="2440638"/>
              <a:ext cx="1166812" cy="771525"/>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 name="Straight Arrow Connector 5"/>
            <p:cNvCxnSpPr/>
            <p:nvPr/>
          </p:nvCxnSpPr>
          <p:spPr bwMode="auto">
            <a:xfrm flipH="1">
              <a:off x="3631701" y="2423176"/>
              <a:ext cx="274638" cy="773112"/>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 name="Straight Arrow Connector 6"/>
            <p:cNvCxnSpPr/>
            <p:nvPr/>
          </p:nvCxnSpPr>
          <p:spPr bwMode="auto">
            <a:xfrm>
              <a:off x="3941264" y="2491438"/>
              <a:ext cx="428625" cy="790575"/>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 name="Straight Arrow Connector 7"/>
            <p:cNvCxnSpPr/>
            <p:nvPr/>
          </p:nvCxnSpPr>
          <p:spPr bwMode="auto">
            <a:xfrm>
              <a:off x="3923801" y="2458101"/>
              <a:ext cx="1201738" cy="806450"/>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sp>
        <p:nvSpPr>
          <p:cNvPr id="10" name="TextBox 9"/>
          <p:cNvSpPr txBox="1"/>
          <p:nvPr/>
        </p:nvSpPr>
        <p:spPr>
          <a:xfrm>
            <a:off x="3748237" y="1565844"/>
            <a:ext cx="7626778" cy="1710212"/>
          </a:xfrm>
          <a:prstGeom prst="rect">
            <a:avLst/>
          </a:prstGeom>
          <a:noFill/>
        </p:spPr>
        <p:txBody>
          <a:bodyPr wrap="square" rtlCol="0">
            <a:spAutoFit/>
          </a:bodyPr>
          <a:lstStyle/>
          <a:p>
            <a:pPr algn="l" defTabSz="650230" hangingPunct="1">
              <a:spcBef>
                <a:spcPts val="2560"/>
              </a:spcBef>
              <a:defRPr/>
            </a:pPr>
            <a:r>
              <a:rPr lang="en-US" sz="2560" kern="1200" dirty="0">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L                           </a:t>
            </a:r>
          </a:p>
          <a:p>
            <a:pPr algn="l" defTabSz="650230" hangingPunct="1">
              <a:spcBef>
                <a:spcPts val="1707"/>
              </a:spcBef>
              <a:defRPr/>
            </a:pPr>
            <a:r>
              <a:rPr lang="en-US" sz="2560" kern="1200" dirty="0">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a:t>
            </a:r>
            <a:r>
              <a:rPr lang="en-US" sz="2560" kern="12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a       b      c        d </a:t>
            </a:r>
          </a:p>
          <a:p>
            <a:pPr algn="l" defTabSz="650230" hangingPunct="1">
              <a:spcBef>
                <a:spcPts val="1707"/>
              </a:spcBef>
              <a:defRPr/>
            </a:pPr>
            <a:r>
              <a:rPr lang="en-US" sz="2560" kern="12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a:t>
            </a:r>
            <a:r>
              <a:rPr lang="en-US" sz="2560" kern="1200" dirty="0">
                <a:solidFill>
                  <a:prstClr val="black"/>
                </a:solidFill>
                <a:latin typeface="Times New Roman" panose="02020603050405020304" pitchFamily="18" charset="0"/>
                <a:cs typeface="Times New Roman" panose="02020603050405020304" pitchFamily="18" charset="0"/>
              </a:rPr>
              <a:t>X</a:t>
            </a:r>
            <a:r>
              <a:rPr lang="en-US" sz="2560" kern="1200" baseline="-25000" dirty="0">
                <a:solidFill>
                  <a:prstClr val="black"/>
                </a:solidFill>
                <a:latin typeface="Times New Roman" panose="02020603050405020304" pitchFamily="18" charset="0"/>
                <a:cs typeface="Times New Roman" panose="02020603050405020304" pitchFamily="18" charset="0"/>
              </a:rPr>
              <a:t>1</a:t>
            </a:r>
            <a:r>
              <a:rPr lang="en-US" sz="2560" kern="1200" dirty="0">
                <a:solidFill>
                  <a:prstClr val="black"/>
                </a:solidFill>
                <a:latin typeface="Times New Roman" panose="02020603050405020304" pitchFamily="18" charset="0"/>
                <a:cs typeface="Times New Roman" panose="02020603050405020304" pitchFamily="18" charset="0"/>
              </a:rPr>
              <a:t>        X</a:t>
            </a:r>
            <a:r>
              <a:rPr lang="en-US" sz="2560" kern="1200" baseline="-25000" dirty="0">
                <a:solidFill>
                  <a:prstClr val="black"/>
                </a:solidFill>
                <a:latin typeface="Times New Roman" panose="02020603050405020304" pitchFamily="18" charset="0"/>
                <a:cs typeface="Times New Roman" panose="02020603050405020304" pitchFamily="18" charset="0"/>
              </a:rPr>
              <a:t>2</a:t>
            </a:r>
            <a:r>
              <a:rPr lang="en-US" sz="2560" kern="1200" dirty="0">
                <a:solidFill>
                  <a:prstClr val="black"/>
                </a:solidFill>
                <a:latin typeface="Times New Roman" panose="02020603050405020304" pitchFamily="18" charset="0"/>
                <a:cs typeface="Times New Roman" panose="02020603050405020304" pitchFamily="18" charset="0"/>
              </a:rPr>
              <a:t>        X</a:t>
            </a:r>
            <a:r>
              <a:rPr lang="en-US" sz="2560" kern="1200" baseline="-25000" dirty="0">
                <a:solidFill>
                  <a:prstClr val="black"/>
                </a:solidFill>
                <a:latin typeface="Times New Roman" panose="02020603050405020304" pitchFamily="18" charset="0"/>
                <a:cs typeface="Times New Roman" panose="02020603050405020304" pitchFamily="18" charset="0"/>
              </a:rPr>
              <a:t>3</a:t>
            </a:r>
            <a:r>
              <a:rPr lang="en-US" sz="2560" kern="1200" dirty="0">
                <a:solidFill>
                  <a:prstClr val="black"/>
                </a:solidFill>
                <a:latin typeface="Times New Roman" panose="02020603050405020304" pitchFamily="18" charset="0"/>
                <a:cs typeface="Times New Roman" panose="02020603050405020304" pitchFamily="18" charset="0"/>
              </a:rPr>
              <a:t>       X</a:t>
            </a:r>
            <a:r>
              <a:rPr lang="en-US" sz="2560" kern="1200" baseline="-25000" dirty="0">
                <a:solidFill>
                  <a:prstClr val="black"/>
                </a:solidFill>
                <a:latin typeface="Times New Roman" panose="02020603050405020304" pitchFamily="18" charset="0"/>
                <a:cs typeface="Times New Roman" panose="02020603050405020304" pitchFamily="18" charset="0"/>
              </a:rPr>
              <a:t>4      </a:t>
            </a:r>
            <a:r>
              <a:rPr lang="en-US" sz="2560" kern="1200" baseline="-25000" dirty="0">
                <a:solidFill>
                  <a:prstClr val="white"/>
                </a:solidFill>
                <a:latin typeface="Times New Roman" panose="02020603050405020304" pitchFamily="18" charset="0"/>
                <a:cs typeface="Times New Roman" panose="02020603050405020304" pitchFamily="18" charset="0"/>
              </a:rPr>
              <a:t>           </a:t>
            </a:r>
          </a:p>
        </p:txBody>
      </p:sp>
      <p:sp>
        <p:nvSpPr>
          <p:cNvPr id="11" name="TextBox 10"/>
          <p:cNvSpPr txBox="1"/>
          <p:nvPr/>
        </p:nvSpPr>
        <p:spPr>
          <a:xfrm>
            <a:off x="8736360" y="1633377"/>
            <a:ext cx="3047019" cy="1668149"/>
          </a:xfrm>
          <a:prstGeom prst="rect">
            <a:avLst/>
          </a:prstGeom>
          <a:noFill/>
        </p:spPr>
        <p:txBody>
          <a:bodyPr wrap="square" rtlCol="0">
            <a:spAutoFit/>
          </a:bodyPr>
          <a:lstStyle/>
          <a:p>
            <a:pPr algn="l" defTabSz="650230" hangingPunct="1"/>
            <a:r>
              <a:rPr lang="en-US" sz="2560" kern="12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X</a:t>
            </a:r>
            <a:r>
              <a:rPr lang="en-US" sz="2560" kern="1200" baseline="-250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1</a:t>
            </a:r>
            <a:r>
              <a:rPr lang="en-US" sz="2560" kern="12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a L + ε</a:t>
            </a:r>
            <a:r>
              <a:rPr lang="en-US" sz="2560" kern="1200" baseline="-250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X1</a:t>
            </a:r>
          </a:p>
          <a:p>
            <a:pPr algn="l" defTabSz="650230" hangingPunct="1"/>
            <a:r>
              <a:rPr lang="en-US" sz="2560" kern="12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X</a:t>
            </a:r>
            <a:r>
              <a:rPr lang="en-US" sz="2560" kern="1200" baseline="-250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2</a:t>
            </a:r>
            <a:r>
              <a:rPr lang="en-US" sz="2560" kern="12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b L + ε</a:t>
            </a:r>
            <a:r>
              <a:rPr lang="en-US" sz="2560" kern="1200" baseline="-250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X2 </a:t>
            </a:r>
            <a:endParaRPr lang="en-US" sz="3413" kern="1200" baseline="-250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endParaRPr>
          </a:p>
          <a:p>
            <a:pPr algn="l" defTabSz="650230" hangingPunct="1"/>
            <a:r>
              <a:rPr lang="en-US" sz="2560" kern="12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X</a:t>
            </a:r>
            <a:r>
              <a:rPr lang="en-US" sz="2560" kern="1200" baseline="-250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3</a:t>
            </a:r>
            <a:r>
              <a:rPr lang="en-US" sz="2560" kern="12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c L + ε</a:t>
            </a:r>
            <a:r>
              <a:rPr lang="en-US" sz="2560" kern="1200" baseline="-250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X3</a:t>
            </a:r>
          </a:p>
          <a:p>
            <a:pPr algn="l" defTabSz="650230" hangingPunct="1"/>
            <a:r>
              <a:rPr lang="en-US" sz="2560" kern="12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X</a:t>
            </a:r>
            <a:r>
              <a:rPr lang="en-US" sz="2560" kern="1200" baseline="-250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4</a:t>
            </a:r>
            <a:r>
              <a:rPr lang="en-US" sz="2560" kern="12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 = d L + ε</a:t>
            </a:r>
            <a:r>
              <a:rPr lang="en-US" sz="2560" kern="1200" baseline="-25000" dirty="0">
                <a:solidFill>
                  <a:prstClr val="black"/>
                </a:solidFill>
                <a:effectLst>
                  <a:innerShdw blurRad="63500" dist="50800" dir="13500000">
                    <a:prstClr val="black">
                      <a:alpha val="50000"/>
                    </a:prstClr>
                  </a:innerShdw>
                </a:effectLst>
                <a:latin typeface="Times New Roman" panose="02020603050405020304" pitchFamily="18" charset="0"/>
                <a:cs typeface="Times New Roman" panose="02020603050405020304" pitchFamily="18" charset="0"/>
              </a:rPr>
              <a:t>X4</a:t>
            </a:r>
          </a:p>
        </p:txBody>
      </p:sp>
      <p:cxnSp>
        <p:nvCxnSpPr>
          <p:cNvPr id="13" name="Straight Arrow Connector 12"/>
          <p:cNvCxnSpPr/>
          <p:nvPr/>
        </p:nvCxnSpPr>
        <p:spPr>
          <a:xfrm>
            <a:off x="2321100" y="7844264"/>
            <a:ext cx="1101796"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3956057" y="7880388"/>
            <a:ext cx="1101796"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5705041" y="7844264"/>
            <a:ext cx="1101796"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995980" y="7176908"/>
            <a:ext cx="3233138" cy="414485"/>
          </a:xfrm>
          <a:custGeom>
            <a:avLst/>
            <a:gdLst>
              <a:gd name="connsiteX0" fmla="*/ 0 w 2273300"/>
              <a:gd name="connsiteY0" fmla="*/ 253335 h 291435"/>
              <a:gd name="connsiteX1" fmla="*/ 673100 w 2273300"/>
              <a:gd name="connsiteY1" fmla="*/ 12035 h 291435"/>
              <a:gd name="connsiteX2" fmla="*/ 1587500 w 2273300"/>
              <a:gd name="connsiteY2" fmla="*/ 62835 h 291435"/>
              <a:gd name="connsiteX3" fmla="*/ 2273300 w 2273300"/>
              <a:gd name="connsiteY3" fmla="*/ 291435 h 291435"/>
            </a:gdLst>
            <a:ahLst/>
            <a:cxnLst>
              <a:cxn ang="0">
                <a:pos x="connsiteX0" y="connsiteY0"/>
              </a:cxn>
              <a:cxn ang="0">
                <a:pos x="connsiteX1" y="connsiteY1"/>
              </a:cxn>
              <a:cxn ang="0">
                <a:pos x="connsiteX2" y="connsiteY2"/>
              </a:cxn>
              <a:cxn ang="0">
                <a:pos x="connsiteX3" y="connsiteY3"/>
              </a:cxn>
            </a:cxnLst>
            <a:rect l="l" t="t" r="r" b="b"/>
            <a:pathLst>
              <a:path w="2273300" h="291435">
                <a:moveTo>
                  <a:pt x="0" y="253335"/>
                </a:moveTo>
                <a:cubicBezTo>
                  <a:pt x="204258" y="148560"/>
                  <a:pt x="408517" y="43785"/>
                  <a:pt x="673100" y="12035"/>
                </a:cubicBezTo>
                <a:cubicBezTo>
                  <a:pt x="937683" y="-19715"/>
                  <a:pt x="1320800" y="16268"/>
                  <a:pt x="1587500" y="62835"/>
                </a:cubicBezTo>
                <a:cubicBezTo>
                  <a:pt x="1854200" y="109402"/>
                  <a:pt x="2273300" y="291435"/>
                  <a:pt x="2273300" y="291435"/>
                </a:cubicBezTo>
              </a:path>
            </a:pathLst>
          </a:cu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txBody>
          <a:bodyPr rtlCol="0" anchor="ctr"/>
          <a:lstStyle/>
          <a:p>
            <a:pPr defTabSz="650230" hangingPunct="1"/>
            <a:endParaRPr lang="en-US" sz="2560" kern="1200">
              <a:solidFill>
                <a:prstClr val="black"/>
              </a:solidFill>
              <a:latin typeface="Trebuchet MS"/>
            </a:endParaRPr>
          </a:p>
        </p:txBody>
      </p:sp>
      <p:sp>
        <p:nvSpPr>
          <p:cNvPr id="18" name="Freeform 17"/>
          <p:cNvSpPr/>
          <p:nvPr/>
        </p:nvSpPr>
        <p:spPr>
          <a:xfrm>
            <a:off x="3612549" y="7186412"/>
            <a:ext cx="3233138" cy="414485"/>
          </a:xfrm>
          <a:custGeom>
            <a:avLst/>
            <a:gdLst>
              <a:gd name="connsiteX0" fmla="*/ 0 w 2273300"/>
              <a:gd name="connsiteY0" fmla="*/ 253335 h 291435"/>
              <a:gd name="connsiteX1" fmla="*/ 673100 w 2273300"/>
              <a:gd name="connsiteY1" fmla="*/ 12035 h 291435"/>
              <a:gd name="connsiteX2" fmla="*/ 1587500 w 2273300"/>
              <a:gd name="connsiteY2" fmla="*/ 62835 h 291435"/>
              <a:gd name="connsiteX3" fmla="*/ 2273300 w 2273300"/>
              <a:gd name="connsiteY3" fmla="*/ 291435 h 291435"/>
            </a:gdLst>
            <a:ahLst/>
            <a:cxnLst>
              <a:cxn ang="0">
                <a:pos x="connsiteX0" y="connsiteY0"/>
              </a:cxn>
              <a:cxn ang="0">
                <a:pos x="connsiteX1" y="connsiteY1"/>
              </a:cxn>
              <a:cxn ang="0">
                <a:pos x="connsiteX2" y="connsiteY2"/>
              </a:cxn>
              <a:cxn ang="0">
                <a:pos x="connsiteX3" y="connsiteY3"/>
              </a:cxn>
            </a:cxnLst>
            <a:rect l="l" t="t" r="r" b="b"/>
            <a:pathLst>
              <a:path w="2273300" h="291435">
                <a:moveTo>
                  <a:pt x="0" y="253335"/>
                </a:moveTo>
                <a:cubicBezTo>
                  <a:pt x="204258" y="148560"/>
                  <a:pt x="408517" y="43785"/>
                  <a:pt x="673100" y="12035"/>
                </a:cubicBezTo>
                <a:cubicBezTo>
                  <a:pt x="937683" y="-19715"/>
                  <a:pt x="1320800" y="16268"/>
                  <a:pt x="1587500" y="62835"/>
                </a:cubicBezTo>
                <a:cubicBezTo>
                  <a:pt x="1854200" y="109402"/>
                  <a:pt x="2273300" y="291435"/>
                  <a:pt x="2273300" y="291435"/>
                </a:cubicBezTo>
              </a:path>
            </a:pathLst>
          </a:cu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txBody>
          <a:bodyPr rtlCol="0" anchor="ctr"/>
          <a:lstStyle/>
          <a:p>
            <a:pPr defTabSz="650230" hangingPunct="1"/>
            <a:endParaRPr lang="en-US" sz="2560" kern="1200">
              <a:solidFill>
                <a:prstClr val="black"/>
              </a:solidFill>
              <a:latin typeface="Trebuchet MS"/>
            </a:endParaRPr>
          </a:p>
        </p:txBody>
      </p:sp>
      <p:sp>
        <p:nvSpPr>
          <p:cNvPr id="20" name="Freeform 19"/>
          <p:cNvSpPr/>
          <p:nvPr/>
        </p:nvSpPr>
        <p:spPr>
          <a:xfrm>
            <a:off x="2032104" y="8205509"/>
            <a:ext cx="5039360" cy="556460"/>
          </a:xfrm>
          <a:custGeom>
            <a:avLst/>
            <a:gdLst>
              <a:gd name="connsiteX0" fmla="*/ 0 w 3543300"/>
              <a:gd name="connsiteY0" fmla="*/ 38100 h 391261"/>
              <a:gd name="connsiteX1" fmla="*/ 520700 w 3543300"/>
              <a:gd name="connsiteY1" fmla="*/ 342900 h 391261"/>
              <a:gd name="connsiteX2" fmla="*/ 2197100 w 3543300"/>
              <a:gd name="connsiteY2" fmla="*/ 355600 h 391261"/>
              <a:gd name="connsiteX3" fmla="*/ 3543300 w 3543300"/>
              <a:gd name="connsiteY3" fmla="*/ 0 h 391261"/>
            </a:gdLst>
            <a:ahLst/>
            <a:cxnLst>
              <a:cxn ang="0">
                <a:pos x="connsiteX0" y="connsiteY0"/>
              </a:cxn>
              <a:cxn ang="0">
                <a:pos x="connsiteX1" y="connsiteY1"/>
              </a:cxn>
              <a:cxn ang="0">
                <a:pos x="connsiteX2" y="connsiteY2"/>
              </a:cxn>
              <a:cxn ang="0">
                <a:pos x="connsiteX3" y="connsiteY3"/>
              </a:cxn>
            </a:cxnLst>
            <a:rect l="l" t="t" r="r" b="b"/>
            <a:pathLst>
              <a:path w="3543300" h="391261">
                <a:moveTo>
                  <a:pt x="0" y="38100"/>
                </a:moveTo>
                <a:cubicBezTo>
                  <a:pt x="77258" y="164041"/>
                  <a:pt x="154517" y="289983"/>
                  <a:pt x="520700" y="342900"/>
                </a:cubicBezTo>
                <a:cubicBezTo>
                  <a:pt x="886883" y="395817"/>
                  <a:pt x="1693333" y="412750"/>
                  <a:pt x="2197100" y="355600"/>
                </a:cubicBezTo>
                <a:cubicBezTo>
                  <a:pt x="2700867" y="298450"/>
                  <a:pt x="3543300" y="0"/>
                  <a:pt x="3543300" y="0"/>
                </a:cubicBezTo>
              </a:path>
            </a:pathLst>
          </a:cu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txBody>
          <a:bodyPr rtlCol="0" anchor="ctr"/>
          <a:lstStyle/>
          <a:p>
            <a:pPr defTabSz="650230" hangingPunct="1"/>
            <a:endParaRPr lang="en-US" sz="2560" kern="1200">
              <a:solidFill>
                <a:prstClr val="black"/>
              </a:solidFill>
              <a:latin typeface="Trebuchet MS"/>
            </a:endParaRPr>
          </a:p>
        </p:txBody>
      </p:sp>
      <p:pic>
        <p:nvPicPr>
          <p:cNvPr id="19" name="Picture 2" descr="http://tbn1.google.com/images?q=tbn:hlepFAuOvy6a4M:http://www.york.ac.uk/depts/maths/histstat/people/spearman.gif">
            <a:hlinkClick r:id="rId3"/>
          </p:cNvPr>
          <p:cNvPicPr>
            <a:picLocks noChangeAspect="1" noChangeArrowheads="1"/>
          </p:cNvPicPr>
          <p:nvPr/>
        </p:nvPicPr>
        <p:blipFill>
          <a:blip r:embed="rId4"/>
          <a:srcRect/>
          <a:stretch>
            <a:fillRect/>
          </a:stretch>
        </p:blipFill>
        <p:spPr bwMode="auto">
          <a:xfrm>
            <a:off x="8489245" y="4798143"/>
            <a:ext cx="3535945" cy="3670908"/>
          </a:xfrm>
          <a:prstGeom prst="rect">
            <a:avLst/>
          </a:prstGeom>
          <a:noFill/>
        </p:spPr>
      </p:pic>
    </p:spTree>
    <p:extLst>
      <p:ext uri="{BB962C8B-B14F-4D97-AF65-F5344CB8AC3E}">
        <p14:creationId xmlns:p14="http://schemas.microsoft.com/office/powerpoint/2010/main" val="4245260314"/>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33401" y="439743"/>
            <a:ext cx="11216642" cy="1413935"/>
          </a:xfrm>
        </p:spPr>
        <p:txBody>
          <a:bodyPr>
            <a:normAutofit fontScale="90000"/>
          </a:bodyPr>
          <a:lstStyle/>
          <a:p>
            <a:pPr>
              <a:defRPr/>
            </a:pPr>
            <a:r>
              <a:rPr lang="en-US" dirty="0" err="1"/>
              <a:t>Thurstone</a:t>
            </a:r>
            <a:r>
              <a:rPr lang="en-US" dirty="0"/>
              <a:t>(1935) – Factor Analysis	</a:t>
            </a:r>
          </a:p>
        </p:txBody>
      </p:sp>
      <p:sp>
        <p:nvSpPr>
          <p:cNvPr id="3" name="Content Placeholder 2"/>
          <p:cNvSpPr>
            <a:spLocks noGrp="1"/>
          </p:cNvSpPr>
          <p:nvPr>
            <p:ph type="body" idx="1"/>
          </p:nvPr>
        </p:nvSpPr>
        <p:spPr>
          <a:xfrm>
            <a:off x="1281848" y="2117882"/>
            <a:ext cx="11081173" cy="7134225"/>
          </a:xfrm>
        </p:spPr>
        <p:txBody>
          <a:bodyPr>
            <a:normAutofit/>
          </a:bodyPr>
          <a:lstStyle/>
          <a:p>
            <a:pPr>
              <a:defRPr/>
            </a:pPr>
            <a:r>
              <a:rPr lang="en-US" sz="3413" dirty="0">
                <a:effectLst>
                  <a:innerShdw blurRad="63500" dist="50800" dir="13500000">
                    <a:prstClr val="black">
                      <a:alpha val="50000"/>
                    </a:prstClr>
                  </a:innerShdw>
                </a:effectLst>
              </a:rPr>
              <a:t>Identify a small number of factors (latent variables) that explain the correlation matrix among the observed.</a:t>
            </a:r>
          </a:p>
          <a:p>
            <a:pPr marL="0" indent="0">
              <a:buNone/>
              <a:defRPr/>
            </a:pPr>
            <a:r>
              <a:rPr lang="en-US" sz="3413" dirty="0">
                <a:effectLst>
                  <a:innerShdw blurRad="63500" dist="50800" dir="13500000">
                    <a:prstClr val="black">
                      <a:alpha val="50000"/>
                    </a:prstClr>
                  </a:innerShdw>
                </a:effectLst>
              </a:rPr>
              <a:t>              </a:t>
            </a:r>
          </a:p>
          <a:p>
            <a:pPr marL="0" indent="0">
              <a:buNone/>
              <a:defRPr/>
            </a:pPr>
            <a:r>
              <a:rPr lang="en-US" sz="3413" dirty="0">
                <a:effectLst>
                  <a:innerShdw blurRad="63500" dist="50800" dir="13500000">
                    <a:prstClr val="black">
                      <a:alpha val="50000"/>
                    </a:prstClr>
                  </a:innerShdw>
                </a:effectLst>
              </a:rPr>
              <a:t>                   F</a:t>
            </a:r>
            <a:r>
              <a:rPr lang="en-US" sz="3413" baseline="-25000" dirty="0">
                <a:effectLst>
                  <a:innerShdw blurRad="63500" dist="50800" dir="13500000">
                    <a:prstClr val="black">
                      <a:alpha val="50000"/>
                    </a:prstClr>
                  </a:innerShdw>
                </a:effectLst>
              </a:rPr>
              <a:t>1</a:t>
            </a:r>
            <a:r>
              <a:rPr lang="en-US" sz="3413" dirty="0">
                <a:effectLst>
                  <a:innerShdw blurRad="63500" dist="50800" dir="13500000">
                    <a:prstClr val="black">
                      <a:alpha val="50000"/>
                    </a:prstClr>
                  </a:innerShdw>
                </a:effectLst>
              </a:rPr>
              <a:t>                                                  F</a:t>
            </a:r>
            <a:r>
              <a:rPr lang="en-US" sz="3413" baseline="-25000" dirty="0">
                <a:effectLst>
                  <a:innerShdw blurRad="63500" dist="50800" dir="13500000">
                    <a:prstClr val="black">
                      <a:alpha val="50000"/>
                    </a:prstClr>
                  </a:innerShdw>
                </a:effectLst>
              </a:rPr>
              <a:t>2</a:t>
            </a:r>
          </a:p>
          <a:p>
            <a:pPr marL="0" indent="0">
              <a:buNone/>
              <a:defRPr/>
            </a:pPr>
            <a:r>
              <a:rPr lang="en-US" sz="3413" dirty="0">
                <a:effectLst>
                  <a:innerShdw blurRad="63500" dist="50800" dir="13500000">
                    <a:prstClr val="black">
                      <a:alpha val="50000"/>
                    </a:prstClr>
                  </a:innerShdw>
                </a:effectLst>
              </a:rPr>
              <a:t>       L</a:t>
            </a:r>
            <a:r>
              <a:rPr lang="en-US" sz="3413" baseline="-25000" dirty="0">
                <a:effectLst>
                  <a:innerShdw blurRad="63500" dist="50800" dir="13500000">
                    <a:prstClr val="black">
                      <a:alpha val="50000"/>
                    </a:prstClr>
                  </a:innerShdw>
                </a:effectLst>
              </a:rPr>
              <a:t>11              </a:t>
            </a:r>
            <a:r>
              <a:rPr lang="en-US" sz="3413" dirty="0">
                <a:effectLst>
                  <a:innerShdw blurRad="63500" dist="50800" dir="13500000">
                    <a:prstClr val="black">
                      <a:alpha val="50000"/>
                    </a:prstClr>
                  </a:innerShdw>
                </a:effectLst>
              </a:rPr>
              <a:t>      L</a:t>
            </a:r>
            <a:r>
              <a:rPr lang="en-US" sz="3413" baseline="-25000" dirty="0">
                <a:effectLst>
                  <a:innerShdw blurRad="63500" dist="50800" dir="13500000">
                    <a:prstClr val="black">
                      <a:alpha val="50000"/>
                    </a:prstClr>
                  </a:innerShdw>
                </a:effectLst>
              </a:rPr>
              <a:t>14</a:t>
            </a:r>
            <a:r>
              <a:rPr lang="en-US" sz="3413" dirty="0">
                <a:effectLst>
                  <a:innerShdw blurRad="63500" dist="50800" dir="13500000">
                    <a:prstClr val="black">
                      <a:alpha val="50000"/>
                    </a:prstClr>
                  </a:innerShdw>
                </a:effectLst>
              </a:rPr>
              <a:t>                             L</a:t>
            </a:r>
            <a:r>
              <a:rPr lang="en-US" sz="3413" baseline="-25000" dirty="0">
                <a:effectLst>
                  <a:innerShdw blurRad="63500" dist="50800" dir="13500000">
                    <a:prstClr val="black">
                      <a:alpha val="50000"/>
                    </a:prstClr>
                  </a:innerShdw>
                </a:effectLst>
              </a:rPr>
              <a:t>25             </a:t>
            </a:r>
            <a:r>
              <a:rPr lang="en-US" sz="3413" dirty="0">
                <a:effectLst>
                  <a:innerShdw blurRad="63500" dist="50800" dir="13500000">
                    <a:prstClr val="black">
                      <a:alpha val="50000"/>
                    </a:prstClr>
                  </a:innerShdw>
                </a:effectLst>
              </a:rPr>
              <a:t>    L</a:t>
            </a:r>
            <a:r>
              <a:rPr lang="en-US" sz="3413" baseline="-25000" dirty="0">
                <a:effectLst>
                  <a:innerShdw blurRad="63500" dist="50800" dir="13500000">
                    <a:prstClr val="black">
                      <a:alpha val="50000"/>
                    </a:prstClr>
                  </a:innerShdw>
                </a:effectLst>
              </a:rPr>
              <a:t>28</a:t>
            </a:r>
            <a:r>
              <a:rPr lang="en-US" sz="3413" dirty="0">
                <a:effectLst>
                  <a:innerShdw blurRad="63500" dist="50800" dir="13500000">
                    <a:prstClr val="black">
                      <a:alpha val="50000"/>
                    </a:prstClr>
                  </a:innerShdw>
                </a:effectLst>
              </a:rPr>
              <a:t>  </a:t>
            </a:r>
          </a:p>
          <a:p>
            <a:pPr marL="0" indent="0">
              <a:buNone/>
              <a:defRPr/>
            </a:pPr>
            <a:endParaRPr lang="en-US" sz="3413" dirty="0">
              <a:effectLst>
                <a:innerShdw blurRad="63500" dist="50800" dir="13500000">
                  <a:prstClr val="black">
                    <a:alpha val="50000"/>
                  </a:prstClr>
                </a:innerShdw>
              </a:effectLst>
            </a:endParaRPr>
          </a:p>
          <a:p>
            <a:pPr marL="0" indent="0">
              <a:buNone/>
              <a:defRPr/>
            </a:pPr>
            <a:endParaRPr lang="en-US" sz="3413" dirty="0">
              <a:effectLst>
                <a:innerShdw blurRad="63500" dist="50800" dir="13500000">
                  <a:prstClr val="black">
                    <a:alpha val="50000"/>
                  </a:prstClr>
                </a:innerShdw>
              </a:effectLst>
            </a:endParaRPr>
          </a:p>
          <a:p>
            <a:pPr marL="0" indent="0">
              <a:buNone/>
              <a:defRPr/>
            </a:pPr>
            <a:r>
              <a:rPr lang="en-US" sz="3413" dirty="0">
                <a:effectLst>
                  <a:innerShdw blurRad="63500" dist="50800" dir="13500000">
                    <a:prstClr val="black">
                      <a:alpha val="50000"/>
                    </a:prstClr>
                  </a:innerShdw>
                </a:effectLst>
              </a:rPr>
              <a:t> X</a:t>
            </a:r>
            <a:r>
              <a:rPr lang="en-US" sz="3413" baseline="-25000" dirty="0">
                <a:effectLst>
                  <a:innerShdw blurRad="63500" dist="50800" dir="13500000">
                    <a:prstClr val="black">
                      <a:alpha val="50000"/>
                    </a:prstClr>
                  </a:innerShdw>
                </a:effectLst>
              </a:rPr>
              <a:t>1</a:t>
            </a:r>
            <a:r>
              <a:rPr lang="en-US" sz="3413" dirty="0">
                <a:effectLst>
                  <a:innerShdw blurRad="63500" dist="50800" dir="13500000">
                    <a:prstClr val="black">
                      <a:alpha val="50000"/>
                    </a:prstClr>
                  </a:innerShdw>
                </a:effectLst>
              </a:rPr>
              <a:t>       X</a:t>
            </a:r>
            <a:r>
              <a:rPr lang="en-US" sz="3413" baseline="-25000" dirty="0">
                <a:effectLst>
                  <a:innerShdw blurRad="63500" dist="50800" dir="13500000">
                    <a:prstClr val="black">
                      <a:alpha val="50000"/>
                    </a:prstClr>
                  </a:innerShdw>
                </a:effectLst>
              </a:rPr>
              <a:t>2</a:t>
            </a:r>
            <a:r>
              <a:rPr lang="en-US" sz="3413" dirty="0">
                <a:effectLst>
                  <a:innerShdw blurRad="63500" dist="50800" dir="13500000">
                    <a:prstClr val="black">
                      <a:alpha val="50000"/>
                    </a:prstClr>
                  </a:innerShdw>
                </a:effectLst>
              </a:rPr>
              <a:t>         X</a:t>
            </a:r>
            <a:r>
              <a:rPr lang="en-US" sz="3413" baseline="-25000" dirty="0">
                <a:effectLst>
                  <a:innerShdw blurRad="63500" dist="50800" dir="13500000">
                    <a:prstClr val="black">
                      <a:alpha val="50000"/>
                    </a:prstClr>
                  </a:innerShdw>
                </a:effectLst>
              </a:rPr>
              <a:t>3</a:t>
            </a:r>
            <a:r>
              <a:rPr lang="en-US" sz="3413" dirty="0">
                <a:effectLst>
                  <a:innerShdw blurRad="63500" dist="50800" dir="13500000">
                    <a:prstClr val="black">
                      <a:alpha val="50000"/>
                    </a:prstClr>
                  </a:innerShdw>
                </a:effectLst>
              </a:rPr>
              <a:t>        X</a:t>
            </a:r>
            <a:r>
              <a:rPr lang="en-US" sz="3413" baseline="-25000" dirty="0">
                <a:effectLst>
                  <a:innerShdw blurRad="63500" dist="50800" dir="13500000">
                    <a:prstClr val="black">
                      <a:alpha val="50000"/>
                    </a:prstClr>
                  </a:innerShdw>
                </a:effectLst>
              </a:rPr>
              <a:t>4</a:t>
            </a:r>
            <a:r>
              <a:rPr lang="en-US" sz="3413" dirty="0">
                <a:effectLst>
                  <a:innerShdw blurRad="63500" dist="50800" dir="13500000">
                    <a:prstClr val="black">
                      <a:alpha val="50000"/>
                    </a:prstClr>
                  </a:innerShdw>
                </a:effectLst>
              </a:rPr>
              <a:t>            X</a:t>
            </a:r>
            <a:r>
              <a:rPr lang="en-US" sz="3413" baseline="-25000" dirty="0">
                <a:effectLst>
                  <a:innerShdw blurRad="63500" dist="50800" dir="13500000">
                    <a:prstClr val="black">
                      <a:alpha val="50000"/>
                    </a:prstClr>
                  </a:innerShdw>
                </a:effectLst>
              </a:rPr>
              <a:t>5</a:t>
            </a:r>
            <a:r>
              <a:rPr lang="en-US" sz="3413" dirty="0">
                <a:effectLst>
                  <a:innerShdw blurRad="63500" dist="50800" dir="13500000">
                    <a:prstClr val="black">
                      <a:alpha val="50000"/>
                    </a:prstClr>
                  </a:innerShdw>
                </a:effectLst>
              </a:rPr>
              <a:t>       X</a:t>
            </a:r>
            <a:r>
              <a:rPr lang="en-US" sz="3413" baseline="-25000" dirty="0">
                <a:effectLst>
                  <a:innerShdw blurRad="63500" dist="50800" dir="13500000">
                    <a:prstClr val="black">
                      <a:alpha val="50000"/>
                    </a:prstClr>
                  </a:innerShdw>
                </a:effectLst>
              </a:rPr>
              <a:t>6</a:t>
            </a:r>
            <a:r>
              <a:rPr lang="en-US" sz="3413" dirty="0">
                <a:effectLst>
                  <a:innerShdw blurRad="63500" dist="50800" dir="13500000">
                    <a:prstClr val="black">
                      <a:alpha val="50000"/>
                    </a:prstClr>
                  </a:innerShdw>
                </a:effectLst>
              </a:rPr>
              <a:t>      X</a:t>
            </a:r>
            <a:r>
              <a:rPr lang="en-US" sz="3413" baseline="-25000" dirty="0">
                <a:effectLst>
                  <a:innerShdw blurRad="63500" dist="50800" dir="13500000">
                    <a:prstClr val="black">
                      <a:alpha val="50000"/>
                    </a:prstClr>
                  </a:innerShdw>
                </a:effectLst>
              </a:rPr>
              <a:t>7</a:t>
            </a:r>
            <a:r>
              <a:rPr lang="en-US" sz="3413" dirty="0">
                <a:effectLst>
                  <a:innerShdw blurRad="63500" dist="50800" dir="13500000">
                    <a:prstClr val="black">
                      <a:alpha val="50000"/>
                    </a:prstClr>
                  </a:innerShdw>
                </a:effectLst>
              </a:rPr>
              <a:t>       X</a:t>
            </a:r>
            <a:r>
              <a:rPr lang="en-US" sz="3413" baseline="-25000" dirty="0">
                <a:effectLst>
                  <a:innerShdw blurRad="63500" dist="50800" dir="13500000">
                    <a:prstClr val="black">
                      <a:alpha val="50000"/>
                    </a:prstClr>
                  </a:innerShdw>
                </a:effectLst>
              </a:rPr>
              <a:t>8</a:t>
            </a:r>
          </a:p>
          <a:p>
            <a:pPr marL="0" indent="0">
              <a:buNone/>
              <a:defRPr/>
            </a:pPr>
            <a:r>
              <a:rPr lang="en-US" sz="3413" dirty="0">
                <a:effectLst>
                  <a:innerShdw blurRad="63500" dist="50800" dir="13500000">
                    <a:prstClr val="black">
                      <a:alpha val="50000"/>
                    </a:prstClr>
                  </a:innerShdw>
                </a:effectLst>
              </a:rPr>
              <a:t>X</a:t>
            </a:r>
            <a:r>
              <a:rPr lang="en-US" sz="3413" baseline="-25000" dirty="0">
                <a:effectLst>
                  <a:innerShdw blurRad="63500" dist="50800" dir="13500000">
                    <a:prstClr val="black">
                      <a:alpha val="50000"/>
                    </a:prstClr>
                  </a:innerShdw>
                </a:effectLst>
              </a:rPr>
              <a:t>1</a:t>
            </a:r>
            <a:r>
              <a:rPr lang="en-US" sz="3413" dirty="0">
                <a:effectLst>
                  <a:innerShdw blurRad="63500" dist="50800" dir="13500000">
                    <a:prstClr val="black">
                      <a:alpha val="50000"/>
                    </a:prstClr>
                  </a:innerShdw>
                </a:effectLst>
              </a:rPr>
              <a:t> = L</a:t>
            </a:r>
            <a:r>
              <a:rPr lang="en-US" sz="3413" baseline="-25000" dirty="0">
                <a:effectLst>
                  <a:innerShdw blurRad="63500" dist="50800" dir="13500000">
                    <a:prstClr val="black">
                      <a:alpha val="50000"/>
                    </a:prstClr>
                  </a:innerShdw>
                </a:effectLst>
              </a:rPr>
              <a:t>11</a:t>
            </a:r>
            <a:r>
              <a:rPr lang="en-US" sz="3413" dirty="0">
                <a:effectLst>
                  <a:innerShdw blurRad="63500" dist="50800" dir="13500000">
                    <a:prstClr val="black">
                      <a:alpha val="50000"/>
                    </a:prstClr>
                  </a:innerShdw>
                </a:effectLst>
              </a:rPr>
              <a:t> * F</a:t>
            </a:r>
            <a:r>
              <a:rPr lang="en-US" sz="3413" baseline="-25000" dirty="0">
                <a:effectLst>
                  <a:innerShdw blurRad="63500" dist="50800" dir="13500000">
                    <a:prstClr val="black">
                      <a:alpha val="50000"/>
                    </a:prstClr>
                  </a:innerShdw>
                </a:effectLst>
              </a:rPr>
              <a:t>1</a:t>
            </a:r>
            <a:r>
              <a:rPr lang="en-US" sz="3413" dirty="0">
                <a:effectLst>
                  <a:innerShdw blurRad="63500" dist="50800" dir="13500000">
                    <a:prstClr val="black">
                      <a:alpha val="50000"/>
                    </a:prstClr>
                  </a:innerShdw>
                </a:effectLst>
              </a:rPr>
              <a:t> + ε</a:t>
            </a:r>
            <a:r>
              <a:rPr lang="en-US" sz="3413" baseline="-25000" dirty="0">
                <a:effectLst>
                  <a:innerShdw blurRad="63500" dist="50800" dir="13500000">
                    <a:prstClr val="black">
                      <a:alpha val="50000"/>
                    </a:prstClr>
                  </a:innerShdw>
                </a:effectLst>
              </a:rPr>
              <a:t>1</a:t>
            </a:r>
            <a:endParaRPr lang="en-US" sz="3413" dirty="0">
              <a:effectLst>
                <a:innerShdw blurRad="63500" dist="50800" dir="13500000">
                  <a:prstClr val="black">
                    <a:alpha val="50000"/>
                  </a:prstClr>
                </a:innerShdw>
              </a:effectLst>
            </a:endParaRPr>
          </a:p>
          <a:p>
            <a:pPr marL="0" indent="0">
              <a:buNone/>
              <a:defRPr/>
            </a:pPr>
            <a:r>
              <a:rPr lang="en-US" sz="3413" dirty="0">
                <a:effectLst>
                  <a:innerShdw blurRad="63500" dist="50800" dir="13500000">
                    <a:prstClr val="black">
                      <a:alpha val="50000"/>
                    </a:prstClr>
                  </a:innerShdw>
                </a:effectLst>
              </a:rPr>
              <a:t>The primary goal is to attain "scientific parsimony or economy of description” (Harman, 1960, p. 4).</a:t>
            </a:r>
          </a:p>
          <a:p>
            <a:pPr marL="0" indent="0">
              <a:buNone/>
              <a:defRPr/>
            </a:pPr>
            <a:endParaRPr lang="en-US" sz="3413" baseline="-25000" dirty="0">
              <a:effectLst>
                <a:innerShdw blurRad="63500" dist="50800" dir="13500000">
                  <a:prstClr val="black">
                    <a:alpha val="50000"/>
                  </a:prstClr>
                </a:innerShdw>
              </a:effectLst>
            </a:endParaRPr>
          </a:p>
        </p:txBody>
      </p:sp>
      <p:sp>
        <p:nvSpPr>
          <p:cNvPr id="4" name="Slide Number Placeholder 3"/>
          <p:cNvSpPr>
            <a:spLocks noGrp="1"/>
          </p:cNvSpPr>
          <p:nvPr>
            <p:ph type="sldNum" sz="quarter" idx="2"/>
          </p:nvPr>
        </p:nvSpPr>
        <p:spPr>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2DFE2DA5-3564-374C-99A2-8B1EDDCFABC2}" type="slidenum">
              <a:rPr lang="en-US" smtClean="0"/>
              <a:pPr>
                <a:defRPr/>
              </a:pPr>
              <a:t>65</a:t>
            </a:fld>
            <a:endParaRPr lang="en-US" dirty="0"/>
          </a:p>
        </p:txBody>
      </p:sp>
      <p:graphicFrame>
        <p:nvGraphicFramePr>
          <p:cNvPr id="58372" name="Object 4"/>
          <p:cNvGraphicFramePr>
            <a:graphicFrameLocks noChangeAspect="1"/>
          </p:cNvGraphicFramePr>
          <p:nvPr/>
        </p:nvGraphicFramePr>
        <p:xfrm>
          <a:off x="3975945" y="3106702"/>
          <a:ext cx="2765777" cy="577991"/>
        </p:xfrm>
        <a:graphic>
          <a:graphicData uri="http://schemas.openxmlformats.org/presentationml/2006/ole">
            <mc:AlternateContent xmlns:mc="http://schemas.openxmlformats.org/markup-compatibility/2006">
              <mc:Choice xmlns:v="urn:schemas-microsoft-com:vml" Requires="v">
                <p:oleObj name="Equation" r:id="rId4" imgW="914400" imgH="190500" progId="Equation.3">
                  <p:embed/>
                </p:oleObj>
              </mc:Choice>
              <mc:Fallback>
                <p:oleObj name="Equation" r:id="rId4" imgW="914400" imgH="190500" progId="Equation.3">
                  <p:embed/>
                  <p:pic>
                    <p:nvPicPr>
                      <p:cNvPr id="5837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5945" y="3106702"/>
                        <a:ext cx="2765777" cy="577991"/>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cxnSp>
        <p:nvCxnSpPr>
          <p:cNvPr id="6" name="Straight Arrow Connector 5"/>
          <p:cNvCxnSpPr/>
          <p:nvPr/>
        </p:nvCxnSpPr>
        <p:spPr bwMode="auto">
          <a:xfrm flipH="1">
            <a:off x="1564639" y="4599095"/>
            <a:ext cx="1659467" cy="1097280"/>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8" name="Straight Arrow Connector 7"/>
          <p:cNvCxnSpPr/>
          <p:nvPr/>
        </p:nvCxnSpPr>
        <p:spPr bwMode="auto">
          <a:xfrm flipH="1">
            <a:off x="2734167" y="4574258"/>
            <a:ext cx="514773" cy="1241778"/>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0" name="Straight Arrow Connector 9"/>
          <p:cNvCxnSpPr/>
          <p:nvPr/>
        </p:nvCxnSpPr>
        <p:spPr bwMode="auto">
          <a:xfrm>
            <a:off x="3298611" y="4671344"/>
            <a:ext cx="677333" cy="1239519"/>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2" name="Straight Arrow Connector 11"/>
          <p:cNvCxnSpPr/>
          <p:nvPr/>
        </p:nvCxnSpPr>
        <p:spPr bwMode="auto">
          <a:xfrm>
            <a:off x="3273776" y="4623930"/>
            <a:ext cx="1894275" cy="1332089"/>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4" name="Straight Arrow Connector 13"/>
          <p:cNvCxnSpPr/>
          <p:nvPr/>
        </p:nvCxnSpPr>
        <p:spPr bwMode="auto">
          <a:xfrm>
            <a:off x="8590842" y="4621670"/>
            <a:ext cx="1162758" cy="1194365"/>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6" name="Straight Arrow Connector 15"/>
          <p:cNvCxnSpPr/>
          <p:nvPr/>
        </p:nvCxnSpPr>
        <p:spPr bwMode="auto">
          <a:xfrm flipH="1">
            <a:off x="7459697" y="4574258"/>
            <a:ext cx="1207910" cy="1388533"/>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18" name="Straight Arrow Connector 17"/>
          <p:cNvCxnSpPr/>
          <p:nvPr/>
        </p:nvCxnSpPr>
        <p:spPr bwMode="auto">
          <a:xfrm flipH="1">
            <a:off x="6556588" y="4648764"/>
            <a:ext cx="2013936" cy="1314027"/>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20" name="Straight Arrow Connector 19"/>
          <p:cNvCxnSpPr/>
          <p:nvPr/>
        </p:nvCxnSpPr>
        <p:spPr bwMode="auto">
          <a:xfrm>
            <a:off x="8638257" y="4691662"/>
            <a:ext cx="395110" cy="1271128"/>
          </a:xfrm>
          <a:prstGeom prst="straightConnector1">
            <a:avLst/>
          </a:prstGeom>
          <a:solidFill>
            <a:schemeClr val="accent1"/>
          </a:solidFill>
          <a:ln w="38100" cap="flat" cmpd="sng" algn="ctr">
            <a:solidFill>
              <a:schemeClr val="tx1"/>
            </a:solidFill>
            <a:prstDash val="solid"/>
            <a:round/>
            <a:headEnd type="none" w="med" len="med"/>
            <a:tailEnd type="triangle" w="lg" len="lg"/>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pic>
        <p:nvPicPr>
          <p:cNvPr id="5" name="Picture 4"/>
          <p:cNvPicPr>
            <a:picLocks noChangeAspect="1"/>
          </p:cNvPicPr>
          <p:nvPr/>
        </p:nvPicPr>
        <p:blipFill>
          <a:blip r:embed="rId6"/>
          <a:stretch>
            <a:fillRect/>
          </a:stretch>
        </p:blipFill>
        <p:spPr>
          <a:xfrm>
            <a:off x="10332950" y="3684694"/>
            <a:ext cx="2321230" cy="3653084"/>
          </a:xfrm>
          <a:prstGeom prst="rect">
            <a:avLst/>
          </a:prstGeom>
        </p:spPr>
      </p:pic>
    </p:spTree>
    <p:extLst>
      <p:ext uri="{BB962C8B-B14F-4D97-AF65-F5344CB8AC3E}">
        <p14:creationId xmlns:p14="http://schemas.microsoft.com/office/powerpoint/2010/main" val="2733931062"/>
      </p:ext>
    </p:extLst>
  </p:cSld>
  <p:clrMapOvr>
    <a:overrideClrMapping bg1="lt1" tx1="dk1" bg2="lt2" tx2="dk2" accent1="accent1" accent2="accent2" accent3="accent3" accent4="accent4" accent5="accent5" accent6="accent6" hlink="hlink" folHlink="folHlink"/>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Herbert Costner</a:t>
            </a:r>
          </a:p>
        </p:txBody>
      </p:sp>
      <p:sp>
        <p:nvSpPr>
          <p:cNvPr id="4" name="Slide Number Placeholder 3"/>
          <p:cNvSpPr>
            <a:spLocks noGrp="1"/>
          </p:cNvSpPr>
          <p:nvPr>
            <p:ph type="sldNum" sz="quarter" idx="2"/>
          </p:nvPr>
        </p:nvSpPr>
        <p:spPr>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DFE2DA5-3564-374C-99A2-8B1EDDCFABC2}" type="slidenum">
              <a:rPr lang="en-US" smtClean="0"/>
              <a:pPr/>
              <a:t>66</a:t>
            </a:fld>
            <a:endParaRPr lang="en-US"/>
          </a:p>
        </p:txBody>
      </p:sp>
      <p:sp>
        <p:nvSpPr>
          <p:cNvPr id="6" name="TextBox 5"/>
          <p:cNvSpPr txBox="1"/>
          <p:nvPr/>
        </p:nvSpPr>
        <p:spPr>
          <a:xfrm>
            <a:off x="3576318" y="2685879"/>
            <a:ext cx="8019627" cy="4381841"/>
          </a:xfrm>
          <a:prstGeom prst="rect">
            <a:avLst/>
          </a:prstGeom>
          <a:noFill/>
        </p:spPr>
        <p:txBody>
          <a:bodyPr wrap="square" rtlCol="0">
            <a:spAutoFit/>
          </a:bodyPr>
          <a:lstStyle/>
          <a:p>
            <a:r>
              <a:rPr lang="en-US" sz="4551" dirty="0"/>
              <a:t>L		    	    M</a:t>
            </a:r>
          </a:p>
          <a:p>
            <a:endParaRPr lang="en-US" sz="4551" dirty="0"/>
          </a:p>
          <a:p>
            <a:r>
              <a:rPr lang="en-US" sz="4551" dirty="0"/>
              <a:t>X1	 X2		   X3 X4</a:t>
            </a:r>
          </a:p>
          <a:p>
            <a:endParaRPr lang="en-US" sz="4551" dirty="0"/>
          </a:p>
          <a:p>
            <a:r>
              <a:rPr lang="en-US" sz="4551" dirty="0"/>
              <a:t>                          </a:t>
            </a:r>
            <a:r>
              <a:rPr lang="en-US" sz="5120" dirty="0"/>
              <a:t>?</a:t>
            </a:r>
          </a:p>
          <a:p>
            <a:r>
              <a:rPr lang="en-US" sz="4551" dirty="0">
                <a:sym typeface="Symbol"/>
              </a:rPr>
              <a:t></a:t>
            </a:r>
            <a:r>
              <a:rPr lang="en-US" sz="4551" baseline="-25000" dirty="0"/>
              <a:t>13</a:t>
            </a:r>
            <a:r>
              <a:rPr lang="en-US" sz="4551" dirty="0">
                <a:sym typeface="Symbol"/>
              </a:rPr>
              <a:t></a:t>
            </a:r>
            <a:r>
              <a:rPr lang="en-US" sz="4551" baseline="-25000" dirty="0">
                <a:sym typeface="Symbol"/>
              </a:rPr>
              <a:t>24</a:t>
            </a:r>
            <a:r>
              <a:rPr lang="en-US" sz="4551" dirty="0"/>
              <a:t> = </a:t>
            </a:r>
            <a:r>
              <a:rPr lang="en-US" sz="4551" dirty="0">
                <a:sym typeface="Symbol"/>
              </a:rPr>
              <a:t></a:t>
            </a:r>
            <a:r>
              <a:rPr lang="en-US" sz="4551" baseline="-25000" dirty="0"/>
              <a:t>14</a:t>
            </a:r>
            <a:r>
              <a:rPr lang="en-US" sz="4551" dirty="0">
                <a:sym typeface="Symbol"/>
              </a:rPr>
              <a:t></a:t>
            </a:r>
            <a:r>
              <a:rPr lang="en-US" sz="4551" baseline="-25000" dirty="0">
                <a:sym typeface="Symbol"/>
              </a:rPr>
              <a:t>23</a:t>
            </a:r>
            <a:endParaRPr lang="en-US" sz="4551" dirty="0"/>
          </a:p>
        </p:txBody>
      </p:sp>
      <p:cxnSp>
        <p:nvCxnSpPr>
          <p:cNvPr id="8" name="Straight Arrow Connector 7"/>
          <p:cNvCxnSpPr/>
          <p:nvPr/>
        </p:nvCxnSpPr>
        <p:spPr>
          <a:xfrm>
            <a:off x="6502400" y="3018961"/>
            <a:ext cx="1950720" cy="2258"/>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5340740" y="3581203"/>
            <a:ext cx="650240" cy="325120"/>
          </a:xfrm>
          <a:prstGeom prst="line">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6200000" flipH="1">
            <a:off x="6014720" y="3581203"/>
            <a:ext cx="650240" cy="325120"/>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a:off x="8599767" y="3612133"/>
            <a:ext cx="650240" cy="325120"/>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6200000" flipH="1">
            <a:off x="9250007" y="3612134"/>
            <a:ext cx="541867" cy="433493"/>
          </a:xfrm>
          <a:prstGeom prst="straightConnector1">
            <a:avLst/>
          </a:prstGeom>
          <a:ln w="50800">
            <a:tailEnd type="triangle" w="lg" len="lg"/>
          </a:ln>
        </p:spPr>
        <p:style>
          <a:lnRef idx="1">
            <a:schemeClr val="accent1"/>
          </a:lnRef>
          <a:fillRef idx="0">
            <a:schemeClr val="accent1"/>
          </a:fillRef>
          <a:effectRef idx="0">
            <a:schemeClr val="accent1"/>
          </a:effectRef>
          <a:fontRef idx="minor">
            <a:schemeClr val="tx1"/>
          </a:fontRef>
        </p:style>
      </p:cxnSp>
      <p:sp>
        <p:nvSpPr>
          <p:cNvPr id="17" name="Down Arrow 16"/>
          <p:cNvSpPr/>
          <p:nvPr/>
        </p:nvSpPr>
        <p:spPr>
          <a:xfrm>
            <a:off x="4876800" y="4930987"/>
            <a:ext cx="541867" cy="10837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73"/>
          </a:p>
        </p:txBody>
      </p:sp>
      <p:sp>
        <p:nvSpPr>
          <p:cNvPr id="18" name="Down Arrow 17"/>
          <p:cNvSpPr/>
          <p:nvPr/>
        </p:nvSpPr>
        <p:spPr>
          <a:xfrm flipV="1">
            <a:off x="6285653" y="4822614"/>
            <a:ext cx="650240" cy="10837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73"/>
          </a:p>
        </p:txBody>
      </p:sp>
      <p:pic>
        <p:nvPicPr>
          <p:cNvPr id="3" name="Picture 2"/>
          <p:cNvPicPr>
            <a:picLocks noChangeAspect="1"/>
          </p:cNvPicPr>
          <p:nvPr/>
        </p:nvPicPr>
        <p:blipFill>
          <a:blip r:embed="rId4"/>
          <a:stretch>
            <a:fillRect/>
          </a:stretch>
        </p:blipFill>
        <p:spPr>
          <a:xfrm>
            <a:off x="457232" y="2709333"/>
            <a:ext cx="2688949" cy="3305387"/>
          </a:xfrm>
          <a:prstGeom prst="rect">
            <a:avLst/>
          </a:prstGeom>
        </p:spPr>
      </p:pic>
    </p:spTree>
    <p:extLst>
      <p:ext uri="{BB962C8B-B14F-4D97-AF65-F5344CB8AC3E}">
        <p14:creationId xmlns:p14="http://schemas.microsoft.com/office/powerpoint/2010/main" val="3576724617"/>
      </p:ext>
    </p:extLst>
  </p:cSld>
  <p:clrMapOvr>
    <a:overrideClrMapping bg1="lt1" tx1="dk1" bg2="lt2" tx2="dk2" accent1="accent1" accent2="accent2" accent3="accent3" accent4="accent4" accent5="accent5" accent6="accent6" hlink="hlink" folHlink="folHlink"/>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0">
                <a:latin typeface="Times New Roman" panose="02020603050405020304" pitchFamily="18" charset="0"/>
                <a:cs typeface="Times New Roman" panose="02020603050405020304" pitchFamily="18" charset="0"/>
              </a:rPr>
              <a:t>Further Linear Constraints</a:t>
            </a:r>
          </a:p>
        </p:txBody>
      </p:sp>
      <p:sp>
        <p:nvSpPr>
          <p:cNvPr id="3" name="Content Placeholder 2"/>
          <p:cNvSpPr>
            <a:spLocks noGrp="1"/>
          </p:cNvSpPr>
          <p:nvPr>
            <p:ph type="body" idx="1"/>
          </p:nvPr>
        </p:nvSpPr>
        <p:spPr/>
        <p:txBody>
          <a:bodyPr/>
          <a:lstStyle/>
          <a:p>
            <a:r>
              <a:rPr lang="en-US" sz="4800">
                <a:latin typeface="Times New Roman" panose="02020603050405020304" pitchFamily="18" charset="0"/>
                <a:cs typeface="Times New Roman" panose="02020603050405020304" pitchFamily="18" charset="0"/>
              </a:rPr>
              <a:t>Pentad constraints – Kelley, 1935, Essential Traits of Mental Life</a:t>
            </a:r>
          </a:p>
          <a:p>
            <a:r>
              <a:rPr lang="en-US" sz="4800">
                <a:latin typeface="Times New Roman" panose="02020603050405020304" pitchFamily="18" charset="0"/>
                <a:cs typeface="Times New Roman" panose="02020603050405020304" pitchFamily="18" charset="0"/>
              </a:rPr>
              <a:t>Tetrad Representation Theorem – general relationship between tetrad constraints and linear graphical models – Discovering Causal Structure, 1987</a:t>
            </a:r>
          </a:p>
          <a:p>
            <a:pPr marL="0" indent="0">
              <a:buNone/>
            </a:pPr>
            <a:endParaRPr lang="en-US"/>
          </a:p>
        </p:txBody>
      </p:sp>
    </p:spTree>
    <p:extLst>
      <p:ext uri="{BB962C8B-B14F-4D97-AF65-F5344CB8AC3E}">
        <p14:creationId xmlns:p14="http://schemas.microsoft.com/office/powerpoint/2010/main" val="734760455"/>
      </p:ext>
    </p:extLst>
  </p:cSld>
  <p:clrMapOvr>
    <a:overrideClrMapping bg1="lt1" tx1="dk1" bg2="lt2" tx2="dk2" accent1="accent1" accent2="accent2" accent3="accent3" accent4="accent4" accent5="accent5" accent6="accent6" hlink="hlink" folHlink="folHlink"/>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7F65C-5E46-EA49-A3F1-16D83BC0992D}"/>
              </a:ext>
            </a:extLst>
          </p:cNvPr>
          <p:cNvSpPr>
            <a:spLocks noGrp="1"/>
          </p:cNvSpPr>
          <p:nvPr>
            <p:ph type="title"/>
          </p:nvPr>
        </p:nvSpPr>
        <p:spPr>
          <a:xfrm>
            <a:off x="1270000" y="330200"/>
            <a:ext cx="10464800" cy="2438400"/>
          </a:xfrm>
        </p:spPr>
        <p:txBody>
          <a:bodyPr>
            <a:normAutofit fontScale="90000"/>
          </a:bodyPr>
          <a:lstStyle/>
          <a:p>
            <a:pPr algn="ctr"/>
            <a:r>
              <a:rPr lang="en-US" sz="6000" dirty="0">
                <a:latin typeface="Baskerville"/>
                <a:ea typeface="Baskerville"/>
              </a:rPr>
              <a:t>Why Should We Trust the Output of A Search Procedure? Current Status</a:t>
            </a:r>
          </a:p>
        </p:txBody>
      </p:sp>
      <p:sp>
        <p:nvSpPr>
          <p:cNvPr id="3" name="Text Placeholder 2">
            <a:extLst>
              <a:ext uri="{FF2B5EF4-FFF2-40B4-BE49-F238E27FC236}">
                <a16:creationId xmlns:a16="http://schemas.microsoft.com/office/drawing/2014/main" id="{AEEBDE93-C23C-E474-9499-C65ADC9951FD}"/>
              </a:ext>
            </a:extLst>
          </p:cNvPr>
          <p:cNvSpPr>
            <a:spLocks noGrp="1"/>
          </p:cNvSpPr>
          <p:nvPr>
            <p:ph type="body" idx="1"/>
          </p:nvPr>
        </p:nvSpPr>
        <p:spPr/>
        <p:txBody>
          <a:bodyPr/>
          <a:lstStyle/>
          <a:p>
            <a:endParaRPr lang="en-US"/>
          </a:p>
        </p:txBody>
      </p:sp>
      <p:sp>
        <p:nvSpPr>
          <p:cNvPr id="8" name="Slide Number Placeholder 7">
            <a:extLst>
              <a:ext uri="{FF2B5EF4-FFF2-40B4-BE49-F238E27FC236}">
                <a16:creationId xmlns:a16="http://schemas.microsoft.com/office/drawing/2014/main" id="{A5CBD040-E033-5A43-B93B-B934AD19CF68}"/>
              </a:ext>
            </a:extLst>
          </p:cNvPr>
          <p:cNvSpPr>
            <a:spLocks noGrp="1"/>
          </p:cNvSpPr>
          <p:nvPr>
            <p:ph type="sldNum" sz="quarter" idx="2"/>
          </p:nvPr>
        </p:nvSpPr>
        <p:spPr>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F81104-F4BD-3E42-A476-0B333162F2F3}" type="slidenum">
              <a:rPr lang="en-US" smtClean="0"/>
              <a:pPr/>
              <a:t>68</a:t>
            </a:fld>
            <a:endParaRPr lang="en-US"/>
          </a:p>
        </p:txBody>
      </p:sp>
      <p:pic>
        <p:nvPicPr>
          <p:cNvPr id="5" name="Content Placeholder 4">
            <a:extLst>
              <a:ext uri="{FF2B5EF4-FFF2-40B4-BE49-F238E27FC236}">
                <a16:creationId xmlns:a16="http://schemas.microsoft.com/office/drawing/2014/main" id="{2EEE4F49-EA33-7244-8358-97F8520BB65B}"/>
              </a:ext>
            </a:extLst>
          </p:cNvPr>
          <p:cNvPicPr>
            <a:picLocks noGrp="1" noChangeAspect="1"/>
          </p:cNvPicPr>
          <p:nvPr>
            <p:ph idx="4294967295"/>
          </p:nvPr>
        </p:nvPicPr>
        <p:blipFill>
          <a:blip r:embed="rId2"/>
          <a:stretch>
            <a:fillRect/>
          </a:stretch>
        </p:blipFill>
        <p:spPr>
          <a:xfrm>
            <a:off x="14135" y="2749145"/>
            <a:ext cx="13112179" cy="6383337"/>
          </a:xfrm>
        </p:spPr>
      </p:pic>
      <p:sp>
        <p:nvSpPr>
          <p:cNvPr id="14" name="TextBox 13">
            <a:extLst>
              <a:ext uri="{FF2B5EF4-FFF2-40B4-BE49-F238E27FC236}">
                <a16:creationId xmlns:a16="http://schemas.microsoft.com/office/drawing/2014/main" id="{87FC9D38-13E9-EB5A-BCBA-243A0D4854C7}"/>
              </a:ext>
            </a:extLst>
          </p:cNvPr>
          <p:cNvSpPr txBox="1"/>
          <p:nvPr/>
        </p:nvSpPr>
        <p:spPr>
          <a:xfrm>
            <a:off x="6407462" y="4075637"/>
            <a:ext cx="6718852"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000" dirty="0">
                <a:latin typeface="Baskerville"/>
                <a:ea typeface="Baskerville"/>
              </a:rPr>
              <a:t>✅</a:t>
            </a:r>
            <a:endParaRPr lang="en-US"/>
          </a:p>
        </p:txBody>
      </p:sp>
      <p:sp>
        <p:nvSpPr>
          <p:cNvPr id="15" name="TextBox 14">
            <a:extLst>
              <a:ext uri="{FF2B5EF4-FFF2-40B4-BE49-F238E27FC236}">
                <a16:creationId xmlns:a16="http://schemas.microsoft.com/office/drawing/2014/main" id="{DDDBE992-8E7D-203F-FF74-EE19982104CD}"/>
              </a:ext>
            </a:extLst>
          </p:cNvPr>
          <p:cNvSpPr txBox="1"/>
          <p:nvPr/>
        </p:nvSpPr>
        <p:spPr>
          <a:xfrm>
            <a:off x="4746487" y="4822240"/>
            <a:ext cx="6718852"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000" dirty="0">
                <a:latin typeface="Baskerville"/>
                <a:ea typeface="Baskerville"/>
              </a:rPr>
              <a:t>✅</a:t>
            </a:r>
            <a:endParaRPr lang="en-US"/>
          </a:p>
        </p:txBody>
      </p:sp>
      <p:sp>
        <p:nvSpPr>
          <p:cNvPr id="16" name="TextBox 15">
            <a:extLst>
              <a:ext uri="{FF2B5EF4-FFF2-40B4-BE49-F238E27FC236}">
                <a16:creationId xmlns:a16="http://schemas.microsoft.com/office/drawing/2014/main" id="{8C571952-9413-E46E-E724-30BEFD009B6A}"/>
              </a:ext>
            </a:extLst>
          </p:cNvPr>
          <p:cNvSpPr txBox="1"/>
          <p:nvPr/>
        </p:nvSpPr>
        <p:spPr>
          <a:xfrm>
            <a:off x="1993691" y="7754814"/>
            <a:ext cx="6718852"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000" dirty="0"/>
              <a:t>❓</a:t>
            </a:r>
            <a:endParaRPr lang="en-US"/>
          </a:p>
        </p:txBody>
      </p:sp>
      <p:sp>
        <p:nvSpPr>
          <p:cNvPr id="4" name="Rectangle 3">
            <a:extLst>
              <a:ext uri="{FF2B5EF4-FFF2-40B4-BE49-F238E27FC236}">
                <a16:creationId xmlns:a16="http://schemas.microsoft.com/office/drawing/2014/main" id="{F8034ADE-1FC1-FAFA-75C9-0177CED154AE}"/>
              </a:ext>
            </a:extLst>
          </p:cNvPr>
          <p:cNvSpPr/>
          <p:nvPr/>
        </p:nvSpPr>
        <p:spPr>
          <a:xfrm>
            <a:off x="4155073" y="8247832"/>
            <a:ext cx="8735439" cy="525042"/>
          </a:xfrm>
          <a:prstGeom prst="rect">
            <a:avLst/>
          </a:prstGeom>
          <a:solidFill>
            <a:schemeClr val="bg1"/>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9" name="Rectangle 8">
            <a:extLst>
              <a:ext uri="{FF2B5EF4-FFF2-40B4-BE49-F238E27FC236}">
                <a16:creationId xmlns:a16="http://schemas.microsoft.com/office/drawing/2014/main" id="{A8E0253F-F0A1-C5A2-E806-AA6E432FBA8C}"/>
              </a:ext>
            </a:extLst>
          </p:cNvPr>
          <p:cNvSpPr/>
          <p:nvPr/>
        </p:nvSpPr>
        <p:spPr>
          <a:xfrm>
            <a:off x="114288" y="8716777"/>
            <a:ext cx="1536970" cy="359608"/>
          </a:xfrm>
          <a:prstGeom prst="rect">
            <a:avLst/>
          </a:prstGeom>
          <a:solidFill>
            <a:schemeClr val="bg1"/>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endParaRPr>
          </a:p>
        </p:txBody>
      </p:sp>
      <p:sp>
        <p:nvSpPr>
          <p:cNvPr id="11" name="TextBox 10">
            <a:extLst>
              <a:ext uri="{FF2B5EF4-FFF2-40B4-BE49-F238E27FC236}">
                <a16:creationId xmlns:a16="http://schemas.microsoft.com/office/drawing/2014/main" id="{5ACB7E8D-5DC0-AF0D-8716-9A431AB5D7CE}"/>
              </a:ext>
            </a:extLst>
          </p:cNvPr>
          <p:cNvSpPr txBox="1"/>
          <p:nvPr/>
        </p:nvSpPr>
        <p:spPr>
          <a:xfrm>
            <a:off x="1270000" y="8247620"/>
            <a:ext cx="6614808" cy="7694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400" dirty="0"/>
              <a:t>❌</a:t>
            </a:r>
            <a:endParaRPr lang="en-US"/>
          </a:p>
        </p:txBody>
      </p:sp>
      <p:sp>
        <p:nvSpPr>
          <p:cNvPr id="13" name="TextBox 12">
            <a:extLst>
              <a:ext uri="{FF2B5EF4-FFF2-40B4-BE49-F238E27FC236}">
                <a16:creationId xmlns:a16="http://schemas.microsoft.com/office/drawing/2014/main" id="{1A2A7795-37F4-9B28-C561-25B10E1A2BE2}"/>
              </a:ext>
            </a:extLst>
          </p:cNvPr>
          <p:cNvSpPr txBox="1"/>
          <p:nvPr/>
        </p:nvSpPr>
        <p:spPr>
          <a:xfrm>
            <a:off x="0" y="6487943"/>
            <a:ext cx="6614808" cy="7694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400" dirty="0"/>
              <a:t>❓</a:t>
            </a:r>
            <a:endParaRPr lang="en-US" dirty="0"/>
          </a:p>
        </p:txBody>
      </p:sp>
      <p:sp>
        <p:nvSpPr>
          <p:cNvPr id="19" name="TextBox 18">
            <a:extLst>
              <a:ext uri="{FF2B5EF4-FFF2-40B4-BE49-F238E27FC236}">
                <a16:creationId xmlns:a16="http://schemas.microsoft.com/office/drawing/2014/main" id="{A9E6C977-05BC-29CF-39C4-2DB49AAA1062}"/>
              </a:ext>
            </a:extLst>
          </p:cNvPr>
          <p:cNvSpPr txBox="1"/>
          <p:nvPr/>
        </p:nvSpPr>
        <p:spPr>
          <a:xfrm>
            <a:off x="3682245" y="5658609"/>
            <a:ext cx="6718852"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000" dirty="0">
                <a:latin typeface="Baskerville"/>
                <a:ea typeface="Baskerville"/>
              </a:rPr>
              <a:t>✅</a:t>
            </a:r>
            <a:endParaRPr lang="en-US" dirty="0"/>
          </a:p>
        </p:txBody>
      </p:sp>
      <p:sp>
        <p:nvSpPr>
          <p:cNvPr id="18" name="TextBox 17">
            <a:extLst>
              <a:ext uri="{FF2B5EF4-FFF2-40B4-BE49-F238E27FC236}">
                <a16:creationId xmlns:a16="http://schemas.microsoft.com/office/drawing/2014/main" id="{D00A5006-5CB8-5C47-B9CC-43D08F3C2EBA}"/>
              </a:ext>
            </a:extLst>
          </p:cNvPr>
          <p:cNvSpPr txBox="1"/>
          <p:nvPr/>
        </p:nvSpPr>
        <p:spPr>
          <a:xfrm>
            <a:off x="-394252" y="6886250"/>
            <a:ext cx="6718852"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000" dirty="0">
                <a:latin typeface="Baskerville"/>
                <a:ea typeface="Baskerville"/>
              </a:rPr>
              <a:t>✅</a:t>
            </a:r>
            <a:endParaRPr lang="en-US" dirty="0"/>
          </a:p>
        </p:txBody>
      </p:sp>
      <p:sp>
        <p:nvSpPr>
          <p:cNvPr id="20" name="TextBox 19">
            <a:extLst>
              <a:ext uri="{FF2B5EF4-FFF2-40B4-BE49-F238E27FC236}">
                <a16:creationId xmlns:a16="http://schemas.microsoft.com/office/drawing/2014/main" id="{045A458E-AF5D-9E44-882C-289F1080A60B}"/>
              </a:ext>
            </a:extLst>
          </p:cNvPr>
          <p:cNvSpPr txBox="1"/>
          <p:nvPr/>
        </p:nvSpPr>
        <p:spPr>
          <a:xfrm>
            <a:off x="4577404" y="6798559"/>
            <a:ext cx="6614808" cy="7694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400" dirty="0"/>
              <a:t>❓</a:t>
            </a:r>
            <a:endParaRPr lang="en-US" dirty="0"/>
          </a:p>
        </p:txBody>
      </p:sp>
    </p:spTree>
    <p:extLst>
      <p:ext uri="{BB962C8B-B14F-4D97-AF65-F5344CB8AC3E}">
        <p14:creationId xmlns:p14="http://schemas.microsoft.com/office/powerpoint/2010/main" val="998916418"/>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 name="Dimensions of Problem"/>
          <p:cNvSpPr txBox="1">
            <a:spLocks noGrp="1"/>
          </p:cNvSpPr>
          <p:nvPr>
            <p:ph type="title"/>
          </p:nvPr>
        </p:nvSpPr>
        <p:spPr>
          <a:xfrm>
            <a:off x="1171146" y="-227914"/>
            <a:ext cx="10464800" cy="2438400"/>
          </a:xfrm>
          <a:prstGeom prst="rect">
            <a:avLst/>
          </a:prstGeom>
        </p:spPr>
        <p:txBody>
          <a:bodyPr>
            <a:normAutofit/>
          </a:bodyPr>
          <a:lstStyle/>
          <a:p>
            <a:r>
              <a:rPr lang="en-US" sz="6000" dirty="0">
                <a:latin typeface="Baskerville"/>
                <a:ea typeface="Baskerville"/>
                <a:sym typeface="Baskerville"/>
              </a:rPr>
              <a:t>Obstacles to Research</a:t>
            </a:r>
            <a:endParaRPr sz="6000" dirty="0">
              <a:latin typeface="Baskerville"/>
              <a:ea typeface="Baskerville"/>
              <a:sym typeface="Baskerville"/>
            </a:endParaRPr>
          </a:p>
        </p:txBody>
      </p:sp>
      <p:sp>
        <p:nvSpPr>
          <p:cNvPr id="1293" name="Unmeasured Confounders…"/>
          <p:cNvSpPr txBox="1">
            <a:spLocks noGrp="1"/>
          </p:cNvSpPr>
          <p:nvPr>
            <p:ph type="body" idx="1"/>
          </p:nvPr>
        </p:nvSpPr>
        <p:spPr>
          <a:xfrm>
            <a:off x="149829" y="1097643"/>
            <a:ext cx="12219709" cy="6946606"/>
          </a:xfrm>
          <a:prstGeom prst="rect">
            <a:avLst/>
          </a:prstGeom>
        </p:spPr>
        <p:txBody>
          <a:bodyPr numCol="1">
            <a:normAutofit/>
          </a:bodyPr>
          <a:lstStyle/>
          <a:p>
            <a:pPr marL="693419" indent="-445769" defTabSz="455675">
              <a:spcBef>
                <a:spcPts val="1200"/>
              </a:spcBef>
              <a:defRPr sz="3275">
                <a:latin typeface="Times New Roman"/>
                <a:ea typeface="Times New Roman"/>
                <a:cs typeface="Times New Roman"/>
                <a:sym typeface="Times New Roman"/>
              </a:defRPr>
            </a:pPr>
            <a:r>
              <a:rPr lang="en-US" sz="3600" dirty="0"/>
              <a:t>Need for experimental confirmation  or known causal relations.</a:t>
            </a:r>
          </a:p>
          <a:p>
            <a:pPr marL="1137919" lvl="1" indent="-445769" defTabSz="455675">
              <a:spcBef>
                <a:spcPts val="1200"/>
              </a:spcBef>
              <a:defRPr sz="3275">
                <a:latin typeface="Times New Roman"/>
                <a:ea typeface="Times New Roman"/>
                <a:cs typeface="Times New Roman"/>
                <a:sym typeface="Times New Roman"/>
              </a:defRPr>
            </a:pPr>
            <a:r>
              <a:rPr lang="en-US" sz="3200" dirty="0"/>
              <a:t>Ideally, would like to generate models and immediately experimentally test the causal conclusions – robotic experiments?</a:t>
            </a:r>
          </a:p>
          <a:p>
            <a:pPr marL="1137919" lvl="1" indent="-445769" defTabSz="455675">
              <a:spcBef>
                <a:spcPts val="1200"/>
              </a:spcBef>
              <a:defRPr sz="3275">
                <a:latin typeface="Times New Roman"/>
                <a:ea typeface="Times New Roman"/>
                <a:cs typeface="Times New Roman"/>
                <a:sym typeface="Times New Roman"/>
              </a:defRPr>
            </a:pPr>
            <a:r>
              <a:rPr lang="en-US" sz="3200" dirty="0"/>
              <a:t>The applications that are of most interest to the domain are not necessarily the ones that are the best for the development of the field.</a:t>
            </a:r>
          </a:p>
          <a:p>
            <a:pPr marL="1137919" lvl="1" indent="-445769" defTabSz="455675">
              <a:spcBef>
                <a:spcPts val="1200"/>
              </a:spcBef>
              <a:defRPr sz="3275">
                <a:latin typeface="Times New Roman"/>
                <a:ea typeface="Times New Roman"/>
                <a:cs typeface="Times New Roman"/>
                <a:sym typeface="Times New Roman"/>
              </a:defRPr>
            </a:pPr>
            <a:r>
              <a:rPr lang="en-US" sz="3200" dirty="0"/>
              <a:t>Benchmark data sets with gold standard answers and observational data desperately needed.</a:t>
            </a:r>
          </a:p>
        </p:txBody>
      </p:sp>
      <p:sp>
        <p:nvSpPr>
          <p:cNvPr id="1294" name="4/7/22"/>
          <p:cNvSpPr txBox="1"/>
          <p:nvPr/>
        </p:nvSpPr>
        <p:spPr>
          <a:xfrm>
            <a:off x="1040383" y="9179193"/>
            <a:ext cx="2579287" cy="3892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5023" tIns="65023" rIns="65023" bIns="65023" anchor="b">
            <a:spAutoFit/>
          </a:bodyPr>
          <a:lstStyle>
            <a:lvl1pPr algn="l" defTabSz="1300480">
              <a:defRPr sz="1800">
                <a:solidFill>
                  <a:srgbClr val="FFFFFF"/>
                </a:solidFill>
                <a:latin typeface="Arial"/>
                <a:ea typeface="Arial"/>
                <a:cs typeface="Arial"/>
                <a:sym typeface="Arial"/>
              </a:defRPr>
            </a:lvl1pPr>
          </a:lstStyle>
          <a:p>
            <a:r>
              <a:t>4/7/22</a:t>
            </a:r>
          </a:p>
        </p:txBody>
      </p:sp>
      <p:sp>
        <p:nvSpPr>
          <p:cNvPr id="3" name="Slide Number Placeholder 2">
            <a:extLst>
              <a:ext uri="{FF2B5EF4-FFF2-40B4-BE49-F238E27FC236}">
                <a16:creationId xmlns:a16="http://schemas.microsoft.com/office/drawing/2014/main" id="{F8F89143-46F1-AC09-7B0E-1D8E95DAB898}"/>
              </a:ext>
            </a:extLst>
          </p:cNvPr>
          <p:cNvSpPr>
            <a:spLocks noGrp="1"/>
          </p:cNvSpPr>
          <p:nvPr>
            <p:ph type="sldNum" sz="quarter" idx="2"/>
          </p:nvPr>
        </p:nvSpPr>
        <p:spPr/>
        <p:txBody>
          <a:bodyPr/>
          <a:lstStyle/>
          <a:p>
            <a:fld id="{86CB4B4D-7CA3-9044-876B-883B54F8677D}" type="slidenum">
              <a:rPr lang="en-US"/>
              <a:t>69</a:t>
            </a:fld>
            <a:endParaRPr lang="en-US"/>
          </a:p>
        </p:txBody>
      </p:sp>
    </p:spTree>
    <p:extLst>
      <p:ext uri="{BB962C8B-B14F-4D97-AF65-F5344CB8AC3E}">
        <p14:creationId xmlns:p14="http://schemas.microsoft.com/office/powerpoint/2010/main" val="2577225560"/>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 name="Dimensions of Problem"/>
          <p:cNvSpPr txBox="1">
            <a:spLocks noGrp="1"/>
          </p:cNvSpPr>
          <p:nvPr>
            <p:ph type="title"/>
          </p:nvPr>
        </p:nvSpPr>
        <p:spPr>
          <a:prstGeom prst="rect">
            <a:avLst/>
          </a:prstGeom>
        </p:spPr>
        <p:txBody>
          <a:bodyPr>
            <a:normAutofit/>
          </a:bodyPr>
          <a:lstStyle/>
          <a:p>
            <a:r>
              <a:rPr lang="en-US" sz="6000" dirty="0">
                <a:latin typeface="Baskerville"/>
                <a:ea typeface="Baskerville"/>
                <a:sym typeface="Baskerville"/>
              </a:rPr>
              <a:t>Obstacles to Research</a:t>
            </a:r>
            <a:endParaRPr sz="6000" dirty="0">
              <a:latin typeface="Baskerville"/>
              <a:ea typeface="Baskerville"/>
              <a:sym typeface="Baskerville"/>
            </a:endParaRPr>
          </a:p>
        </p:txBody>
      </p:sp>
      <p:sp>
        <p:nvSpPr>
          <p:cNvPr id="1293" name="Unmeasured Confounders…"/>
          <p:cNvSpPr txBox="1">
            <a:spLocks noGrp="1"/>
          </p:cNvSpPr>
          <p:nvPr>
            <p:ph type="body" idx="1"/>
          </p:nvPr>
        </p:nvSpPr>
        <p:spPr>
          <a:xfrm>
            <a:off x="374073" y="1911927"/>
            <a:ext cx="12219709" cy="7267266"/>
          </a:xfrm>
          <a:prstGeom prst="rect">
            <a:avLst/>
          </a:prstGeom>
        </p:spPr>
        <p:txBody>
          <a:bodyPr numCol="1">
            <a:normAutofit lnSpcReduction="10000"/>
          </a:bodyPr>
          <a:lstStyle/>
          <a:p>
            <a:pPr marL="693419" indent="-445769" defTabSz="455675">
              <a:spcBef>
                <a:spcPts val="1800"/>
              </a:spcBef>
              <a:defRPr sz="3275">
                <a:latin typeface="Times New Roman"/>
                <a:ea typeface="Times New Roman"/>
                <a:cs typeface="Times New Roman"/>
                <a:sym typeface="Times New Roman"/>
              </a:defRPr>
            </a:pPr>
            <a:r>
              <a:rPr lang="en-US" sz="4400" dirty="0"/>
              <a:t>Need for better simulations.</a:t>
            </a:r>
          </a:p>
          <a:p>
            <a:pPr marL="1137919" lvl="1" indent="-445769" defTabSz="455675">
              <a:spcBef>
                <a:spcPts val="1800"/>
              </a:spcBef>
              <a:defRPr sz="3275">
                <a:latin typeface="Times New Roman"/>
                <a:ea typeface="Times New Roman"/>
                <a:cs typeface="Times New Roman"/>
                <a:sym typeface="Times New Roman"/>
              </a:defRPr>
            </a:pPr>
            <a:r>
              <a:rPr lang="en-US" sz="3600" dirty="0"/>
              <a:t>How sensitive are the results to the many parameters that go into generating graphs and distributions?</a:t>
            </a:r>
          </a:p>
          <a:p>
            <a:pPr marL="1137919" lvl="1" indent="-445769" defTabSz="455675">
              <a:spcBef>
                <a:spcPts val="1800"/>
              </a:spcBef>
              <a:defRPr sz="3275">
                <a:latin typeface="Times New Roman"/>
                <a:ea typeface="Times New Roman"/>
                <a:cs typeface="Times New Roman"/>
                <a:sym typeface="Times New Roman"/>
              </a:defRPr>
            </a:pPr>
            <a:r>
              <a:rPr lang="en-US" sz="3600" dirty="0"/>
              <a:t>Notears example – when the order of the variance of the variables is the same as the causal order can identify DAG rather than the Markov equivalence class</a:t>
            </a:r>
          </a:p>
          <a:p>
            <a:pPr marL="1137919" lvl="1" indent="-445769" defTabSz="455675">
              <a:spcBef>
                <a:spcPts val="1800"/>
              </a:spcBef>
              <a:defRPr sz="3275">
                <a:latin typeface="Times New Roman"/>
                <a:ea typeface="Times New Roman"/>
                <a:cs typeface="Times New Roman"/>
                <a:sym typeface="Times New Roman"/>
              </a:defRPr>
            </a:pPr>
            <a:r>
              <a:rPr lang="en-US" sz="3600" dirty="0"/>
              <a:t>Need for simulations that test the sensitivity of algorithms to deviations from the assumptions</a:t>
            </a:r>
            <a:r>
              <a:rPr lang="en-US" sz="4000" dirty="0"/>
              <a:t>.</a:t>
            </a:r>
          </a:p>
          <a:p>
            <a:pPr marL="693419" indent="-445769" defTabSz="455675">
              <a:spcBef>
                <a:spcPts val="1800"/>
              </a:spcBef>
              <a:defRPr sz="3275">
                <a:latin typeface="Times New Roman"/>
                <a:ea typeface="Times New Roman"/>
                <a:cs typeface="Times New Roman"/>
                <a:sym typeface="Times New Roman"/>
              </a:defRPr>
            </a:pPr>
            <a:r>
              <a:rPr lang="en-US" sz="4000" dirty="0"/>
              <a:t>Need for more research on weakening assumptions rather than improving algorithms on current assumptions.</a:t>
            </a:r>
          </a:p>
        </p:txBody>
      </p:sp>
      <p:sp>
        <p:nvSpPr>
          <p:cNvPr id="1294" name="4/7/22"/>
          <p:cNvSpPr txBox="1"/>
          <p:nvPr/>
        </p:nvSpPr>
        <p:spPr>
          <a:xfrm>
            <a:off x="1040383" y="9179193"/>
            <a:ext cx="2579287" cy="3892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5023" tIns="65023" rIns="65023" bIns="65023" anchor="b">
            <a:spAutoFit/>
          </a:bodyPr>
          <a:lstStyle>
            <a:lvl1pPr algn="l" defTabSz="1300480">
              <a:defRPr sz="1800">
                <a:solidFill>
                  <a:srgbClr val="FFFFFF"/>
                </a:solidFill>
                <a:latin typeface="Arial"/>
                <a:ea typeface="Arial"/>
                <a:cs typeface="Arial"/>
                <a:sym typeface="Arial"/>
              </a:defRPr>
            </a:lvl1pPr>
          </a:lstStyle>
          <a:p>
            <a:r>
              <a:t>4/7/22</a:t>
            </a:r>
          </a:p>
        </p:txBody>
      </p:sp>
      <p:sp>
        <p:nvSpPr>
          <p:cNvPr id="2" name="Slide Number Placeholder 1">
            <a:extLst>
              <a:ext uri="{FF2B5EF4-FFF2-40B4-BE49-F238E27FC236}">
                <a16:creationId xmlns:a16="http://schemas.microsoft.com/office/drawing/2014/main" id="{C3D44AD4-E7B6-1B04-E939-EB8007DC65C1}"/>
              </a:ext>
            </a:extLst>
          </p:cNvPr>
          <p:cNvSpPr>
            <a:spLocks noGrp="1"/>
          </p:cNvSpPr>
          <p:nvPr>
            <p:ph type="sldNum" sz="quarter" idx="2"/>
          </p:nvPr>
        </p:nvSpPr>
        <p:spPr/>
        <p:txBody>
          <a:bodyPr/>
          <a:lstStyle/>
          <a:p>
            <a:fld id="{86CB4B4D-7CA3-9044-876B-883B54F8677D}" type="slidenum">
              <a:rPr lang="en-US"/>
              <a:t>70</a:t>
            </a:fld>
            <a:endParaRPr lang="en-US"/>
          </a:p>
        </p:txBody>
      </p:sp>
    </p:spTree>
    <p:extLst>
      <p:ext uri="{BB962C8B-B14F-4D97-AF65-F5344CB8AC3E}">
        <p14:creationId xmlns:p14="http://schemas.microsoft.com/office/powerpoint/2010/main" val="3526457943"/>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 name="Dimensions of Problem"/>
          <p:cNvSpPr txBox="1">
            <a:spLocks noGrp="1"/>
          </p:cNvSpPr>
          <p:nvPr>
            <p:ph type="title"/>
          </p:nvPr>
        </p:nvSpPr>
        <p:spPr>
          <a:prstGeom prst="rect">
            <a:avLst/>
          </a:prstGeom>
        </p:spPr>
        <p:txBody>
          <a:bodyPr>
            <a:normAutofit/>
          </a:bodyPr>
          <a:lstStyle/>
          <a:p>
            <a:r>
              <a:rPr lang="en-US" sz="6000" dirty="0">
                <a:latin typeface="Baskerville"/>
                <a:ea typeface="Baskerville"/>
                <a:sym typeface="Baskerville"/>
              </a:rPr>
              <a:t>Obstacles to Use</a:t>
            </a:r>
            <a:endParaRPr sz="6000" dirty="0">
              <a:latin typeface="Baskerville"/>
              <a:ea typeface="Baskerville"/>
              <a:sym typeface="Baskerville"/>
            </a:endParaRPr>
          </a:p>
        </p:txBody>
      </p:sp>
      <p:sp>
        <p:nvSpPr>
          <p:cNvPr id="1293" name="Unmeasured Confounders…"/>
          <p:cNvSpPr txBox="1">
            <a:spLocks noGrp="1"/>
          </p:cNvSpPr>
          <p:nvPr>
            <p:ph type="body" idx="1"/>
          </p:nvPr>
        </p:nvSpPr>
        <p:spPr>
          <a:xfrm>
            <a:off x="1040383" y="2060678"/>
            <a:ext cx="10464800" cy="4900561"/>
          </a:xfrm>
          <a:prstGeom prst="rect">
            <a:avLst/>
          </a:prstGeom>
        </p:spPr>
        <p:txBody>
          <a:bodyPr numCol="2">
            <a:normAutofit/>
          </a:bodyPr>
          <a:lstStyle/>
          <a:p>
            <a:pPr marL="693419" indent="-445769" defTabSz="455675">
              <a:spcBef>
                <a:spcPts val="1800"/>
              </a:spcBef>
              <a:defRPr sz="3275">
                <a:latin typeface="Times New Roman"/>
                <a:ea typeface="Times New Roman"/>
                <a:cs typeface="Times New Roman"/>
                <a:sym typeface="Times New Roman"/>
              </a:defRPr>
            </a:pPr>
            <a:r>
              <a:rPr lang="en-US" sz="2000" dirty="0"/>
              <a:t>Number of models</a:t>
            </a:r>
          </a:p>
          <a:p>
            <a:pPr marL="693419" indent="-445769" defTabSz="455675">
              <a:spcBef>
                <a:spcPts val="1800"/>
              </a:spcBef>
              <a:defRPr sz="3275">
                <a:latin typeface="Times New Roman"/>
                <a:ea typeface="Times New Roman"/>
                <a:cs typeface="Times New Roman"/>
                <a:sym typeface="Times New Roman"/>
              </a:defRPr>
            </a:pPr>
            <a:r>
              <a:rPr lang="en-US" sz="2000" dirty="0"/>
              <a:t>Inadequate sample size</a:t>
            </a:r>
          </a:p>
          <a:p>
            <a:pPr marL="633454" indent="-385804" defTabSz="455675">
              <a:spcBef>
                <a:spcPts val="2900"/>
              </a:spcBef>
              <a:defRPr sz="3275">
                <a:latin typeface="Times New Roman"/>
                <a:ea typeface="Times New Roman"/>
                <a:cs typeface="Times New Roman"/>
                <a:sym typeface="Times New Roman"/>
              </a:defRPr>
            </a:pPr>
            <a:r>
              <a:rPr sz="2000" dirty="0"/>
              <a:t>Selection Bias</a:t>
            </a:r>
          </a:p>
          <a:p>
            <a:pPr marL="633454" indent="-385804" defTabSz="455675">
              <a:spcBef>
                <a:spcPts val="2900"/>
              </a:spcBef>
              <a:defRPr sz="3275">
                <a:latin typeface="Times New Roman"/>
                <a:ea typeface="Times New Roman"/>
                <a:cs typeface="Times New Roman"/>
                <a:sym typeface="Times New Roman"/>
              </a:defRPr>
            </a:pPr>
            <a:r>
              <a:rPr sz="2000" dirty="0"/>
              <a:t>Measurement error</a:t>
            </a:r>
          </a:p>
          <a:p>
            <a:pPr marL="633454" indent="-385804" defTabSz="455675">
              <a:spcBef>
                <a:spcPts val="2900"/>
              </a:spcBef>
              <a:defRPr sz="3275">
                <a:latin typeface="Times New Roman"/>
                <a:ea typeface="Times New Roman"/>
                <a:cs typeface="Times New Roman"/>
                <a:sym typeface="Times New Roman"/>
              </a:defRPr>
            </a:pPr>
            <a:r>
              <a:rPr sz="2000" dirty="0"/>
              <a:t>Missing data</a:t>
            </a:r>
          </a:p>
          <a:p>
            <a:pPr marL="633454" indent="-385804" defTabSz="455675">
              <a:spcBef>
                <a:spcPts val="2900"/>
              </a:spcBef>
              <a:defRPr sz="3275">
                <a:latin typeface="Times New Roman"/>
                <a:ea typeface="Times New Roman"/>
                <a:cs typeface="Times New Roman"/>
                <a:sym typeface="Times New Roman"/>
              </a:defRPr>
            </a:pPr>
            <a:r>
              <a:rPr sz="2000" dirty="0"/>
              <a:t>Multiple Data Sets from different contexts</a:t>
            </a:r>
          </a:p>
          <a:p>
            <a:pPr marL="693419" indent="-445769" defTabSz="455675">
              <a:spcBef>
                <a:spcPts val="1800"/>
              </a:spcBef>
              <a:defRPr sz="3275">
                <a:latin typeface="Times New Roman"/>
                <a:ea typeface="Times New Roman"/>
                <a:cs typeface="Times New Roman"/>
                <a:sym typeface="Times New Roman"/>
              </a:defRPr>
            </a:pPr>
            <a:r>
              <a:rPr sz="2000" dirty="0"/>
              <a:t>Aggregation of </a:t>
            </a:r>
            <a:r>
              <a:rPr lang="en-US" sz="2000" dirty="0"/>
              <a:t>Values</a:t>
            </a:r>
          </a:p>
          <a:p>
            <a:pPr marL="693419" indent="-445769" defTabSz="455675">
              <a:spcBef>
                <a:spcPts val="1800"/>
              </a:spcBef>
              <a:defRPr sz="3275">
                <a:latin typeface="Times New Roman"/>
                <a:ea typeface="Times New Roman"/>
                <a:cs typeface="Times New Roman"/>
                <a:sym typeface="Times New Roman"/>
              </a:defRPr>
            </a:pPr>
            <a:endParaRPr lang="en-US" sz="2000" dirty="0"/>
          </a:p>
          <a:p>
            <a:pPr marL="693419" indent="-445769" defTabSz="455675">
              <a:spcBef>
                <a:spcPts val="1800"/>
              </a:spcBef>
              <a:defRPr sz="3275">
                <a:latin typeface="Times New Roman"/>
                <a:ea typeface="Times New Roman"/>
                <a:cs typeface="Times New Roman"/>
                <a:sym typeface="Times New Roman"/>
              </a:defRPr>
            </a:pPr>
            <a:r>
              <a:rPr sz="2000" dirty="0"/>
              <a:t>Non-linearity</a:t>
            </a:r>
          </a:p>
          <a:p>
            <a:pPr marL="693419" indent="-445769" defTabSz="455675">
              <a:spcBef>
                <a:spcPts val="1800"/>
              </a:spcBef>
              <a:defRPr sz="3275">
                <a:latin typeface="Times New Roman"/>
                <a:ea typeface="Times New Roman"/>
                <a:cs typeface="Times New Roman"/>
                <a:sym typeface="Times New Roman"/>
              </a:defRPr>
            </a:pPr>
            <a:r>
              <a:rPr sz="2000" dirty="0"/>
              <a:t>Non-stationarity</a:t>
            </a:r>
          </a:p>
          <a:p>
            <a:pPr marL="693419" indent="-445769" defTabSz="455675">
              <a:spcBef>
                <a:spcPts val="1800"/>
              </a:spcBef>
              <a:defRPr sz="3275">
                <a:latin typeface="Times New Roman"/>
                <a:ea typeface="Times New Roman"/>
                <a:cs typeface="Times New Roman"/>
                <a:sym typeface="Times New Roman"/>
              </a:defRPr>
            </a:pPr>
            <a:r>
              <a:rPr sz="2000" dirty="0"/>
              <a:t>Causal interactions among units</a:t>
            </a:r>
          </a:p>
          <a:p>
            <a:pPr marL="693419" indent="-445769" defTabSz="455675">
              <a:spcBef>
                <a:spcPts val="1800"/>
              </a:spcBef>
              <a:defRPr sz="3275">
                <a:latin typeface="Times New Roman"/>
                <a:ea typeface="Times New Roman"/>
                <a:cs typeface="Times New Roman"/>
                <a:sym typeface="Times New Roman"/>
              </a:defRPr>
            </a:pPr>
            <a:r>
              <a:rPr sz="2000" dirty="0"/>
              <a:t>Mixtures of distributions</a:t>
            </a:r>
            <a:endParaRPr lang="en-US" sz="2000" dirty="0"/>
          </a:p>
          <a:p>
            <a:pPr marL="693419" indent="-445769" defTabSz="455675">
              <a:spcBef>
                <a:spcPts val="1800"/>
              </a:spcBef>
              <a:defRPr sz="3275">
                <a:latin typeface="Times New Roman"/>
                <a:ea typeface="Times New Roman"/>
                <a:cs typeface="Times New Roman"/>
                <a:sym typeface="Times New Roman"/>
              </a:defRPr>
            </a:pPr>
            <a:r>
              <a:rPr lang="en-US" sz="2000" dirty="0"/>
              <a:t>Mixtures of structures</a:t>
            </a:r>
          </a:p>
          <a:p>
            <a:pPr marL="693419" indent="-445769" defTabSz="455675">
              <a:spcBef>
                <a:spcPts val="1800"/>
              </a:spcBef>
              <a:defRPr sz="3275">
                <a:latin typeface="Times New Roman"/>
                <a:ea typeface="Times New Roman"/>
                <a:cs typeface="Times New Roman"/>
                <a:sym typeface="Times New Roman"/>
              </a:defRPr>
            </a:pPr>
            <a:r>
              <a:rPr lang="en-US" sz="2000" dirty="0"/>
              <a:t>Violations of SUTVA</a:t>
            </a:r>
          </a:p>
          <a:p>
            <a:pPr marL="693419" indent="-445769" defTabSz="455675">
              <a:spcBef>
                <a:spcPts val="1800"/>
              </a:spcBef>
              <a:defRPr sz="3275">
                <a:latin typeface="Times New Roman"/>
                <a:ea typeface="Times New Roman"/>
                <a:cs typeface="Times New Roman"/>
                <a:sym typeface="Times New Roman"/>
              </a:defRPr>
            </a:pPr>
            <a:r>
              <a:rPr lang="en-US" sz="2000" dirty="0"/>
              <a:t>Non-causal relationships</a:t>
            </a:r>
          </a:p>
          <a:p>
            <a:pPr marL="693419" indent="-445769" defTabSz="455675">
              <a:spcBef>
                <a:spcPts val="1800"/>
              </a:spcBef>
              <a:defRPr sz="3275">
                <a:latin typeface="Times New Roman"/>
                <a:ea typeface="Times New Roman"/>
                <a:cs typeface="Times New Roman"/>
                <a:sym typeface="Times New Roman"/>
              </a:defRPr>
            </a:pPr>
            <a:r>
              <a:rPr lang="en-US" sz="2000" dirty="0"/>
              <a:t>Unmeasured Confounders</a:t>
            </a:r>
            <a:endParaRPr lang="en-US" dirty="0"/>
          </a:p>
        </p:txBody>
      </p:sp>
      <p:sp>
        <p:nvSpPr>
          <p:cNvPr id="2" name="TextBox 1">
            <a:extLst>
              <a:ext uri="{FF2B5EF4-FFF2-40B4-BE49-F238E27FC236}">
                <a16:creationId xmlns:a16="http://schemas.microsoft.com/office/drawing/2014/main" id="{029F3B27-ECE1-F344-98CA-3D07BF536979}"/>
              </a:ext>
            </a:extLst>
          </p:cNvPr>
          <p:cNvSpPr txBox="1"/>
          <p:nvPr/>
        </p:nvSpPr>
        <p:spPr>
          <a:xfrm>
            <a:off x="1312606" y="6609885"/>
            <a:ext cx="9571704" cy="25648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Gill Sans"/>
              </a:rPr>
              <a:t>There have been significant advances in search on all of these problems. But not for when they all occur together, as they plausibly do in complex systems such as biology. </a:t>
            </a:r>
            <a:endParaRPr kumimoji="0" lang="en-US" sz="4000" b="0" i="0" u="none" strike="noStrike" cap="none" spc="0" normalizeH="0" baseline="0" dirty="0">
              <a:ln>
                <a:noFill/>
              </a:ln>
              <a:solidFill>
                <a:srgbClr val="000000"/>
              </a:solidFill>
              <a:effectLst/>
              <a:uFillTx/>
              <a:latin typeface="+mn-lt"/>
              <a:ea typeface="+mn-ea"/>
              <a:cs typeface="+mn-cs"/>
              <a:sym typeface="Gill Sans"/>
            </a:endParaRPr>
          </a:p>
        </p:txBody>
      </p:sp>
    </p:spTree>
    <p:extLst>
      <p:ext uri="{BB962C8B-B14F-4D97-AF65-F5344CB8AC3E}">
        <p14:creationId xmlns:p14="http://schemas.microsoft.com/office/powerpoint/2010/main" val="3868087216"/>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 name="Dimensions of Problem"/>
          <p:cNvSpPr txBox="1">
            <a:spLocks noGrp="1"/>
          </p:cNvSpPr>
          <p:nvPr>
            <p:ph type="title"/>
          </p:nvPr>
        </p:nvSpPr>
        <p:spPr>
          <a:prstGeom prst="rect">
            <a:avLst/>
          </a:prstGeom>
        </p:spPr>
        <p:txBody>
          <a:bodyPr>
            <a:normAutofit/>
          </a:bodyPr>
          <a:lstStyle/>
          <a:p>
            <a:r>
              <a:rPr lang="en-US" sz="6000" dirty="0">
                <a:latin typeface="Baskerville"/>
                <a:ea typeface="Baskerville"/>
                <a:sym typeface="Baskerville"/>
              </a:rPr>
              <a:t>Obstacles to Use</a:t>
            </a:r>
            <a:endParaRPr sz="6000" dirty="0">
              <a:latin typeface="Baskerville"/>
              <a:ea typeface="Baskerville"/>
              <a:sym typeface="Baskerville"/>
            </a:endParaRPr>
          </a:p>
        </p:txBody>
      </p:sp>
      <p:sp>
        <p:nvSpPr>
          <p:cNvPr id="2" name="TextBox 1">
            <a:extLst>
              <a:ext uri="{FF2B5EF4-FFF2-40B4-BE49-F238E27FC236}">
                <a16:creationId xmlns:a16="http://schemas.microsoft.com/office/drawing/2014/main" id="{029F3B27-ECE1-F344-98CA-3D07BF536979}"/>
              </a:ext>
            </a:extLst>
          </p:cNvPr>
          <p:cNvSpPr txBox="1"/>
          <p:nvPr/>
        </p:nvSpPr>
        <p:spPr>
          <a:xfrm>
            <a:off x="927909" y="2402353"/>
            <a:ext cx="10192577" cy="42114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819150" indent="-571500" algn="l" defTabSz="455675" rtl="0">
              <a:spcBef>
                <a:spcPts val="1800"/>
              </a:spcBef>
              <a:buFont typeface="Arial" panose="020B0604020202020204" pitchFamily="34" charset="0"/>
              <a:buChar char="•"/>
              <a:defRPr sz="3275">
                <a:latin typeface="Times New Roman"/>
                <a:ea typeface="Times New Roman"/>
                <a:cs typeface="Times New Roman"/>
                <a:sym typeface="Times New Roman"/>
              </a:defRPr>
            </a:pPr>
            <a:r>
              <a:rPr lang="en-US" sz="3600" dirty="0">
                <a:latin typeface="Times New Roman" panose="02020603050405020304" pitchFamily="18" charset="0"/>
                <a:cs typeface="Times New Roman" panose="02020603050405020304" pitchFamily="18" charset="0"/>
              </a:rPr>
              <a:t>There has been an explosion in the number of different algorithms, which make different assumptions. Which ones should be used in which circumstances? What should the search parameters be? How well do they perform on real data?</a:t>
            </a:r>
          </a:p>
          <a:p>
            <a:pPr marL="0" marR="0" indent="0" algn="l"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n-lt"/>
              <a:ea typeface="+mn-ea"/>
              <a:cs typeface="+mn-cs"/>
              <a:sym typeface="Gill Sans"/>
            </a:endParaRPr>
          </a:p>
        </p:txBody>
      </p:sp>
      <p:sp>
        <p:nvSpPr>
          <p:cNvPr id="3" name="Slide Number Placeholder 2">
            <a:extLst>
              <a:ext uri="{FF2B5EF4-FFF2-40B4-BE49-F238E27FC236}">
                <a16:creationId xmlns:a16="http://schemas.microsoft.com/office/drawing/2014/main" id="{0650F657-4C12-BFA2-374B-E8391A2825DA}"/>
              </a:ext>
            </a:extLst>
          </p:cNvPr>
          <p:cNvSpPr>
            <a:spLocks noGrp="1"/>
          </p:cNvSpPr>
          <p:nvPr>
            <p:ph type="sldNum" sz="quarter" idx="2"/>
          </p:nvPr>
        </p:nvSpPr>
        <p:spPr/>
        <p:txBody>
          <a:bodyPr/>
          <a:lstStyle/>
          <a:p>
            <a:fld id="{86CB4B4D-7CA3-9044-876B-883B54F8677D}" type="slidenum">
              <a:rPr lang="en-US"/>
              <a:t>72</a:t>
            </a:fld>
            <a:endParaRPr lang="en-US"/>
          </a:p>
        </p:txBody>
      </p:sp>
    </p:spTree>
    <p:extLst>
      <p:ext uri="{BB962C8B-B14F-4D97-AF65-F5344CB8AC3E}">
        <p14:creationId xmlns:p14="http://schemas.microsoft.com/office/powerpoint/2010/main" val="136963319"/>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 name="Dimensions of Problem"/>
          <p:cNvSpPr txBox="1">
            <a:spLocks noGrp="1"/>
          </p:cNvSpPr>
          <p:nvPr>
            <p:ph type="title"/>
          </p:nvPr>
        </p:nvSpPr>
        <p:spPr>
          <a:prstGeom prst="rect">
            <a:avLst/>
          </a:prstGeom>
        </p:spPr>
        <p:txBody>
          <a:bodyPr>
            <a:normAutofit/>
          </a:bodyPr>
          <a:lstStyle/>
          <a:p>
            <a:r>
              <a:rPr lang="en-US" sz="6000" dirty="0">
                <a:latin typeface="Baskerville"/>
                <a:ea typeface="Baskerville"/>
                <a:sym typeface="Baskerville"/>
              </a:rPr>
              <a:t>Obstacles to Use</a:t>
            </a:r>
            <a:endParaRPr sz="6000" dirty="0">
              <a:latin typeface="Baskerville"/>
              <a:ea typeface="Baskerville"/>
              <a:sym typeface="Baskerville"/>
            </a:endParaRPr>
          </a:p>
        </p:txBody>
      </p:sp>
      <p:sp>
        <p:nvSpPr>
          <p:cNvPr id="1293" name="Unmeasured Confounders…"/>
          <p:cNvSpPr txBox="1">
            <a:spLocks noGrp="1"/>
          </p:cNvSpPr>
          <p:nvPr>
            <p:ph type="body" idx="1"/>
          </p:nvPr>
        </p:nvSpPr>
        <p:spPr>
          <a:xfrm>
            <a:off x="926083" y="3016878"/>
            <a:ext cx="10694417" cy="6012821"/>
          </a:xfrm>
          <a:prstGeom prst="rect">
            <a:avLst/>
          </a:prstGeom>
        </p:spPr>
        <p:txBody>
          <a:bodyPr numCol="1">
            <a:normAutofit/>
          </a:bodyPr>
          <a:lstStyle/>
          <a:p>
            <a:pPr marL="693419" indent="-445769" defTabSz="455675" rtl="0">
              <a:spcBef>
                <a:spcPts val="1800"/>
              </a:spcBef>
              <a:defRPr sz="3275">
                <a:latin typeface="Times New Roman"/>
                <a:ea typeface="Times New Roman"/>
                <a:cs typeface="Times New Roman"/>
                <a:sym typeface="Times New Roman"/>
              </a:defRPr>
            </a:pPr>
            <a:r>
              <a:rPr lang="en-US" sz="3900" dirty="0">
                <a:latin typeface="Times New Roman" panose="02020603050405020304" pitchFamily="18" charset="0"/>
                <a:cs typeface="Times New Roman" panose="02020603050405020304" pitchFamily="18" charset="0"/>
              </a:rPr>
              <a:t>For many algorithms, lack of uniform (as opposed to pointwise) consistency proofs under </a:t>
            </a:r>
            <a:r>
              <a:rPr lang="en-US" sz="3900" dirty="0" err="1">
                <a:latin typeface="Times New Roman" panose="02020603050405020304" pitchFamily="18" charset="0"/>
                <a:cs typeface="Times New Roman" panose="02020603050405020304" pitchFamily="18" charset="0"/>
              </a:rPr>
              <a:t>realistic</a:t>
            </a:r>
            <a:r>
              <a:rPr lang="en-US" sz="3900" dirty="0">
                <a:latin typeface="Times New Roman" panose="02020603050405020304" pitchFamily="18" charset="0"/>
                <a:cs typeface="Times New Roman" panose="02020603050405020304" pitchFamily="18" charset="0"/>
              </a:rPr>
              <a:t> assumptions.</a:t>
            </a:r>
          </a:p>
          <a:p>
            <a:pPr marL="693419" indent="-445769" defTabSz="455675" rtl="0">
              <a:spcBef>
                <a:spcPts val="1800"/>
              </a:spcBef>
              <a:defRPr sz="3275">
                <a:latin typeface="Times New Roman"/>
                <a:ea typeface="Times New Roman"/>
                <a:cs typeface="Times New Roman"/>
                <a:sym typeface="Times New Roman"/>
              </a:defRPr>
            </a:pPr>
            <a:r>
              <a:rPr lang="en-US" sz="3900" dirty="0">
                <a:latin typeface="Times New Roman" panose="02020603050405020304" pitchFamily="18" charset="0"/>
                <a:cs typeface="Times New Roman" panose="02020603050405020304" pitchFamily="18" charset="0"/>
              </a:rPr>
              <a:t>Need for education about the principles behind causal search, and what causal search algorithms can and cannot do.</a:t>
            </a:r>
          </a:p>
          <a:p>
            <a:pPr marL="693419" indent="-445769" defTabSz="455675" rtl="0">
              <a:spcBef>
                <a:spcPts val="1800"/>
              </a:spcBef>
              <a:defRPr sz="3275">
                <a:latin typeface="Times New Roman"/>
                <a:ea typeface="Times New Roman"/>
                <a:cs typeface="Times New Roman"/>
                <a:sym typeface="Times New Roman"/>
              </a:defRPr>
            </a:pPr>
            <a:r>
              <a:rPr lang="en-US" sz="3900" dirty="0">
                <a:latin typeface="Times New Roman" panose="02020603050405020304" pitchFamily="18" charset="0"/>
                <a:cs typeface="Times New Roman" panose="02020603050405020304" pitchFamily="18" charset="0"/>
              </a:rPr>
              <a:t>Need for user friendly software with guidance about how to use it </a:t>
            </a:r>
          </a:p>
          <a:p>
            <a:pPr marL="693419" indent="-445769" defTabSz="455675" rtl="0">
              <a:spcBef>
                <a:spcPts val="1800"/>
              </a:spcBef>
              <a:defRPr sz="3275">
                <a:latin typeface="Times New Roman"/>
                <a:ea typeface="Times New Roman"/>
                <a:cs typeface="Times New Roman"/>
                <a:sym typeface="Times New Roman"/>
              </a:defRPr>
            </a:pPr>
            <a:endParaRPr lang="en-US" sz="2000" dirty="0"/>
          </a:p>
          <a:p>
            <a:pPr marL="693419" indent="-445769" defTabSz="455675">
              <a:spcBef>
                <a:spcPts val="1800"/>
              </a:spcBef>
              <a:defRPr sz="3275">
                <a:latin typeface="Times New Roman"/>
                <a:ea typeface="Times New Roman"/>
                <a:cs typeface="Times New Roman"/>
                <a:sym typeface="Times New Roman"/>
              </a:defRPr>
            </a:pPr>
            <a:endParaRPr lang="en-US" sz="2000" dirty="0"/>
          </a:p>
        </p:txBody>
      </p:sp>
      <p:sp>
        <p:nvSpPr>
          <p:cNvPr id="2" name="Slide Number Placeholder 1">
            <a:extLst>
              <a:ext uri="{FF2B5EF4-FFF2-40B4-BE49-F238E27FC236}">
                <a16:creationId xmlns:a16="http://schemas.microsoft.com/office/drawing/2014/main" id="{752DF32E-4604-2CB7-66F2-8BA315E78055}"/>
              </a:ext>
            </a:extLst>
          </p:cNvPr>
          <p:cNvSpPr>
            <a:spLocks noGrp="1"/>
          </p:cNvSpPr>
          <p:nvPr>
            <p:ph type="sldNum" sz="quarter" idx="2"/>
          </p:nvPr>
        </p:nvSpPr>
        <p:spPr/>
        <p:txBody>
          <a:bodyPr/>
          <a:lstStyle/>
          <a:p>
            <a:fld id="{86CB4B4D-7CA3-9044-876B-883B54F8677D}" type="slidenum">
              <a:rPr lang="en-US"/>
              <a:t>73</a:t>
            </a:fld>
            <a:endParaRPr lang="en-US"/>
          </a:p>
        </p:txBody>
      </p:sp>
    </p:spTree>
    <p:extLst>
      <p:ext uri="{BB962C8B-B14F-4D97-AF65-F5344CB8AC3E}">
        <p14:creationId xmlns:p14="http://schemas.microsoft.com/office/powerpoint/2010/main" val="1673728307"/>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916C1-7A38-884E-9A06-1F118FBE2833}"/>
              </a:ext>
            </a:extLst>
          </p:cNvPr>
          <p:cNvSpPr>
            <a:spLocks noGrp="1"/>
          </p:cNvSpPr>
          <p:nvPr>
            <p:ph type="title"/>
          </p:nvPr>
        </p:nvSpPr>
        <p:spPr/>
        <p:txBody>
          <a:bodyPr/>
          <a:lstStyle/>
          <a:p>
            <a:r>
              <a:rPr lang="en-US"/>
              <a:t>Bibliography</a:t>
            </a:r>
          </a:p>
        </p:txBody>
      </p:sp>
      <p:sp>
        <p:nvSpPr>
          <p:cNvPr id="3" name="Content Placeholder 2">
            <a:extLst>
              <a:ext uri="{FF2B5EF4-FFF2-40B4-BE49-F238E27FC236}">
                <a16:creationId xmlns:a16="http://schemas.microsoft.com/office/drawing/2014/main" id="{C5C34BDA-2ED9-BE44-B1E6-AA82BF89E4C6}"/>
              </a:ext>
            </a:extLst>
          </p:cNvPr>
          <p:cNvSpPr>
            <a:spLocks noGrp="1"/>
          </p:cNvSpPr>
          <p:nvPr>
            <p:ph type="body" idx="1"/>
          </p:nvPr>
        </p:nvSpPr>
        <p:spPr/>
        <p:txBody>
          <a:bodyPr>
            <a:normAutofit fontScale="77500" lnSpcReduction="20000"/>
          </a:bodyPr>
          <a:lstStyle/>
          <a:p>
            <a:r>
              <a:rPr lang="en-US"/>
              <a:t>Bishop, Y, Fienberf, S, and Holland P. (1976) Discrete Multivariate Analysis,  MIT Press, Cambridge Mass.</a:t>
            </a:r>
          </a:p>
          <a:p>
            <a:r>
              <a:rPr lang="en-US"/>
              <a:t>Blalock, H. (1961). Causal Inferences in Nonexperimental Research. University of North Carolina Press, Chapel Hill, NC.</a:t>
            </a:r>
          </a:p>
          <a:p>
            <a:r>
              <a:rPr lang="en-US"/>
              <a:t>Cooper, G.F., Herskovits, E. A Bayesian method for the induction of probabilistic networks from data. Mach Learn 9, 309–347 (1992)</a:t>
            </a:r>
          </a:p>
          <a:p>
            <a:r>
              <a:rPr lang="en-US"/>
              <a:t>Costner, H. (1971). Theory, deduction and rules of correspondence. Causal Models in the Social Sciences, Blalock, H. (ed.). Aldine, Chicago.</a:t>
            </a:r>
          </a:p>
          <a:p>
            <a:r>
              <a:rPr lang="en-US">
                <a:hlinkClick r:id="rId3" tooltip="Ronald Fisher">
                  <a:extLst>
                    <a:ext uri="{A12FA001-AC4F-418D-AE19-62706E023703}">
                      <ahyp:hlinkClr xmlns:ahyp="http://schemas.microsoft.com/office/drawing/2018/hyperlinkcolor" val="tx"/>
                    </a:ext>
                  </a:extLst>
                </a:hlinkClick>
              </a:rPr>
              <a:t>Fisher, R. A.</a:t>
            </a:r>
            <a:r>
              <a:rPr lang="en-US"/>
              <a:t> (1936). </a:t>
            </a:r>
            <a:r>
              <a:rPr lang="en-US">
                <a:hlinkClick r:id="rId4">
                  <a:extLst>
                    <a:ext uri="{A12FA001-AC4F-418D-AE19-62706E023703}">
                      <ahyp:hlinkClr xmlns:ahyp="http://schemas.microsoft.com/office/drawing/2018/hyperlinkcolor" val="tx"/>
                    </a:ext>
                  </a:extLst>
                </a:hlinkClick>
              </a:rPr>
              <a:t>"The Use of Multiple Measurements in Taxonomic Problems"</a:t>
            </a:r>
            <a:r>
              <a:rPr lang="en-US"/>
              <a:t>(PDF). </a:t>
            </a:r>
            <a:r>
              <a:rPr lang="en-US">
                <a:hlinkClick r:id="rId5" tooltip="Annals of Eugenics">
                  <a:extLst>
                    <a:ext uri="{A12FA001-AC4F-418D-AE19-62706E023703}">
                      <ahyp:hlinkClr xmlns:ahyp="http://schemas.microsoft.com/office/drawing/2018/hyperlinkcolor" val="tx"/>
                    </a:ext>
                  </a:extLst>
                </a:hlinkClick>
              </a:rPr>
              <a:t>Annals of Eugenics</a:t>
            </a:r>
            <a:r>
              <a:rPr lang="en-US"/>
              <a:t>. 7 (2): 179–188.</a:t>
            </a:r>
          </a:p>
          <a:p>
            <a:endParaRPr lang="en-US"/>
          </a:p>
        </p:txBody>
      </p:sp>
    </p:spTree>
    <p:extLst>
      <p:ext uri="{BB962C8B-B14F-4D97-AF65-F5344CB8AC3E}">
        <p14:creationId xmlns:p14="http://schemas.microsoft.com/office/powerpoint/2010/main" val="4158798516"/>
      </p:ext>
    </p:extLst>
  </p:cSld>
  <p:clrMapOvr>
    <a:overrideClrMapping bg1="lt1" tx1="dk1" bg2="lt2" tx2="dk2" accent1="accent1" accent2="accent2" accent3="accent3" accent4="accent4" accent5="accent5" accent6="accent6" hlink="hlink" folHlink="folHlink"/>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B01D0-72ED-0043-A248-DC4DC888F82E}"/>
              </a:ext>
            </a:extLst>
          </p:cNvPr>
          <p:cNvSpPr>
            <a:spLocks noGrp="1"/>
          </p:cNvSpPr>
          <p:nvPr>
            <p:ph type="title"/>
          </p:nvPr>
        </p:nvSpPr>
        <p:spPr/>
        <p:txBody>
          <a:bodyPr/>
          <a:lstStyle/>
          <a:p>
            <a:r>
              <a:rPr lang="en-US"/>
              <a:t>Bibliography</a:t>
            </a:r>
          </a:p>
        </p:txBody>
      </p:sp>
      <p:sp>
        <p:nvSpPr>
          <p:cNvPr id="3" name="Content Placeholder 2">
            <a:extLst>
              <a:ext uri="{FF2B5EF4-FFF2-40B4-BE49-F238E27FC236}">
                <a16:creationId xmlns:a16="http://schemas.microsoft.com/office/drawing/2014/main" id="{CADBD1F4-0B2E-DC4B-A12A-E9E788749CDE}"/>
              </a:ext>
            </a:extLst>
          </p:cNvPr>
          <p:cNvSpPr>
            <a:spLocks noGrp="1"/>
          </p:cNvSpPr>
          <p:nvPr>
            <p:ph type="body" idx="1"/>
          </p:nvPr>
        </p:nvSpPr>
        <p:spPr/>
        <p:txBody>
          <a:bodyPr>
            <a:normAutofit fontScale="62500" lnSpcReduction="20000"/>
          </a:bodyPr>
          <a:lstStyle/>
          <a:p>
            <a:r>
              <a:rPr lang="en-US"/>
              <a:t>Glymour, C., Scheines, R., Spirtes, P., &amp; Kelly, K. (1987). Discovering Causal Structure: Artificial Intelligence, Philosophy of Science, and Statistical Modeling. Academic Press.</a:t>
            </a:r>
          </a:p>
          <a:p>
            <a:r>
              <a:rPr lang="en-US"/>
              <a:t>Huang, Y., &amp; Valtorta, M. (2006). Pearl’s Calculus of Intervention is Complete. Proceedings from Proceedings of the 22nd Annual Conference on Uncertainty in Artificial Intelligence, Arlington, VA.</a:t>
            </a:r>
          </a:p>
          <a:p>
            <a:r>
              <a:rPr lang="en-US"/>
              <a:t>Kelley, T. (1928). Crossroads in the Mind of Man. Stanford University Press, Stanford.</a:t>
            </a:r>
          </a:p>
          <a:p>
            <a:r>
              <a:rPr lang="en-US"/>
              <a:t>Kiiveri, H. and Speed, T. (1982). Structural analysis of multivariate data: A review.Sociological Methodology, Leinhardt, S. (ed.). Jossey-Bass, San Francisco.’</a:t>
            </a:r>
          </a:p>
          <a:p>
            <a:r>
              <a:rPr lang="en-US"/>
              <a:t>Lauritzen, S. L., &amp; Richardson, T. S. (2002). Chain graph models and their causal interpretations. </a:t>
            </a:r>
            <a:r>
              <a:rPr lang="en-US" i="1"/>
              <a:t>Journal of the Royal Statistical Society B</a:t>
            </a:r>
            <a:r>
              <a:rPr lang="en-US"/>
              <a:t>.</a:t>
            </a:r>
          </a:p>
          <a:p>
            <a:r>
              <a:rPr lang="en-US"/>
              <a:t>Mason, Samuel J. (July 1956). "Feedback Theory - Further Properties of Signal Flow Graphs" (PDF). Proceedings of the IRE. 44 (7): 920–926.</a:t>
            </a:r>
          </a:p>
          <a:p>
            <a:endParaRPr lang="en-US"/>
          </a:p>
          <a:p>
            <a:endParaRPr lang="en-US"/>
          </a:p>
        </p:txBody>
      </p:sp>
    </p:spTree>
    <p:extLst>
      <p:ext uri="{BB962C8B-B14F-4D97-AF65-F5344CB8AC3E}">
        <p14:creationId xmlns:p14="http://schemas.microsoft.com/office/powerpoint/2010/main" val="478407183"/>
      </p:ext>
    </p:extLst>
  </p:cSld>
  <p:clrMapOvr>
    <a:overrideClrMapping bg1="lt1" tx1="dk1" bg2="lt2" tx2="dk2" accent1="accent1" accent2="accent2" accent3="accent3" accent4="accent4" accent5="accent5" accent6="accent6" hlink="hlink" folHlink="folHlink"/>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E2381-96E1-C843-91BA-F40BC3C063A7}"/>
              </a:ext>
            </a:extLst>
          </p:cNvPr>
          <p:cNvSpPr>
            <a:spLocks noGrp="1"/>
          </p:cNvSpPr>
          <p:nvPr>
            <p:ph type="title"/>
          </p:nvPr>
        </p:nvSpPr>
        <p:spPr/>
        <p:txBody>
          <a:bodyPr/>
          <a:lstStyle/>
          <a:p>
            <a:r>
              <a:rPr lang="en-US"/>
              <a:t>Bibliography</a:t>
            </a:r>
          </a:p>
        </p:txBody>
      </p:sp>
      <p:sp>
        <p:nvSpPr>
          <p:cNvPr id="3" name="Content Placeholder 2">
            <a:extLst>
              <a:ext uri="{FF2B5EF4-FFF2-40B4-BE49-F238E27FC236}">
                <a16:creationId xmlns:a16="http://schemas.microsoft.com/office/drawing/2014/main" id="{F94A25BA-50A3-AB42-BC70-945EC8BD0E6F}"/>
              </a:ext>
            </a:extLst>
          </p:cNvPr>
          <p:cNvSpPr>
            <a:spLocks noGrp="1"/>
          </p:cNvSpPr>
          <p:nvPr>
            <p:ph type="body" idx="1"/>
          </p:nvPr>
        </p:nvSpPr>
        <p:spPr/>
        <p:txBody>
          <a:bodyPr>
            <a:normAutofit fontScale="62500" lnSpcReduction="20000"/>
          </a:bodyPr>
          <a:lstStyle/>
          <a:p>
            <a:r>
              <a:rPr lang="en-US"/>
              <a:t>Neyman, J. (1935) Statistical problems with agricultural experimentation. J. Roy. Stat. Soc. Suppl. 2, 107-180.</a:t>
            </a:r>
          </a:p>
          <a:p>
            <a:r>
              <a:rPr lang="en-US"/>
              <a:t>Pearl, J. (1988). Probabilistic Reasoning in Intelligent Systems. Morgan and Kaufman, San Mateo.</a:t>
            </a:r>
          </a:p>
          <a:p>
            <a:r>
              <a:rPr lang="en-US"/>
              <a:t>Pearl, J. (1995). Causal diagrams for empirical research. Biometrika, 82(4), 669-688.</a:t>
            </a:r>
          </a:p>
          <a:p>
            <a:r>
              <a:rPr lang="en-US"/>
              <a:t>Pearl, J. (2000. Causality: Models, Reasoning, and Inference. Cambridge University Press. </a:t>
            </a:r>
          </a:p>
          <a:p>
            <a:r>
              <a:rPr lang="en-US"/>
              <a:t>Richardson, T. S. (1996). </a:t>
            </a:r>
            <a:r>
              <a:rPr lang="en-US" i="1"/>
              <a:t>A discovery algorithm for directed cyclic graphs</a:t>
            </a:r>
            <a:r>
              <a:rPr lang="en-US"/>
              <a:t>. Proceedings from Twelfth Conference on Uncertainty in Artificial Intelligence, Portland, OR.</a:t>
            </a:r>
          </a:p>
          <a:p>
            <a:r>
              <a:rPr lang="en-US"/>
              <a:t>Rubin, D. (1974). Estimating causal effects of treatments in randomized and nonrandomized studies. Journal of Educational Psychology 66, 688-701.</a:t>
            </a:r>
          </a:p>
          <a:p>
            <a:r>
              <a:rPr lang="en-US"/>
              <a:t>Rubin, D. (1977). Assignment to treatment group on the basis of a covariate. Journal of Educational Statistics 2, 1-26.</a:t>
            </a:r>
          </a:p>
          <a:p>
            <a:endParaRPr lang="en-US"/>
          </a:p>
          <a:p>
            <a:endParaRPr lang="en-US"/>
          </a:p>
        </p:txBody>
      </p:sp>
    </p:spTree>
    <p:extLst>
      <p:ext uri="{BB962C8B-B14F-4D97-AF65-F5344CB8AC3E}">
        <p14:creationId xmlns:p14="http://schemas.microsoft.com/office/powerpoint/2010/main" val="3673202810"/>
      </p:ext>
    </p:extLst>
  </p:cSld>
  <p:clrMapOvr>
    <a:overrideClrMapping bg1="lt1" tx1="dk1" bg2="lt2" tx2="dk2" accent1="accent1" accent2="accent2" accent3="accent3" accent4="accent4" accent5="accent5" accent6="accent6" hlink="hlink" folHlink="folHlink"/>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6929E-E29C-254B-B5C9-6CEB1B3E510F}"/>
              </a:ext>
            </a:extLst>
          </p:cNvPr>
          <p:cNvSpPr>
            <a:spLocks noGrp="1"/>
          </p:cNvSpPr>
          <p:nvPr>
            <p:ph type="title"/>
          </p:nvPr>
        </p:nvSpPr>
        <p:spPr/>
        <p:txBody>
          <a:bodyPr/>
          <a:lstStyle/>
          <a:p>
            <a:r>
              <a:rPr lang="en-US"/>
              <a:t>Bibliography</a:t>
            </a:r>
          </a:p>
        </p:txBody>
      </p:sp>
      <p:sp>
        <p:nvSpPr>
          <p:cNvPr id="3" name="Content Placeholder 2">
            <a:extLst>
              <a:ext uri="{FF2B5EF4-FFF2-40B4-BE49-F238E27FC236}">
                <a16:creationId xmlns:a16="http://schemas.microsoft.com/office/drawing/2014/main" id="{0CB59559-D282-2341-B5DC-B2943194D349}"/>
              </a:ext>
            </a:extLst>
          </p:cNvPr>
          <p:cNvSpPr>
            <a:spLocks noGrp="1"/>
          </p:cNvSpPr>
          <p:nvPr>
            <p:ph type="body" idx="1"/>
          </p:nvPr>
        </p:nvSpPr>
        <p:spPr/>
        <p:txBody>
          <a:bodyPr>
            <a:normAutofit fontScale="55000" lnSpcReduction="20000"/>
          </a:bodyPr>
          <a:lstStyle/>
          <a:p>
            <a:r>
              <a:rPr lang="en-US"/>
              <a:t>Robins, J. (1986) A new approach to causal inference in mortality studies with a sustained exposure period—application to control of the healthy worker survivor effect, Mathematical Modelling VVolume 7, Issues 9–12, 1986, Pages 1393-1512.</a:t>
            </a:r>
          </a:p>
          <a:p>
            <a:r>
              <a:rPr lang="en-US"/>
              <a:t>Robins, J. M., Scheines, R., Spirtes, P., &amp; Wasserman, L. (2003). Uniform consistency in causal inference. Biometrika, 90(3), 491-515.</a:t>
            </a:r>
          </a:p>
          <a:p>
            <a:r>
              <a:rPr lang="en-US"/>
              <a:t>Shpitser, I, and Pearl, J (2008) Complete Identification Methods for the Causal Hierarchy Journal of Machine Learning Research 9 1941-1979</a:t>
            </a:r>
          </a:p>
          <a:p>
            <a:r>
              <a:rPr lang="en-US"/>
              <a:t>Spirtes, P., &amp; Glymour, C. (1991). An Algorithm for Fast Recovery of Sparse Causal Graphs. Social Science Computer Review, 9(1), 67-72.</a:t>
            </a:r>
          </a:p>
          <a:p>
            <a:r>
              <a:rPr lang="en-US"/>
              <a:t>Spirtes, P., Glymour, C., &amp; Scheines, R. (1993). Causation, Prediction, and Search. Spring-Verlag Lectures in Statistics.</a:t>
            </a:r>
          </a:p>
          <a:p>
            <a:r>
              <a:rPr lang="en-US"/>
              <a:t>Spirtes, P. (1995). </a:t>
            </a:r>
            <a:r>
              <a:rPr lang="en-US" i="1"/>
              <a:t>Directed cyclic graphical representations of feedback models</a:t>
            </a:r>
            <a:r>
              <a:rPr lang="en-US"/>
              <a:t>. Proceedings from Eleventh Conference on Uncertainty in Artificial Intelligence, Montreal, Canada.</a:t>
            </a:r>
          </a:p>
          <a:p>
            <a:r>
              <a:rPr lang="en-US"/>
              <a:t>Spirtes, P., Glymour, C., &amp; Scheines, R. (2001). Causation, Prediction, and Search, Second Edition (Adaptive Computation and Machine Learning). The MIT Press.</a:t>
            </a:r>
          </a:p>
          <a:p>
            <a:endParaRPr lang="en-US"/>
          </a:p>
          <a:p>
            <a:endParaRPr lang="en-US"/>
          </a:p>
        </p:txBody>
      </p:sp>
    </p:spTree>
    <p:extLst>
      <p:ext uri="{BB962C8B-B14F-4D97-AF65-F5344CB8AC3E}">
        <p14:creationId xmlns:p14="http://schemas.microsoft.com/office/powerpoint/2010/main" val="89042928"/>
      </p:ext>
    </p:extLst>
  </p:cSld>
  <p:clrMapOvr>
    <a:overrideClrMapping bg1="lt1" tx1="dk1" bg2="lt2" tx2="dk2" accent1="accent1" accent2="accent2" accent3="accent3" accent4="accent4" accent5="accent5" accent6="accent6" hlink="hlink" folHlink="folHlink"/>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8D375-4F96-1346-9D76-99B14CECFEF5}"/>
              </a:ext>
            </a:extLst>
          </p:cNvPr>
          <p:cNvSpPr>
            <a:spLocks noGrp="1"/>
          </p:cNvSpPr>
          <p:nvPr>
            <p:ph type="title"/>
          </p:nvPr>
        </p:nvSpPr>
        <p:spPr/>
        <p:txBody>
          <a:bodyPr/>
          <a:lstStyle/>
          <a:p>
            <a:r>
              <a:rPr lang="en-US"/>
              <a:t>Bibliography</a:t>
            </a:r>
          </a:p>
        </p:txBody>
      </p:sp>
      <p:sp>
        <p:nvSpPr>
          <p:cNvPr id="3" name="Content Placeholder 2">
            <a:extLst>
              <a:ext uri="{FF2B5EF4-FFF2-40B4-BE49-F238E27FC236}">
                <a16:creationId xmlns:a16="http://schemas.microsoft.com/office/drawing/2014/main" id="{DE6056CC-C142-5A46-B0B4-8900B69F4C67}"/>
              </a:ext>
            </a:extLst>
          </p:cNvPr>
          <p:cNvSpPr>
            <a:spLocks noGrp="1"/>
          </p:cNvSpPr>
          <p:nvPr>
            <p:ph type="body" idx="1"/>
          </p:nvPr>
        </p:nvSpPr>
        <p:spPr/>
        <p:txBody>
          <a:bodyPr>
            <a:normAutofit fontScale="62500" lnSpcReduction="20000"/>
          </a:bodyPr>
          <a:lstStyle/>
          <a:p>
            <a:r>
              <a:rPr lang="en-US"/>
              <a:t>Simon, H. (1954).Spurious correlation: a causal interpretation. JASA. 49, 467-479.</a:t>
            </a:r>
          </a:p>
          <a:p>
            <a:r>
              <a:rPr lang="en-US"/>
              <a:t>Spearman, C. (1904). General intelligence objectively determined and measured. American Journal of Psychology 15, 201-293.</a:t>
            </a:r>
          </a:p>
          <a:p>
            <a:r>
              <a:rPr lang="en-US"/>
              <a:t>Sullivant, S., Talaska, K., &amp; Draisma, J. (2010). Trek Separation for Gaussian Graphical Models. Ann Stat, 38(3), 1665-1685.</a:t>
            </a:r>
          </a:p>
          <a:p>
            <a:r>
              <a:rPr lang="en-US"/>
              <a:t>Thurstone, L. (1935). The Vectors of Mind. Univ. of Chicago Press, Chicago.</a:t>
            </a:r>
          </a:p>
          <a:p>
            <a:r>
              <a:rPr lang="en-US"/>
              <a:t>Wold, H., and Strotz, R. (1960) Recursive vs. Nonrecursive Systems: An Attempt at Synthesis (Part I of a Triptych on Causal Chain Systems). ECONOMETRICA: APR 1960, VOLUME 28, ISSUE 2</a:t>
            </a:r>
          </a:p>
          <a:p>
            <a:r>
              <a:rPr lang="en-US"/>
              <a:t>Wright, S. (1920). The relative importance of heredity and environment in determining the piebald pattern of guinea-pigs. Proceedings of the National Academy of Sciences, 6 , 320-332.</a:t>
            </a:r>
          </a:p>
          <a:p>
            <a:r>
              <a:rPr lang="en-US"/>
              <a:t>Wright, S. (1934). The method of path coefficients. Ann. Math. Stat. 5, 161-215.</a:t>
            </a:r>
          </a:p>
          <a:p>
            <a:endParaRPr lang="en-US"/>
          </a:p>
        </p:txBody>
      </p:sp>
    </p:spTree>
    <p:extLst>
      <p:ext uri="{BB962C8B-B14F-4D97-AF65-F5344CB8AC3E}">
        <p14:creationId xmlns:p14="http://schemas.microsoft.com/office/powerpoint/2010/main" val="722493135"/>
      </p:ext>
    </p:extLst>
  </p:cSld>
  <p:clrMapOvr>
    <a:overrideClrMapping bg1="lt1" tx1="dk1" bg2="lt2" tx2="dk2" accent1="accent1" accent2="accent2" accent3="accent3" accent4="accent4" accent5="accent5" accent6="accent6" hlink="hlink" folHlink="folHlink"/>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Gill Sans"/>
        <a:ea typeface="Gill Sans"/>
        <a:cs typeface="Gill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Gill Sans"/>
        <a:ea typeface="Gill Sans"/>
        <a:cs typeface="Gill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0000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2.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3.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4.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5.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6.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7.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8.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9.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10.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11.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12.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13.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14.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15.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16.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17.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ppt/theme/themeOverride18.xml><?xml version="1.0" encoding="utf-8"?>
<a:themeOverride xmlns:a="http://schemas.openxmlformats.org/drawingml/2006/main">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emplate/>
  <TotalTime>2893</TotalTime>
  <Words>6770</Words>
  <Application>Microsoft Macintosh PowerPoint</Application>
  <PresentationFormat>Custom</PresentationFormat>
  <Paragraphs>632</Paragraphs>
  <Slides>78</Slides>
  <Notes>40</Notes>
  <HiddenSlides>0</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1</vt:i4>
      </vt:variant>
      <vt:variant>
        <vt:lpstr>Slide Titles</vt:lpstr>
      </vt:variant>
      <vt:variant>
        <vt:i4>78</vt:i4>
      </vt:variant>
    </vt:vector>
  </HeadingPairs>
  <TitlesOfParts>
    <vt:vector size="96" baseType="lpstr">
      <vt:lpstr>Arial</vt:lpstr>
      <vt:lpstr>Baskerville</vt:lpstr>
      <vt:lpstr>Calibri</vt:lpstr>
      <vt:lpstr>Calibri Light</vt:lpstr>
      <vt:lpstr>Gill Sans</vt:lpstr>
      <vt:lpstr>Graphik</vt:lpstr>
      <vt:lpstr>Helvetica</vt:lpstr>
      <vt:lpstr>Helvetica Neue</vt:lpstr>
      <vt:lpstr>Helvetica Neue Medium</vt:lpstr>
      <vt:lpstr>Hoefler Text</vt:lpstr>
      <vt:lpstr>Lucida Grande</vt:lpstr>
      <vt:lpstr>Monotype Sorts</vt:lpstr>
      <vt:lpstr>Times New Roman</vt:lpstr>
      <vt:lpstr>Trebuchet MS</vt:lpstr>
      <vt:lpstr>Wingdings</vt:lpstr>
      <vt:lpstr>Wingdings 2</vt:lpstr>
      <vt:lpstr>White</vt:lpstr>
      <vt:lpstr>Equation</vt:lpstr>
      <vt:lpstr>PowerPoint Presentation</vt:lpstr>
      <vt:lpstr>Aristotle on Causes</vt:lpstr>
      <vt:lpstr>Aristotle on Causes</vt:lpstr>
      <vt:lpstr>Aristotle on Causes</vt:lpstr>
      <vt:lpstr>The Scientific Revolution</vt:lpstr>
      <vt:lpstr>Newton’s Rules of  Reasoning</vt:lpstr>
      <vt:lpstr>State of Causal Research in 1980’s – 1990’s</vt:lpstr>
      <vt:lpstr>Causality?</vt:lpstr>
      <vt:lpstr>Causality?</vt:lpstr>
      <vt:lpstr>Causality?</vt:lpstr>
      <vt:lpstr>Causal Models</vt:lpstr>
      <vt:lpstr>Causal Models</vt:lpstr>
      <vt:lpstr>Structural equation models</vt:lpstr>
      <vt:lpstr>Probabilistic Interpretation of Directed Acyclic Graphs (DAGs)</vt:lpstr>
      <vt:lpstr>Causal Interpretation of DAGs</vt:lpstr>
      <vt:lpstr>Potential Outcomes</vt:lpstr>
      <vt:lpstr>Granger Causality</vt:lpstr>
      <vt:lpstr>Relationships Between Causal Models</vt:lpstr>
      <vt:lpstr>Manipulations</vt:lpstr>
      <vt:lpstr>Causal DAGs – Manipulation (Hard)</vt:lpstr>
      <vt:lpstr>Structural Equation Models - Interventions</vt:lpstr>
      <vt:lpstr>Potential Outcomes - Manipulations</vt:lpstr>
      <vt:lpstr>Causal Sufficiency</vt:lpstr>
      <vt:lpstr>Frequently Made Assumptions</vt:lpstr>
      <vt:lpstr>Frequently Made Assumptions</vt:lpstr>
      <vt:lpstr>Simplicity Assumption</vt:lpstr>
      <vt:lpstr>Surfaces of Unfaithfulness in Parameter Space</vt:lpstr>
      <vt:lpstr>Three Faces of Faithfulness</vt:lpstr>
      <vt:lpstr>More Often Unmentioned Assumptions – None of the Following</vt:lpstr>
      <vt:lpstr>Inferences of Effects</vt:lpstr>
      <vt:lpstr>Search</vt:lpstr>
      <vt:lpstr> Causal Structure Learning and Causal Representation Learning</vt:lpstr>
      <vt:lpstr> Two Kinds of Search</vt:lpstr>
      <vt:lpstr> Causal structure learning</vt:lpstr>
      <vt:lpstr>The Alarm Network</vt:lpstr>
      <vt:lpstr>The Alarm Network</vt:lpstr>
      <vt:lpstr>The Alarm Network - Search Problems</vt:lpstr>
      <vt:lpstr>Bradford Hill Criteria for Causation (1965)</vt:lpstr>
      <vt:lpstr>Searches People Used</vt:lpstr>
      <vt:lpstr>Searches People Used</vt:lpstr>
      <vt:lpstr>Searches People Used</vt:lpstr>
      <vt:lpstr>Arguments Against Automated Search</vt:lpstr>
      <vt:lpstr>Fisher: No Experiment =&gt; No Probability Distribution =&gt; No Causal Inference</vt:lpstr>
      <vt:lpstr>PowerPoint Presentation</vt:lpstr>
      <vt:lpstr>Arguments Against Automated Search</vt:lpstr>
      <vt:lpstr>Arguments Against Automated Search</vt:lpstr>
      <vt:lpstr>Arguments Against Automated Search</vt:lpstr>
      <vt:lpstr>Arguments Against Automated Search</vt:lpstr>
      <vt:lpstr>Skepticism, 1980-</vt:lpstr>
      <vt:lpstr>More Problems</vt:lpstr>
      <vt:lpstr>Why Should We Trust the Output of A Search Procedure? What was Lacking in 1990</vt:lpstr>
      <vt:lpstr>Possible Responses to non-identifiability</vt:lpstr>
      <vt:lpstr>Causality and Modular Changes</vt:lpstr>
      <vt:lpstr>(Typical) Constraint-Based Causal Discovery</vt:lpstr>
      <vt:lpstr>Constraint-Based Causal Discovery</vt:lpstr>
      <vt:lpstr>Alarm Network</vt:lpstr>
      <vt:lpstr>I know There Is No Confounder: Example</vt:lpstr>
      <vt:lpstr>Possible Confounders</vt:lpstr>
      <vt:lpstr>Suppose X7 Not Measured</vt:lpstr>
      <vt:lpstr>Dealing with Confounders?</vt:lpstr>
      <vt:lpstr>Partial Ancestral Graph</vt:lpstr>
      <vt:lpstr>Causal Representation Learning</vt:lpstr>
      <vt:lpstr>Hidden Causal Representation Learning: Starting Point</vt:lpstr>
      <vt:lpstr>Spearman</vt:lpstr>
      <vt:lpstr>Thurstone(1935) – Factor Analysis </vt:lpstr>
      <vt:lpstr>Herbert Costner</vt:lpstr>
      <vt:lpstr>Further Linear Constraints</vt:lpstr>
      <vt:lpstr>Why Should We Trust the Output of A Search Procedure? Current Status</vt:lpstr>
      <vt:lpstr>Obstacles to Research</vt:lpstr>
      <vt:lpstr>Obstacles to Research</vt:lpstr>
      <vt:lpstr>Obstacles to Use</vt:lpstr>
      <vt:lpstr>Obstacles to Use</vt:lpstr>
      <vt:lpstr>Obstacles to Use</vt:lpstr>
      <vt:lpstr>Bibliography</vt:lpstr>
      <vt:lpstr>Bibliography</vt:lpstr>
      <vt:lpstr>Bibliography</vt:lpstr>
      <vt:lpstr>Bibliography</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Office User</cp:lastModifiedBy>
  <cp:revision>78</cp:revision>
  <dcterms:modified xsi:type="dcterms:W3CDTF">2023-05-15T02:21:27Z</dcterms:modified>
</cp:coreProperties>
</file>